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60" r:id="rId3"/>
    <p:sldId id="262" r:id="rId4"/>
    <p:sldId id="265" r:id="rId5"/>
    <p:sldId id="263" r:id="rId6"/>
    <p:sldId id="266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991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588"/>
    <p:restoredTop sz="94763"/>
  </p:normalViewPr>
  <p:slideViewPr>
    <p:cSldViewPr snapToGrid="0" snapToObjects="1">
      <p:cViewPr varScale="1">
        <p:scale>
          <a:sx n="94" d="100"/>
          <a:sy n="94" d="100"/>
        </p:scale>
        <p:origin x="224" y="10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6C12D2-FDEF-4C4E-B50B-B5F01EE62A2D}" type="datetimeFigureOut">
              <a:rPr lang="en-US" smtClean="0"/>
              <a:t>9/10/20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48B618-191F-1346-B2FF-CEB0297D06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476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48B618-191F-1346-B2FF-CEB0297D064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0262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F81AA-0FE1-DF4D-A6DF-CE3BF57356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3E8ED8-A799-F947-84AE-42D61F5F61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9936CE-6250-BE4B-8040-B7DF2E8B1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F2468-BD12-5A4E-A2BE-C94DA53DAFF7}" type="datetimeFigureOut">
              <a:rPr lang="en-US" smtClean="0"/>
              <a:t>9/10/20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E2855D-6FF2-AB44-9D71-2146411C2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802612-52C0-BE4E-95A3-1CAF25A14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8DE1A-092F-8244-A5B6-A88D1A8079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361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4CA18-E75F-2C4B-9F3E-8A2412BEE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AF97C7-6E3C-4640-82DB-40A4A465EA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7898C6-716C-A34D-850D-F4E2269A9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F2468-BD12-5A4E-A2BE-C94DA53DAFF7}" type="datetimeFigureOut">
              <a:rPr lang="en-US" smtClean="0"/>
              <a:t>9/10/20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A54332-2C38-3D43-A05D-52F669ED8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10BCAE-21E9-E847-A278-295D55174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8DE1A-092F-8244-A5B6-A88D1A8079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564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2A85E-8063-BB4C-AB64-102EF5AFD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877F50-9D25-994A-83BB-368AFA7AF1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071C73-265C-A042-8A21-37BEEDB7D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F2468-BD12-5A4E-A2BE-C94DA53DAFF7}" type="datetimeFigureOut">
              <a:rPr lang="en-US" smtClean="0"/>
              <a:t>9/10/20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795B2F-BEB0-E04C-8DFB-F71625E83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799D08-4B22-BB42-91D9-7F8A4332E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8DE1A-092F-8244-A5B6-A88D1A8079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054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81674-766C-DE44-A88D-15384A90D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099687-F028-A440-91A8-1A68EAF795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66D385-4453-2B45-A162-37BFFD364B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D33E50-F3A6-844D-B0FB-245732BA1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F2468-BD12-5A4E-A2BE-C94DA53DAFF7}" type="datetimeFigureOut">
              <a:rPr lang="en-US" smtClean="0"/>
              <a:t>9/10/20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E36EE5-C982-B64D-A111-02AFE1214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FDE832-E8E3-6946-95B4-0C56456BB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8DE1A-092F-8244-A5B6-A88D1A8079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522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0CDC1-89EE-E643-9FF9-B5C3F37C7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A019C0-BBD3-4E45-B7D9-F376B26BAD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12FAD2-4699-CD46-B4E9-FE9A0754A3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AD3A45-A5EB-AE45-AC5D-39B3E8EF0F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6A5CCC-24A6-8042-BBEF-239BB61A19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C0109C-3D08-5543-858C-D90DAF789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F2468-BD12-5A4E-A2BE-C94DA53DAFF7}" type="datetimeFigureOut">
              <a:rPr lang="en-US" smtClean="0"/>
              <a:t>9/10/20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ADCB8C-FC47-574C-AAC3-88F810F1F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D45505-6ED0-0B44-AE50-11F1F8657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8DE1A-092F-8244-A5B6-A88D1A8079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1829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BF523-DF93-8E48-A791-5CC8F8AA8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14AD96-DE75-DB4B-A2BF-20CA7E7F8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F2468-BD12-5A4E-A2BE-C94DA53DAFF7}" type="datetimeFigureOut">
              <a:rPr lang="en-US" smtClean="0"/>
              <a:t>9/10/20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CB3ED9-DABF-4342-9961-A785E0611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952868-A480-0840-AE70-BCCE1463E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8DE1A-092F-8244-A5B6-A88D1A8079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6448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C49255-F744-A546-992C-41040EE40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F2468-BD12-5A4E-A2BE-C94DA53DAFF7}" type="datetimeFigureOut">
              <a:rPr lang="en-US" smtClean="0"/>
              <a:t>9/10/20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250D4E-8173-6B4E-A278-AD01112A1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CBC549-F4FA-5C48-9B55-A4A65CAC5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8DE1A-092F-8244-A5B6-A88D1A8079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8206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F9FC7-A769-254A-846C-322F3091A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C8569C-C967-9B49-8AD3-98689DACB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FF0F01-84B6-9146-9AB0-59CE698D3F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1EA277-7395-1640-85A5-76585FC23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F2468-BD12-5A4E-A2BE-C94DA53DAFF7}" type="datetimeFigureOut">
              <a:rPr lang="en-US" smtClean="0"/>
              <a:t>9/10/20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937B81-8E0B-CE40-AA7D-FC1743240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E0D6F6-5495-3C43-9976-90C49B101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8DE1A-092F-8244-A5B6-A88D1A8079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325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8D99D-5F36-0642-8D64-5678C2C11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B102A5-6FF4-0C4F-97C3-55CE42D0A0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6A0FEA-57A3-9846-9AC0-848B0A4343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04DE95-0C4F-CD42-9DE3-FDE5512FA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F2468-BD12-5A4E-A2BE-C94DA53DAFF7}" type="datetimeFigureOut">
              <a:rPr lang="en-US" smtClean="0"/>
              <a:t>9/10/20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8BE9C6-7710-B54B-B1EE-8C658A058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FBE3F4-1F25-B64C-9668-14F693316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8DE1A-092F-8244-A5B6-A88D1A8079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148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A7E4E-ED36-A54A-B963-E66FF2B16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1EB8BF-FC00-AD4E-8558-3B13E8FA79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3DA2F2-55FB-3C47-AACE-CD2B3EB32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F2468-BD12-5A4E-A2BE-C94DA53DAFF7}" type="datetimeFigureOut">
              <a:rPr lang="en-US" smtClean="0"/>
              <a:t>9/10/20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02583E-292E-7E4A-A713-B0E3FF510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0E2D30-B69F-F148-B328-EBC8EB22A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8DE1A-092F-8244-A5B6-A88D1A8079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137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7BB76C-C8D2-504A-A5A8-57AAE5B175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C3E403-FC46-974F-B79C-79A5BC9C24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B21B13-7F6E-674E-96CC-BF2222841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F2468-BD12-5A4E-A2BE-C94DA53DAFF7}" type="datetimeFigureOut">
              <a:rPr lang="en-US" smtClean="0"/>
              <a:t>9/10/20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68C933-6FDA-5146-B12A-31D07EBB4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129322-8895-2548-93C8-121C0F130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8DE1A-092F-8244-A5B6-A88D1A8079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3225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572861-0E84-C145-B642-8AC9C00EB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E6D354-E9FE-314C-98DD-C50C44519C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1D8C56-F0BC-8B45-9EAB-E5126018AF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7F2468-BD12-5A4E-A2BE-C94DA53DAFF7}" type="datetimeFigureOut">
              <a:rPr lang="en-US" smtClean="0"/>
              <a:t>9/10/20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C2666-5913-7D4C-85EE-FCDA07057F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862511-C6AA-C243-8B20-2EBC6BD173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58DE1A-092F-8244-A5B6-A88D1A8079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741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ucidchart.com/" TargetMode="External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racle.com/en/java/javase/11/docs/api/index.html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ocs.oracle.com/en/java/javase/11/docs/api/java.base/java/lang/String.html" TargetMode="External"/><Relationship Id="rId4" Type="http://schemas.openxmlformats.org/officeDocument/2006/relationships/hyperlink" Target="https://docs.oracle.com/en/java/javase/11/tools/tools-and-command-reference.html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CBB43-D181-9A44-9A1B-B38F91C582F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COMP1050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BD53BB-EEBD-3043-B9F5-F8B1902E98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SDLC Overview</a:t>
            </a:r>
          </a:p>
        </p:txBody>
      </p:sp>
    </p:spTree>
    <p:extLst>
      <p:ext uri="{BB962C8B-B14F-4D97-AF65-F5344CB8AC3E}">
        <p14:creationId xmlns:p14="http://schemas.microsoft.com/office/powerpoint/2010/main" val="1952714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C1929-ADFD-784D-A28C-9DC3E3AD9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982" y="295552"/>
            <a:ext cx="9498496" cy="979970"/>
          </a:xfrm>
        </p:spPr>
        <p:txBody>
          <a:bodyPr>
            <a:normAutofit fontScale="90000"/>
          </a:bodyPr>
          <a:lstStyle/>
          <a:p>
            <a:r>
              <a:rPr lang="en-US" dirty="0"/>
              <a:t>Software Development Life Cycle</a:t>
            </a:r>
            <a:br>
              <a:rPr lang="en-US" dirty="0"/>
            </a:br>
            <a:r>
              <a:rPr lang="en-US" dirty="0"/>
              <a:t>Major Stages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4156F4-5000-064C-AB36-15076C1B33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138" y="2798546"/>
            <a:ext cx="6143955" cy="2735980"/>
          </a:xfrm>
          <a:prstGeom prst="rect">
            <a:avLst/>
          </a:prstGeom>
        </p:spPr>
      </p:pic>
      <p:sp>
        <p:nvSpPr>
          <p:cNvPr id="3" name="Line Callout 1 2">
            <a:extLst>
              <a:ext uri="{FF2B5EF4-FFF2-40B4-BE49-F238E27FC236}">
                <a16:creationId xmlns:a16="http://schemas.microsoft.com/office/drawing/2014/main" id="{F6FA0071-1614-1240-873A-BBAAECC18BAA}"/>
              </a:ext>
            </a:extLst>
          </p:cNvPr>
          <p:cNvSpPr/>
          <p:nvPr/>
        </p:nvSpPr>
        <p:spPr>
          <a:xfrm>
            <a:off x="2537095" y="2457532"/>
            <a:ext cx="1079869" cy="248057"/>
          </a:xfrm>
          <a:prstGeom prst="borderCallout1">
            <a:avLst>
              <a:gd name="adj1" fmla="val 123634"/>
              <a:gd name="adj2" fmla="val 5460"/>
              <a:gd name="adj3" fmla="val 264613"/>
              <a:gd name="adj4" fmla="val -12031"/>
            </a:avLst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start here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A1CEB0-FB15-2D44-8C41-EA9C198F357B}"/>
              </a:ext>
            </a:extLst>
          </p:cNvPr>
          <p:cNvSpPr txBox="1"/>
          <p:nvPr/>
        </p:nvSpPr>
        <p:spPr>
          <a:xfrm>
            <a:off x="6477002" y="1189820"/>
            <a:ext cx="544001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Computational Thinking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 approach to problem-solving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Critically important to being a software developer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Taking apart a problem and figuring out how to attack it knowing what we know about computation.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There are 4 main facet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Decomposition. Breaking something down and figuring out what the parts are.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Pattern recognition. Finding similarities and differences among the parts in order to make predications / plan of attach.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Pattern generalization (abstraction). General principles that generate these patterns.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Algorithm design. Developing step-by-step instructions that solve similar problems.</a:t>
            </a:r>
          </a:p>
          <a:p>
            <a:endParaRPr lang="en-US" dirty="0"/>
          </a:p>
        </p:txBody>
      </p:sp>
      <p:cxnSp>
        <p:nvCxnSpPr>
          <p:cNvPr id="14" name="Elbow Connector 13">
            <a:extLst>
              <a:ext uri="{FF2B5EF4-FFF2-40B4-BE49-F238E27FC236}">
                <a16:creationId xmlns:a16="http://schemas.microsoft.com/office/drawing/2014/main" id="{C1715D44-1786-094E-9222-0C1C201717FB}"/>
              </a:ext>
            </a:extLst>
          </p:cNvPr>
          <p:cNvCxnSpPr>
            <a:cxnSpLocks/>
            <a:stCxn id="3" idx="3"/>
          </p:cNvCxnSpPr>
          <p:nvPr/>
        </p:nvCxnSpPr>
        <p:spPr>
          <a:xfrm rot="5400000" flipH="1" flipV="1">
            <a:off x="4183918" y="300808"/>
            <a:ext cx="1049836" cy="3263613"/>
          </a:xfrm>
          <a:prstGeom prst="bentConnector2">
            <a:avLst/>
          </a:prstGeom>
          <a:ln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23355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C1929-ADFD-784D-A28C-9DC3E3AD9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834" y="42975"/>
            <a:ext cx="9498496" cy="979970"/>
          </a:xfrm>
        </p:spPr>
        <p:txBody>
          <a:bodyPr>
            <a:normAutofit fontScale="90000"/>
          </a:bodyPr>
          <a:lstStyle/>
          <a:p>
            <a:r>
              <a:rPr lang="en-US" dirty="0"/>
              <a:t>Software Development Life Cycle Ecosystem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4156F4-5000-064C-AB36-15076C1B33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5596" y="2305237"/>
            <a:ext cx="6877182" cy="3062495"/>
          </a:xfrm>
          <a:prstGeom prst="rect">
            <a:avLst/>
          </a:prstGeom>
        </p:spPr>
      </p:pic>
      <p:sp>
        <p:nvSpPr>
          <p:cNvPr id="3" name="Line Callout 2 2">
            <a:extLst>
              <a:ext uri="{FF2B5EF4-FFF2-40B4-BE49-F238E27FC236}">
                <a16:creationId xmlns:a16="http://schemas.microsoft.com/office/drawing/2014/main" id="{A2B8CA37-4D95-1B49-B680-09284E6D6F2B}"/>
              </a:ext>
            </a:extLst>
          </p:cNvPr>
          <p:cNvSpPr/>
          <p:nvPr/>
        </p:nvSpPr>
        <p:spPr>
          <a:xfrm>
            <a:off x="5997213" y="1140914"/>
            <a:ext cx="1538659" cy="808059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202652"/>
              <a:gd name="adj6" fmla="val -34356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Design your solution via OOA or DDD ala</a:t>
            </a:r>
          </a:p>
          <a:p>
            <a:pPr algn="ctr"/>
            <a:r>
              <a:rPr lang="en-US" sz="1200" dirty="0"/>
              <a:t>UML, etc.</a:t>
            </a:r>
          </a:p>
        </p:txBody>
      </p:sp>
      <p:sp>
        <p:nvSpPr>
          <p:cNvPr id="6" name="Line Callout 2 5">
            <a:extLst>
              <a:ext uri="{FF2B5EF4-FFF2-40B4-BE49-F238E27FC236}">
                <a16:creationId xmlns:a16="http://schemas.microsoft.com/office/drawing/2014/main" id="{1898104D-E613-AD49-B56C-1EE786039F02}"/>
              </a:ext>
            </a:extLst>
          </p:cNvPr>
          <p:cNvSpPr/>
          <p:nvPr/>
        </p:nvSpPr>
        <p:spPr>
          <a:xfrm>
            <a:off x="1040934" y="1351120"/>
            <a:ext cx="1921372" cy="1122943"/>
          </a:xfrm>
          <a:prstGeom prst="borderCallout2">
            <a:avLst>
              <a:gd name="adj1" fmla="val 23295"/>
              <a:gd name="adj2" fmla="val 105416"/>
              <a:gd name="adj3" fmla="val 23294"/>
              <a:gd name="adj4" fmla="val 113214"/>
              <a:gd name="adj5" fmla="val 96038"/>
              <a:gd name="adj6" fmla="val 130070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Language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Source Control, e.g., Git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Source Repository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Editor or IDE</a:t>
            </a:r>
          </a:p>
        </p:txBody>
      </p:sp>
      <p:sp>
        <p:nvSpPr>
          <p:cNvPr id="7" name="Line Callout 2 6">
            <a:extLst>
              <a:ext uri="{FF2B5EF4-FFF2-40B4-BE49-F238E27FC236}">
                <a16:creationId xmlns:a16="http://schemas.microsoft.com/office/drawing/2014/main" id="{6D0D277B-79C5-BA4D-90C8-C29C2C92AAF2}"/>
              </a:ext>
            </a:extLst>
          </p:cNvPr>
          <p:cNvSpPr/>
          <p:nvPr/>
        </p:nvSpPr>
        <p:spPr>
          <a:xfrm>
            <a:off x="805959" y="3587758"/>
            <a:ext cx="1590340" cy="1122941"/>
          </a:xfrm>
          <a:prstGeom prst="borderCallout2">
            <a:avLst>
              <a:gd name="adj1" fmla="val 23295"/>
              <a:gd name="adj2" fmla="val 105416"/>
              <a:gd name="adj3" fmla="val 23294"/>
              <a:gd name="adj4" fmla="val 113214"/>
              <a:gd name="adj5" fmla="val 37462"/>
              <a:gd name="adj6" fmla="val 134849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Build via automation</a:t>
            </a:r>
          </a:p>
          <a:p>
            <a:pPr algn="ctr"/>
            <a:r>
              <a:rPr lang="en-US" sz="1200" dirty="0"/>
              <a:t>Jenkins, Maven, etc.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0264696-DAEC-E347-B542-0BCD832B8FB1}"/>
              </a:ext>
            </a:extLst>
          </p:cNvPr>
          <p:cNvSpPr txBox="1"/>
          <p:nvPr/>
        </p:nvSpPr>
        <p:spPr>
          <a:xfrm>
            <a:off x="4208074" y="1621101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TDD</a:t>
            </a:r>
          </a:p>
        </p:txBody>
      </p:sp>
      <p:sp>
        <p:nvSpPr>
          <p:cNvPr id="17" name="Line Callout 2 16">
            <a:extLst>
              <a:ext uri="{FF2B5EF4-FFF2-40B4-BE49-F238E27FC236}">
                <a16:creationId xmlns:a16="http://schemas.microsoft.com/office/drawing/2014/main" id="{55B1099E-8F64-FB45-B992-526C99C8ED92}"/>
              </a:ext>
            </a:extLst>
          </p:cNvPr>
          <p:cNvSpPr/>
          <p:nvPr/>
        </p:nvSpPr>
        <p:spPr>
          <a:xfrm>
            <a:off x="1880359" y="5867202"/>
            <a:ext cx="2156347" cy="709784"/>
          </a:xfrm>
          <a:prstGeom prst="borderCallout2">
            <a:avLst>
              <a:gd name="adj1" fmla="val 23295"/>
              <a:gd name="adj2" fmla="val 105416"/>
              <a:gd name="adj3" fmla="val 23294"/>
              <a:gd name="adj4" fmla="val 113214"/>
              <a:gd name="adj5" fmla="val -80173"/>
              <a:gd name="adj6" fmla="val 125002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Test via Unit , Functional, Integration ala JUnit, Selenium, Robot, etc. 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8275F6E-F448-8342-9621-5540CBFC9542}"/>
              </a:ext>
            </a:extLst>
          </p:cNvPr>
          <p:cNvSpPr txBox="1"/>
          <p:nvPr/>
        </p:nvSpPr>
        <p:spPr>
          <a:xfrm>
            <a:off x="2373275" y="5159462"/>
            <a:ext cx="1170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CI Pipeline</a:t>
            </a:r>
          </a:p>
        </p:txBody>
      </p:sp>
      <p:sp>
        <p:nvSpPr>
          <p:cNvPr id="20" name="Line Callout 2 19">
            <a:extLst>
              <a:ext uri="{FF2B5EF4-FFF2-40B4-BE49-F238E27FC236}">
                <a16:creationId xmlns:a16="http://schemas.microsoft.com/office/drawing/2014/main" id="{58201CB2-240F-A64F-BD46-BD02F82BE256}"/>
              </a:ext>
            </a:extLst>
          </p:cNvPr>
          <p:cNvSpPr/>
          <p:nvPr/>
        </p:nvSpPr>
        <p:spPr>
          <a:xfrm>
            <a:off x="4767432" y="5867202"/>
            <a:ext cx="1579519" cy="767242"/>
          </a:xfrm>
          <a:prstGeom prst="borderCallout2">
            <a:avLst>
              <a:gd name="adj1" fmla="val -17618"/>
              <a:gd name="adj2" fmla="val 47525"/>
              <a:gd name="adj3" fmla="val -28291"/>
              <a:gd name="adj4" fmla="val 60507"/>
              <a:gd name="adj5" fmla="val -183344"/>
              <a:gd name="adj6" fmla="val 74887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Manage artifacts &amp; configuration, e.g., Artifactory</a:t>
            </a:r>
          </a:p>
        </p:txBody>
      </p:sp>
      <p:sp>
        <p:nvSpPr>
          <p:cNvPr id="22" name="Line Callout 2 21">
            <a:extLst>
              <a:ext uri="{FF2B5EF4-FFF2-40B4-BE49-F238E27FC236}">
                <a16:creationId xmlns:a16="http://schemas.microsoft.com/office/drawing/2014/main" id="{943B30BC-75F9-0A41-9D65-14B946E90033}"/>
              </a:ext>
            </a:extLst>
          </p:cNvPr>
          <p:cNvSpPr/>
          <p:nvPr/>
        </p:nvSpPr>
        <p:spPr>
          <a:xfrm>
            <a:off x="9367518" y="1099429"/>
            <a:ext cx="1919922" cy="1683527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79712"/>
              <a:gd name="adj6" fmla="val -56652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Push code to production Blue/Green , Canary </a:t>
            </a:r>
          </a:p>
          <a:p>
            <a:pPr algn="ctr"/>
            <a:endParaRPr lang="en-US" sz="1200" dirty="0"/>
          </a:p>
          <a:p>
            <a:pPr algn="ctr"/>
            <a:r>
              <a:rPr lang="en-US" sz="1200" dirty="0"/>
              <a:t>Jenkins, Bamboo, Octopus, etc.</a:t>
            </a:r>
          </a:p>
          <a:p>
            <a:pPr algn="ctr"/>
            <a:endParaRPr lang="en-US" sz="1200" dirty="0"/>
          </a:p>
          <a:p>
            <a:pPr algn="ctr"/>
            <a:r>
              <a:rPr lang="en-US" sz="1200" dirty="0"/>
              <a:t>Containers</a:t>
            </a:r>
          </a:p>
        </p:txBody>
      </p:sp>
      <p:sp>
        <p:nvSpPr>
          <p:cNvPr id="24" name="Line Callout 2 23">
            <a:extLst>
              <a:ext uri="{FF2B5EF4-FFF2-40B4-BE49-F238E27FC236}">
                <a16:creationId xmlns:a16="http://schemas.microsoft.com/office/drawing/2014/main" id="{535C7410-5D1A-F443-9AAA-E8B000F492F5}"/>
              </a:ext>
            </a:extLst>
          </p:cNvPr>
          <p:cNvSpPr/>
          <p:nvPr/>
        </p:nvSpPr>
        <p:spPr>
          <a:xfrm>
            <a:off x="9683711" y="5344128"/>
            <a:ext cx="1919922" cy="992725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24393"/>
              <a:gd name="adj6" fmla="val -47851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Datadog, </a:t>
            </a:r>
            <a:r>
              <a:rPr lang="en-US" sz="1200" dirty="0" err="1"/>
              <a:t>SumoLogic</a:t>
            </a:r>
            <a:r>
              <a:rPr lang="en-US" sz="1200" dirty="0"/>
              <a:t>, Dynatrace, </a:t>
            </a:r>
            <a:r>
              <a:rPr lang="en-US" sz="1200" dirty="0" err="1"/>
              <a:t>AlertLogic</a:t>
            </a:r>
            <a:r>
              <a:rPr lang="en-US" sz="1200" dirty="0"/>
              <a:t>, etc.</a:t>
            </a:r>
          </a:p>
        </p:txBody>
      </p:sp>
    </p:spTree>
    <p:extLst>
      <p:ext uri="{BB962C8B-B14F-4D97-AF65-F5344CB8AC3E}">
        <p14:creationId xmlns:p14="http://schemas.microsoft.com/office/powerpoint/2010/main" val="90235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C1929-ADFD-784D-A28C-9DC3E3AD9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834" y="42975"/>
            <a:ext cx="9498496" cy="979970"/>
          </a:xfrm>
        </p:spPr>
        <p:txBody>
          <a:bodyPr>
            <a:normAutofit fontScale="90000"/>
          </a:bodyPr>
          <a:lstStyle/>
          <a:p>
            <a:r>
              <a:rPr lang="en-US" dirty="0"/>
              <a:t>Software Development Life Cycle Ecosystem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4156F4-5000-064C-AB36-15076C1B33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5596" y="2305237"/>
            <a:ext cx="6877182" cy="3062495"/>
          </a:xfrm>
          <a:prstGeom prst="rect">
            <a:avLst/>
          </a:prstGeom>
        </p:spPr>
      </p:pic>
      <p:sp>
        <p:nvSpPr>
          <p:cNvPr id="3" name="Line Callout 2 2">
            <a:extLst>
              <a:ext uri="{FF2B5EF4-FFF2-40B4-BE49-F238E27FC236}">
                <a16:creationId xmlns:a16="http://schemas.microsoft.com/office/drawing/2014/main" id="{A2B8CA37-4D95-1B49-B680-09284E6D6F2B}"/>
              </a:ext>
            </a:extLst>
          </p:cNvPr>
          <p:cNvSpPr/>
          <p:nvPr/>
        </p:nvSpPr>
        <p:spPr>
          <a:xfrm>
            <a:off x="5997213" y="1140914"/>
            <a:ext cx="1538659" cy="808059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202652"/>
              <a:gd name="adj6" fmla="val -34356"/>
            </a:avLst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Paper &amp; pen or </a:t>
            </a:r>
            <a:r>
              <a:rPr lang="en-US" sz="1200" dirty="0" err="1">
                <a:hlinkClick r:id="rId3"/>
              </a:rPr>
              <a:t>Lucidchart</a:t>
            </a:r>
            <a:endParaRPr lang="en-US" sz="1200" dirty="0"/>
          </a:p>
        </p:txBody>
      </p:sp>
      <p:sp>
        <p:nvSpPr>
          <p:cNvPr id="6" name="Line Callout 2 5">
            <a:extLst>
              <a:ext uri="{FF2B5EF4-FFF2-40B4-BE49-F238E27FC236}">
                <a16:creationId xmlns:a16="http://schemas.microsoft.com/office/drawing/2014/main" id="{1898104D-E613-AD49-B56C-1EE786039F02}"/>
              </a:ext>
            </a:extLst>
          </p:cNvPr>
          <p:cNvSpPr/>
          <p:nvPr/>
        </p:nvSpPr>
        <p:spPr>
          <a:xfrm>
            <a:off x="1040934" y="1351120"/>
            <a:ext cx="1921372" cy="1122943"/>
          </a:xfrm>
          <a:prstGeom prst="borderCallout2">
            <a:avLst>
              <a:gd name="adj1" fmla="val 23295"/>
              <a:gd name="adj2" fmla="val 105416"/>
              <a:gd name="adj3" fmla="val 23294"/>
              <a:gd name="adj4" fmla="val 113214"/>
              <a:gd name="adj5" fmla="val 96038"/>
              <a:gd name="adj6" fmla="val 130070"/>
            </a:avLst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Java (SE) 11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Git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GitHub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IntelliJ  CE</a:t>
            </a:r>
          </a:p>
        </p:txBody>
      </p:sp>
      <p:sp>
        <p:nvSpPr>
          <p:cNvPr id="7" name="Line Callout 2 6">
            <a:extLst>
              <a:ext uri="{FF2B5EF4-FFF2-40B4-BE49-F238E27FC236}">
                <a16:creationId xmlns:a16="http://schemas.microsoft.com/office/drawing/2014/main" id="{6D0D277B-79C5-BA4D-90C8-C29C2C92AAF2}"/>
              </a:ext>
            </a:extLst>
          </p:cNvPr>
          <p:cNvSpPr/>
          <p:nvPr/>
        </p:nvSpPr>
        <p:spPr>
          <a:xfrm>
            <a:off x="805959" y="3587758"/>
            <a:ext cx="1590340" cy="1122941"/>
          </a:xfrm>
          <a:prstGeom prst="borderCallout2">
            <a:avLst>
              <a:gd name="adj1" fmla="val 23295"/>
              <a:gd name="adj2" fmla="val 105416"/>
              <a:gd name="adj3" fmla="val 23294"/>
              <a:gd name="adj4" fmla="val 113214"/>
              <a:gd name="adj5" fmla="val 37462"/>
              <a:gd name="adj6" fmla="val 134849"/>
            </a:avLst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IntelliJ or Maven (recommended)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0264696-DAEC-E347-B542-0BCD832B8FB1}"/>
              </a:ext>
            </a:extLst>
          </p:cNvPr>
          <p:cNvSpPr txBox="1"/>
          <p:nvPr/>
        </p:nvSpPr>
        <p:spPr>
          <a:xfrm>
            <a:off x="4208074" y="1621101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TDD</a:t>
            </a:r>
          </a:p>
        </p:txBody>
      </p:sp>
      <p:sp>
        <p:nvSpPr>
          <p:cNvPr id="17" name="Line Callout 2 16">
            <a:extLst>
              <a:ext uri="{FF2B5EF4-FFF2-40B4-BE49-F238E27FC236}">
                <a16:creationId xmlns:a16="http://schemas.microsoft.com/office/drawing/2014/main" id="{55B1099E-8F64-FB45-B992-526C99C8ED92}"/>
              </a:ext>
            </a:extLst>
          </p:cNvPr>
          <p:cNvSpPr/>
          <p:nvPr/>
        </p:nvSpPr>
        <p:spPr>
          <a:xfrm>
            <a:off x="1880359" y="5867202"/>
            <a:ext cx="2156347" cy="709784"/>
          </a:xfrm>
          <a:prstGeom prst="borderCallout2">
            <a:avLst>
              <a:gd name="adj1" fmla="val 23295"/>
              <a:gd name="adj2" fmla="val 105416"/>
              <a:gd name="adj3" fmla="val 23294"/>
              <a:gd name="adj4" fmla="val 113214"/>
              <a:gd name="adj5" fmla="val -80173"/>
              <a:gd name="adj6" fmla="val 125002"/>
            </a:avLst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JUnit 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8275F6E-F448-8342-9621-5540CBFC9542}"/>
              </a:ext>
            </a:extLst>
          </p:cNvPr>
          <p:cNvSpPr txBox="1"/>
          <p:nvPr/>
        </p:nvSpPr>
        <p:spPr>
          <a:xfrm>
            <a:off x="2373275" y="5159462"/>
            <a:ext cx="1170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CI Pipeline</a:t>
            </a:r>
          </a:p>
        </p:txBody>
      </p:sp>
      <p:sp>
        <p:nvSpPr>
          <p:cNvPr id="20" name="Line Callout 2 19">
            <a:extLst>
              <a:ext uri="{FF2B5EF4-FFF2-40B4-BE49-F238E27FC236}">
                <a16:creationId xmlns:a16="http://schemas.microsoft.com/office/drawing/2014/main" id="{58201CB2-240F-A64F-BD46-BD02F82BE256}"/>
              </a:ext>
            </a:extLst>
          </p:cNvPr>
          <p:cNvSpPr/>
          <p:nvPr/>
        </p:nvSpPr>
        <p:spPr>
          <a:xfrm>
            <a:off x="5094914" y="5412555"/>
            <a:ext cx="1069273" cy="454647"/>
          </a:xfrm>
          <a:prstGeom prst="borderCallout2">
            <a:avLst>
              <a:gd name="adj1" fmla="val -17618"/>
              <a:gd name="adj2" fmla="val 47525"/>
              <a:gd name="adj3" fmla="val -28291"/>
              <a:gd name="adj4" fmla="val 60507"/>
              <a:gd name="adj5" fmla="val -183344"/>
              <a:gd name="adj6" fmla="val 74887"/>
            </a:avLst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i="1" dirty="0"/>
              <a:t>NA</a:t>
            </a:r>
          </a:p>
        </p:txBody>
      </p:sp>
      <p:sp>
        <p:nvSpPr>
          <p:cNvPr id="22" name="Line Callout 2 21">
            <a:extLst>
              <a:ext uri="{FF2B5EF4-FFF2-40B4-BE49-F238E27FC236}">
                <a16:creationId xmlns:a16="http://schemas.microsoft.com/office/drawing/2014/main" id="{943B30BC-75F9-0A41-9D65-14B946E90033}"/>
              </a:ext>
            </a:extLst>
          </p:cNvPr>
          <p:cNvSpPr/>
          <p:nvPr/>
        </p:nvSpPr>
        <p:spPr>
          <a:xfrm>
            <a:off x="9305242" y="1789404"/>
            <a:ext cx="1299713" cy="997613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79712"/>
              <a:gd name="adj6" fmla="val -56652"/>
            </a:avLst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i="1" dirty="0"/>
              <a:t>NA</a:t>
            </a:r>
          </a:p>
        </p:txBody>
      </p:sp>
      <p:sp>
        <p:nvSpPr>
          <p:cNvPr id="24" name="Line Callout 2 23">
            <a:extLst>
              <a:ext uri="{FF2B5EF4-FFF2-40B4-BE49-F238E27FC236}">
                <a16:creationId xmlns:a16="http://schemas.microsoft.com/office/drawing/2014/main" id="{535C7410-5D1A-F443-9AAA-E8B000F492F5}"/>
              </a:ext>
            </a:extLst>
          </p:cNvPr>
          <p:cNvSpPr/>
          <p:nvPr/>
        </p:nvSpPr>
        <p:spPr>
          <a:xfrm>
            <a:off x="9305242" y="5170309"/>
            <a:ext cx="1299713" cy="588262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24393"/>
              <a:gd name="adj6" fmla="val -47851"/>
            </a:avLst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i="1" dirty="0"/>
              <a:t>NA</a:t>
            </a:r>
          </a:p>
        </p:txBody>
      </p:sp>
    </p:spTree>
    <p:extLst>
      <p:ext uri="{BB962C8B-B14F-4D97-AF65-F5344CB8AC3E}">
        <p14:creationId xmlns:p14="http://schemas.microsoft.com/office/powerpoint/2010/main" val="5504656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58CC5-8EFD-514E-91D6-96B9399E2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Ecosystem for COMP1050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57E7F8-7641-074F-95B6-EFD6442609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Java 11</a:t>
            </a:r>
          </a:p>
          <a:p>
            <a:pPr lvl="1"/>
            <a:r>
              <a:rPr lang="en-US" dirty="0"/>
              <a:t>Know how to read the documentation</a:t>
            </a:r>
          </a:p>
          <a:p>
            <a:pPr lvl="2"/>
            <a:r>
              <a:rPr lang="en-US" dirty="0">
                <a:hlinkClick r:id="rId3"/>
              </a:rPr>
              <a:t>https://docs.oracle.com/en/java/javase/11/docs/api/index.html</a:t>
            </a:r>
            <a:endParaRPr lang="en-US" dirty="0"/>
          </a:p>
          <a:p>
            <a:pPr lvl="1"/>
            <a:r>
              <a:rPr lang="en-US" dirty="0"/>
              <a:t>Know the tools in your Java SE (11) toolbox</a:t>
            </a:r>
          </a:p>
          <a:p>
            <a:pPr lvl="2"/>
            <a:r>
              <a:rPr lang="en-US" dirty="0">
                <a:hlinkClick r:id="rId4"/>
              </a:rPr>
              <a:t>https://docs.oracle.com/en/java/javase/11/tools/tools-and-command-reference.html</a:t>
            </a:r>
            <a:endParaRPr lang="en-US" dirty="0"/>
          </a:p>
          <a:p>
            <a:pPr lvl="2"/>
            <a:r>
              <a:rPr lang="en-US" dirty="0">
                <a:hlinkClick r:id="rId5"/>
              </a:rPr>
              <a:t>https://docs.oracle.com/en/java/javase/11/docs/api/java.base/java/lang/String.html</a:t>
            </a:r>
            <a:endParaRPr lang="en-US" dirty="0"/>
          </a:p>
          <a:p>
            <a:r>
              <a:rPr lang="en-US" dirty="0"/>
              <a:t>Git/GitHub or similar</a:t>
            </a:r>
          </a:p>
          <a:p>
            <a:r>
              <a:rPr lang="en-US" dirty="0"/>
              <a:t>IntelliJ</a:t>
            </a:r>
          </a:p>
          <a:p>
            <a:r>
              <a:rPr lang="en-US" dirty="0"/>
              <a:t>Maven (optional)</a:t>
            </a:r>
          </a:p>
          <a:p>
            <a:r>
              <a:rPr lang="en-US" dirty="0"/>
              <a:t>JUnit 5</a:t>
            </a:r>
          </a:p>
        </p:txBody>
      </p:sp>
    </p:spTree>
    <p:extLst>
      <p:ext uri="{BB962C8B-B14F-4D97-AF65-F5344CB8AC3E}">
        <p14:creationId xmlns:p14="http://schemas.microsoft.com/office/powerpoint/2010/main" val="945245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D95B5-E667-D249-ACFC-547A79966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 tooling…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898922-D6D8-A84B-9569-0C2E789C19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You </a:t>
            </a:r>
            <a:r>
              <a:rPr lang="en-US" dirty="0"/>
              <a:t>should start this course by using the command-line to compile, package and run your code</a:t>
            </a:r>
          </a:p>
          <a:p>
            <a:r>
              <a:rPr lang="en-US" dirty="0"/>
              <a:t>Understand how to use git, </a:t>
            </a:r>
            <a:r>
              <a:rPr lang="en-US" dirty="0" err="1"/>
              <a:t>javac</a:t>
            </a:r>
            <a:r>
              <a:rPr lang="en-US" dirty="0"/>
              <a:t>, java and jar – and potentially </a:t>
            </a:r>
            <a:r>
              <a:rPr lang="en-US" dirty="0" err="1"/>
              <a:t>mvn</a:t>
            </a:r>
            <a:r>
              <a:rPr lang="en-US" dirty="0"/>
              <a:t> if you choose to explore this build tool</a:t>
            </a:r>
          </a:p>
          <a:p>
            <a:r>
              <a:rPr lang="en-US" dirty="0"/>
              <a:t>If you understand how these tools work from the command line, integrating with the IDE just becomes a convenience</a:t>
            </a:r>
          </a:p>
        </p:txBody>
      </p:sp>
    </p:spTree>
    <p:extLst>
      <p:ext uri="{BB962C8B-B14F-4D97-AF65-F5344CB8AC3E}">
        <p14:creationId xmlns:p14="http://schemas.microsoft.com/office/powerpoint/2010/main" val="11997534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14198</TotalTime>
  <Words>408</Words>
  <Application>Microsoft Macintosh PowerPoint</Application>
  <PresentationFormat>Widescreen</PresentationFormat>
  <Paragraphs>62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COMP1050</vt:lpstr>
      <vt:lpstr>Software Development Life Cycle Major Stages</vt:lpstr>
      <vt:lpstr>Software Development Life Cycle Ecosystem</vt:lpstr>
      <vt:lpstr>Software Development Life Cycle Ecosystem</vt:lpstr>
      <vt:lpstr>The Ecosystem for COMP1050</vt:lpstr>
      <vt:lpstr>On tooling…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COMP1050</dc:title>
  <dc:creator>John Puopolo</dc:creator>
  <cp:lastModifiedBy>John Puopolo</cp:lastModifiedBy>
  <cp:revision>18</cp:revision>
  <dcterms:created xsi:type="dcterms:W3CDTF">2020-02-16T16:12:45Z</dcterms:created>
  <dcterms:modified xsi:type="dcterms:W3CDTF">2020-09-10T09:32:20Z</dcterms:modified>
</cp:coreProperties>
</file>