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6405"/>
  </p:normalViewPr>
  <p:slideViewPr>
    <p:cSldViewPr snapToGrid="0" snapToObjects="1">
      <p:cViewPr varScale="1">
        <p:scale>
          <a:sx n="131" d="100"/>
          <a:sy n="131" d="100"/>
        </p:scale>
        <p:origin x="37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5F05D-2D34-B243-A827-7C4F671C91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CEACD4-C295-7D48-9894-FE5C4E05DB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E2E702-5CF5-6C46-8DA8-017EB34FC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B69EE-52F0-834A-835F-8794EBA9562B}" type="datetimeFigureOut">
              <a:rPr lang="en-US" smtClean="0"/>
              <a:t>8/6/20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97BCF9-3C55-834C-8059-199FE5858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D1B4FD-4E5D-0949-9DED-FDE288FEC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4687B-AE3D-5E46-A566-312E0D8B9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9264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2F645-CDB0-E745-B710-A46F13F63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4779CE-83F3-E741-BA98-594BCD2345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6AAE76-0949-C246-AF47-5B5D25CD7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B69EE-52F0-834A-835F-8794EBA9562B}" type="datetimeFigureOut">
              <a:rPr lang="en-US" smtClean="0"/>
              <a:t>8/6/20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BD6C07-1195-D64B-BD58-565CA6796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86845D-FA15-8640-88D8-485EB3267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4687B-AE3D-5E46-A566-312E0D8B9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2942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4C19F-4494-4545-AF00-33F15B633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5865E2-84FD-4A45-9FB6-DA0C5BBF1F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FF7A76-7386-2646-9D45-AB5832329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B69EE-52F0-834A-835F-8794EBA9562B}" type="datetimeFigureOut">
              <a:rPr lang="en-US" smtClean="0"/>
              <a:t>8/6/20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20740D-BC53-1847-9F7B-0C137E1F4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73D89A-45BF-874B-BF92-99D47BEAE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4687B-AE3D-5E46-A566-312E0D8B9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9177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4C336-3FF8-A542-B6D1-F790BA875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52EB8D-22F1-1E4E-971E-2170707234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713C66-2995-6D40-A40D-FA341544A1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D33746-80EB-3145-B9C0-C52DC9F0F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B69EE-52F0-834A-835F-8794EBA9562B}" type="datetimeFigureOut">
              <a:rPr lang="en-US" smtClean="0"/>
              <a:t>8/6/20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C56844-AAFF-E645-A97B-0A7F158B7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3FC4BF-8BC0-064D-9D5B-EC31D1570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4687B-AE3D-5E46-A566-312E0D8B9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4863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1A1AB-0A52-8044-A3D3-63EF1C406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AFA7BE-BB8F-2C41-9FEB-A66D9B0360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5EE894-A26D-F543-B5C0-BFD6047C7A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AFC2CB-607B-614D-B62C-69857F1D9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C2AC56-3D5B-5148-A9E2-01151C1C6E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219D98-873F-C44C-9E4C-A46DD2B9A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B69EE-52F0-834A-835F-8794EBA9562B}" type="datetimeFigureOut">
              <a:rPr lang="en-US" smtClean="0"/>
              <a:t>8/6/20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B522CD2-2F9A-2442-ADED-A8B25A455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91786F-E625-EE47-9B2C-0026EB3A7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4687B-AE3D-5E46-A566-312E0D8B9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2247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4F633-A644-AD41-94B1-35D4F93C0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A08CA2-EEF4-0E47-8CA8-58CB9662A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B69EE-52F0-834A-835F-8794EBA9562B}" type="datetimeFigureOut">
              <a:rPr lang="en-US" smtClean="0"/>
              <a:t>8/6/20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1C4B27-E00D-E343-A751-CC7C73B86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06CD40-3528-DE49-B179-ABB472D29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4687B-AE3D-5E46-A566-312E0D8B9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3103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CF143D-A96F-2749-B13F-78D40FBE9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B69EE-52F0-834A-835F-8794EBA9562B}" type="datetimeFigureOut">
              <a:rPr lang="en-US" smtClean="0"/>
              <a:t>8/6/20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1BBECC-18B8-4E4C-92AF-7051180E2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5E084A-AA8F-994E-9940-82EA76DBC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4687B-AE3D-5E46-A566-312E0D8B9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6211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30EF6-64EF-4749-8049-7557FC748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9501BE-0B14-E843-BC9D-F251B75AC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EF7A8D-0719-C844-B244-176B50CF52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BDBA6D-9A57-F140-9A69-AD8B8FA5A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B69EE-52F0-834A-835F-8794EBA9562B}" type="datetimeFigureOut">
              <a:rPr lang="en-US" smtClean="0"/>
              <a:t>8/6/20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D85A4D-5746-5640-A521-3914B7A48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94BF1D-1646-4648-9F7F-123C1DBA5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4687B-AE3D-5E46-A566-312E0D8B9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7526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F9EF7-F252-2940-A9DE-CA96F0CD4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41DF88-9367-CA40-842A-D03AA6EB32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FA58E9-D372-6548-A77D-6781D849BA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C49D69-02C7-764C-9FC2-C6D8BAA7E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B69EE-52F0-834A-835F-8794EBA9562B}" type="datetimeFigureOut">
              <a:rPr lang="en-US" smtClean="0"/>
              <a:t>8/6/20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8CD5BE-602D-144C-95D0-3E9329F1F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C22DA3-2C76-0248-B6F7-83D6AACD5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4687B-AE3D-5E46-A566-312E0D8B9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845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5EAFD-5AF8-144D-8AD3-2E2F494A0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42C80B-42D8-7444-B88F-9E36344B01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D4BDB3-BCF9-1148-987F-59E02C3E6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B69EE-52F0-834A-835F-8794EBA9562B}" type="datetimeFigureOut">
              <a:rPr lang="en-US" smtClean="0"/>
              <a:t>8/6/20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961EA1-203F-FF43-AB66-42C58DD16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4204C6-1BB2-354C-9F96-229FBB609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4687B-AE3D-5E46-A566-312E0D8B9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0942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280D7A-EF9E-4C4B-96F6-F05D2C0681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4BAE10-6E59-F84A-A124-ED42BF88A7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E84DC6-1115-7345-A3FE-5BE96D469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B69EE-52F0-834A-835F-8794EBA9562B}" type="datetimeFigureOut">
              <a:rPr lang="en-US" smtClean="0"/>
              <a:t>8/6/20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7AAE35-5CDC-C046-8C56-8B6158AA0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CD16BA-A38F-C14A-99A5-BCB89D30A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4687B-AE3D-5E46-A566-312E0D8B9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735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B31E3A-E25F-B149-9E38-2367DF8E2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C56A46-62C7-CF40-8A8E-41593250B9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EAD1B3-7FBF-7247-9DA3-D37DE5F822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FB69EE-52F0-834A-835F-8794EBA9562B}" type="datetimeFigureOut">
              <a:rPr lang="en-US" smtClean="0"/>
              <a:t>8/6/20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51F0A8-9170-8B47-BC69-DF81D765EE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1DF5F0-4D39-9840-B7BF-793E0A8F8B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4687B-AE3D-5E46-A566-312E0D8B9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841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tutorials.jenkov.com/java-concurrency/java-memory-model.html#javas-logic-memory-model" TargetMode="External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tutorials.jenkov.com/java-concurrency/java-memory-model.html#javas-logic-memory-model" TargetMode="External"/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2AB21-2F2A-7644-B705-0846ECA49CB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Threads &amp; Concurrency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76110F-4EC9-6F4A-BE39-365DE8A67C4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High-Level Overview</a:t>
            </a:r>
          </a:p>
        </p:txBody>
      </p:sp>
    </p:spTree>
    <p:extLst>
      <p:ext uri="{BB962C8B-B14F-4D97-AF65-F5344CB8AC3E}">
        <p14:creationId xmlns:p14="http://schemas.microsoft.com/office/powerpoint/2010/main" val="8929150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B728E-ACFD-4841-925A-9026AD302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Threads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CAB692-6300-7C4D-8820-EC92DEFFCA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Independent units of execution in a process</a:t>
            </a:r>
          </a:p>
          <a:p>
            <a:r>
              <a:rPr lang="en-US" dirty="0"/>
              <a:t>Enable your program to do 2 or more things are the same time</a:t>
            </a:r>
          </a:p>
          <a:p>
            <a:pPr lvl="1"/>
            <a:r>
              <a:rPr lang="en-US" dirty="0"/>
              <a:t>On multicore systems, they run in parallel</a:t>
            </a:r>
          </a:p>
          <a:p>
            <a:pPr lvl="1"/>
            <a:r>
              <a:rPr lang="en-US" dirty="0"/>
              <a:t>On a single core system (rare nowadays) they are time-sliced to simulate concurrency</a:t>
            </a:r>
          </a:p>
          <a:p>
            <a:r>
              <a:rPr lang="en-US" dirty="0"/>
              <a:t>All processes have a least 1 thread – the </a:t>
            </a:r>
            <a:r>
              <a:rPr lang="en-US" i="1" dirty="0"/>
              <a:t>main thread</a:t>
            </a:r>
          </a:p>
          <a:p>
            <a:pPr lvl="1"/>
            <a:r>
              <a:rPr lang="en-US" dirty="0"/>
              <a:t>In general, the main thread owns all GUI elements</a:t>
            </a:r>
          </a:p>
          <a:p>
            <a:r>
              <a:rPr lang="en-US" dirty="0"/>
              <a:t>Share the ”host” process’s memory and system resources</a:t>
            </a:r>
          </a:p>
          <a:p>
            <a:r>
              <a:rPr lang="en-US" dirty="0"/>
              <a:t>Have their own call stack and local variable stack</a:t>
            </a:r>
          </a:p>
          <a:p>
            <a:r>
              <a:rPr lang="en-US" dirty="0"/>
              <a:t>Have priority (high &gt; normal &gt; daemon)</a:t>
            </a:r>
          </a:p>
          <a:p>
            <a:r>
              <a:rPr lang="en-US" dirty="0"/>
              <a:t>All modern operating systems support threads and multithreading</a:t>
            </a:r>
          </a:p>
        </p:txBody>
      </p:sp>
    </p:spTree>
    <p:extLst>
      <p:ext uri="{BB962C8B-B14F-4D97-AF65-F5344CB8AC3E}">
        <p14:creationId xmlns:p14="http://schemas.microsoft.com/office/powerpoint/2010/main" val="18410409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8F19F-FFF0-6C41-A619-1131D2A1F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902" y="190095"/>
            <a:ext cx="10515600" cy="597913"/>
          </a:xfrm>
        </p:spPr>
        <p:txBody>
          <a:bodyPr>
            <a:normAutofit fontScale="90000"/>
          </a:bodyPr>
          <a:lstStyle/>
          <a:p>
            <a:r>
              <a:rPr lang="en-US" dirty="0"/>
              <a:t>Overall View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94C97A-E750-2E42-8B51-AD1A5A9A99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997" y="788008"/>
            <a:ext cx="6085462" cy="544686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1CE8698-009E-864B-8F11-13FA986DAF31}"/>
              </a:ext>
            </a:extLst>
          </p:cNvPr>
          <p:cNvSpPr txBox="1"/>
          <p:nvPr/>
        </p:nvSpPr>
        <p:spPr>
          <a:xfrm>
            <a:off x="7169287" y="1420239"/>
            <a:ext cx="398834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Examples of Useful Concurrency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Long-running computation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Network calls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Calls to slow peripherals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Simultaneously fetching the pieces needs for a final answer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Background printing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Monitoring a sensor or other device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Server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HTTP/Web Server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Client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Browser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Office application (printing)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54A0E3-7F78-E34E-B449-0F346AC16F51}"/>
              </a:ext>
            </a:extLst>
          </p:cNvPr>
          <p:cNvSpPr txBox="1"/>
          <p:nvPr/>
        </p:nvSpPr>
        <p:spPr>
          <a:xfrm>
            <a:off x="0" y="6550223"/>
            <a:ext cx="83030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Image from </a:t>
            </a:r>
            <a:r>
              <a:rPr lang="en-US" sz="1400" dirty="0">
                <a:hlinkClick r:id="rId3"/>
              </a:rPr>
              <a:t>http://tutorials.jenkov.com/java-concurrency/java-memory-model.html#javas-logic-memory-model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0981765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8F19F-FFF0-6C41-A619-1131D2A1F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902" y="190095"/>
            <a:ext cx="10515600" cy="597913"/>
          </a:xfrm>
        </p:spPr>
        <p:txBody>
          <a:bodyPr>
            <a:normAutofit fontScale="90000"/>
          </a:bodyPr>
          <a:lstStyle/>
          <a:p>
            <a:r>
              <a:rPr lang="en-US" dirty="0"/>
              <a:t>Overall View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CE8698-009E-864B-8F11-13FA986DAF31}"/>
              </a:ext>
            </a:extLst>
          </p:cNvPr>
          <p:cNvSpPr txBox="1"/>
          <p:nvPr/>
        </p:nvSpPr>
        <p:spPr>
          <a:xfrm>
            <a:off x="7328035" y="2343529"/>
            <a:ext cx="398834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Threads have their own stacks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Primitives are stored on the stack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References to objects stored on the stack but objects themselves are stored on the shared heap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2D68698-073A-8F4E-BB5C-571E977775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625" y="788008"/>
            <a:ext cx="6413500" cy="54229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9E4177F-3878-6C40-A821-7A272DED7B41}"/>
              </a:ext>
            </a:extLst>
          </p:cNvPr>
          <p:cNvSpPr txBox="1"/>
          <p:nvPr/>
        </p:nvSpPr>
        <p:spPr>
          <a:xfrm>
            <a:off x="0" y="6514016"/>
            <a:ext cx="83030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Image from </a:t>
            </a:r>
            <a:r>
              <a:rPr lang="en-US" sz="1400" dirty="0">
                <a:hlinkClick r:id="rId3"/>
              </a:rPr>
              <a:t>http://tutorials.jenkov.com/java-concurrency/java-memory-model.html#javas-logic-memory-model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2102897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B6D8B-5BF9-BA4D-A975-E2839410C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Concurrency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912633-7B61-A148-9687-74760C889D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There are several ways to implement concurrency in Java</a:t>
            </a:r>
          </a:p>
          <a:p>
            <a:pPr lvl="1"/>
            <a:r>
              <a:rPr lang="en-US" dirty="0"/>
              <a:t>Working with low-level threads directly</a:t>
            </a:r>
          </a:p>
          <a:p>
            <a:pPr lvl="2"/>
            <a:r>
              <a:rPr lang="en-US" dirty="0"/>
              <a:t>Create a class that is a subclass of thread and override </a:t>
            </a:r>
            <a:r>
              <a:rPr lang="en-US" i="1" dirty="0"/>
              <a:t>run()</a:t>
            </a:r>
          </a:p>
          <a:p>
            <a:pPr lvl="2"/>
            <a:r>
              <a:rPr lang="en-US" dirty="0"/>
              <a:t>Declare a class that implements the </a:t>
            </a:r>
            <a:r>
              <a:rPr lang="en-US" i="1" dirty="0"/>
              <a:t>Runnable</a:t>
            </a:r>
            <a:r>
              <a:rPr lang="en-US" dirty="0"/>
              <a:t> interface</a:t>
            </a:r>
          </a:p>
          <a:p>
            <a:pPr lvl="3"/>
            <a:r>
              <a:rPr lang="en-US" dirty="0"/>
              <a:t>That class then implements the </a:t>
            </a:r>
            <a:r>
              <a:rPr lang="en-US" i="1" dirty="0"/>
              <a:t>run() </a:t>
            </a:r>
            <a:r>
              <a:rPr lang="en-US" dirty="0"/>
              <a:t>method</a:t>
            </a:r>
          </a:p>
          <a:p>
            <a:pPr lvl="3"/>
            <a:r>
              <a:rPr lang="en-US" dirty="0"/>
              <a:t>An instance of the class can then be allocated, passed as an argument when creating Thread, and started</a:t>
            </a:r>
          </a:p>
          <a:p>
            <a:pPr lvl="1"/>
            <a:r>
              <a:rPr lang="en-US" dirty="0"/>
              <a:t>Using the </a:t>
            </a:r>
            <a:r>
              <a:rPr lang="en-US" i="1" dirty="0" err="1"/>
              <a:t>ExecutorService</a:t>
            </a:r>
            <a:endParaRPr lang="en-US" i="1" dirty="0"/>
          </a:p>
          <a:p>
            <a:pPr lvl="2"/>
            <a:r>
              <a:rPr lang="en-US" dirty="0"/>
              <a:t>Wraps low-level threads into higher-level tasks</a:t>
            </a:r>
          </a:p>
          <a:p>
            <a:pPr lvl="2"/>
            <a:r>
              <a:rPr lang="en-US" dirty="0"/>
              <a:t>Uses a thread pool to execute tasks efficiently</a:t>
            </a:r>
          </a:p>
          <a:p>
            <a:pPr lvl="1"/>
            <a:r>
              <a:rPr lang="en-US" dirty="0"/>
              <a:t>Using tasks and futures</a:t>
            </a:r>
          </a:p>
          <a:p>
            <a:pPr lvl="2"/>
            <a:r>
              <a:rPr lang="en-US" dirty="0"/>
              <a:t>A future is an object that promises to supply a value later on, in the future</a:t>
            </a:r>
          </a:p>
          <a:p>
            <a:pPr lvl="2"/>
            <a:r>
              <a:rPr lang="en-US" dirty="0"/>
              <a:t>Java supports a concept called a completable future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18661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2FEB1-7B7A-7E4E-82E6-4C40AEBCD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Basics – Create &amp; Start Thread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1CDF234-302F-E14B-8EB9-C3A7E31F05E4}"/>
              </a:ext>
            </a:extLst>
          </p:cNvPr>
          <p:cNvSpPr/>
          <p:nvPr/>
        </p:nvSpPr>
        <p:spPr>
          <a:xfrm>
            <a:off x="1001949" y="2206672"/>
            <a:ext cx="812259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new 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Thread(() -&gt; {		// create Thread</a:t>
            </a:r>
            <a:b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// do work here		// code runs on created Thread</a:t>
            </a:r>
            <a:b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}).start();			// start the work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A86B45-BD46-504E-99C8-A0CAF5D93498}"/>
              </a:ext>
            </a:extLst>
          </p:cNvPr>
          <p:cNvSpPr txBox="1"/>
          <p:nvPr/>
        </p:nvSpPr>
        <p:spPr>
          <a:xfrm>
            <a:off x="1001949" y="1581918"/>
            <a:ext cx="24665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Staring a Thread directly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23B6D2-CD7E-764B-A494-EB746F427CCA}"/>
              </a:ext>
            </a:extLst>
          </p:cNvPr>
          <p:cNvSpPr txBox="1"/>
          <p:nvPr/>
        </p:nvSpPr>
        <p:spPr>
          <a:xfrm>
            <a:off x="1001948" y="3887036"/>
            <a:ext cx="76362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Note that if you need something to happen continuously or repeatedly, you need to code a loop into the Thread’s work.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CA18A9B-3023-1A4F-8652-CA5D2A019E76}"/>
              </a:ext>
            </a:extLst>
          </p:cNvPr>
          <p:cNvSpPr/>
          <p:nvPr/>
        </p:nvSpPr>
        <p:spPr>
          <a:xfrm>
            <a:off x="1050587" y="4978337"/>
            <a:ext cx="1128408" cy="2723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Main thread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213EDCD-FF6A-3B44-AACF-A8B8B3A8748B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2178995" y="5114525"/>
            <a:ext cx="52821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156847FD-A10C-E24A-9F11-FF23C64B0592}"/>
              </a:ext>
            </a:extLst>
          </p:cNvPr>
          <p:cNvSpPr/>
          <p:nvPr/>
        </p:nvSpPr>
        <p:spPr>
          <a:xfrm>
            <a:off x="3148519" y="5569345"/>
            <a:ext cx="1128408" cy="27237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Thread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8929CE3-417C-9D4F-A7DD-9EF82CB610F3}"/>
              </a:ext>
            </a:extLst>
          </p:cNvPr>
          <p:cNvCxnSpPr>
            <a:endCxn id="10" idx="0"/>
          </p:cNvCxnSpPr>
          <p:nvPr/>
        </p:nvCxnSpPr>
        <p:spPr>
          <a:xfrm>
            <a:off x="3712723" y="5114524"/>
            <a:ext cx="0" cy="4548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D62F3F8-3B16-F044-AB53-B9C46C07EB3D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4276927" y="5705533"/>
            <a:ext cx="2250332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4C335F06-228C-FD4B-94B1-9995CB65B6DC}"/>
              </a:ext>
            </a:extLst>
          </p:cNvPr>
          <p:cNvSpPr txBox="1"/>
          <p:nvPr/>
        </p:nvSpPr>
        <p:spPr>
          <a:xfrm>
            <a:off x="5920893" y="5848342"/>
            <a:ext cx="14072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Ends when </a:t>
            </a:r>
            <a:r>
              <a:rPr lang="en-US" sz="1400"/>
              <a:t>work completes</a:t>
            </a:r>
            <a:endParaRPr lang="en-US" sz="1400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57D28D7-81BE-984C-A769-99AFD75C4F64}"/>
              </a:ext>
            </a:extLst>
          </p:cNvPr>
          <p:cNvSpPr/>
          <p:nvPr/>
        </p:nvSpPr>
        <p:spPr>
          <a:xfrm>
            <a:off x="6527259" y="5630510"/>
            <a:ext cx="97269" cy="150044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1166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D4AF4-0F4E-DD4C-A485-AA91FAED5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Basics – Implement Runnable Interface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F5BB84-2B11-4F49-BA3E-7A4167B975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977991"/>
            <a:ext cx="10515600" cy="460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i="1" dirty="0">
                <a:latin typeface="Consolas" panose="020B0609020204030204" pitchFamily="49" charset="0"/>
                <a:cs typeface="Consolas" panose="020B0609020204030204" pitchFamily="49" charset="0"/>
              </a:rPr>
              <a:t>// Implementing Runnable using Lambda expression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EB35371-35AC-7244-964E-6591A72E62DC}"/>
              </a:ext>
            </a:extLst>
          </p:cNvPr>
          <p:cNvSpPr/>
          <p:nvPr/>
        </p:nvSpPr>
        <p:spPr>
          <a:xfrm>
            <a:off x="838199" y="2286000"/>
            <a:ext cx="989141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Runnable runnable2 = () -&gt; { 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System.out.println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("Thread name: " +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Thread.currentThread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().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getName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()); 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}; 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new Thread(runnable2).start();</a:t>
            </a:r>
          </a:p>
        </p:txBody>
      </p:sp>
    </p:spTree>
    <p:extLst>
      <p:ext uri="{BB962C8B-B14F-4D97-AF65-F5344CB8AC3E}">
        <p14:creationId xmlns:p14="http://schemas.microsoft.com/office/powerpoint/2010/main" val="13145770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2FEB1-7B7A-7E4E-82E6-4C40AEBCD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196" y="589373"/>
            <a:ext cx="10515600" cy="701072"/>
          </a:xfrm>
        </p:spPr>
        <p:txBody>
          <a:bodyPr/>
          <a:lstStyle/>
          <a:p>
            <a:r>
              <a:rPr lang="en-US" dirty="0"/>
              <a:t>Basics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CA18A9B-3023-1A4F-8652-CA5D2A019E76}"/>
              </a:ext>
            </a:extLst>
          </p:cNvPr>
          <p:cNvSpPr/>
          <p:nvPr/>
        </p:nvSpPr>
        <p:spPr>
          <a:xfrm>
            <a:off x="731196" y="2727857"/>
            <a:ext cx="1128408" cy="5910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Main thread</a:t>
            </a:r>
          </a:p>
          <a:p>
            <a:pPr algn="ctr"/>
            <a:r>
              <a:rPr lang="en-US" sz="1400" dirty="0"/>
              <a:t>GUI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213EDCD-FF6A-3B44-AACF-A8B8B3A8748B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1859604" y="3023361"/>
            <a:ext cx="827661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156847FD-A10C-E24A-9F11-FF23C64B0592}"/>
              </a:ext>
            </a:extLst>
          </p:cNvPr>
          <p:cNvSpPr/>
          <p:nvPr/>
        </p:nvSpPr>
        <p:spPr>
          <a:xfrm>
            <a:off x="2838856" y="4713595"/>
            <a:ext cx="1128408" cy="27237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Thread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8929CE3-417C-9D4F-A7DD-9EF82CB610F3}"/>
              </a:ext>
            </a:extLst>
          </p:cNvPr>
          <p:cNvCxnSpPr>
            <a:cxnSpLocks/>
            <a:endCxn id="10" idx="0"/>
          </p:cNvCxnSpPr>
          <p:nvPr/>
        </p:nvCxnSpPr>
        <p:spPr>
          <a:xfrm>
            <a:off x="3403060" y="3023361"/>
            <a:ext cx="0" cy="169023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D62F3F8-3B16-F044-AB53-B9C46C07EB3D}"/>
              </a:ext>
            </a:extLst>
          </p:cNvPr>
          <p:cNvCxnSpPr>
            <a:cxnSpLocks/>
            <a:stCxn id="10" idx="3"/>
            <a:endCxn id="17" idx="2"/>
          </p:cNvCxnSpPr>
          <p:nvPr/>
        </p:nvCxnSpPr>
        <p:spPr>
          <a:xfrm flipV="1">
            <a:off x="3967264" y="4849782"/>
            <a:ext cx="4054810" cy="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4C335F06-228C-FD4B-94B1-9995CB65B6DC}"/>
              </a:ext>
            </a:extLst>
          </p:cNvPr>
          <p:cNvSpPr txBox="1"/>
          <p:nvPr/>
        </p:nvSpPr>
        <p:spPr>
          <a:xfrm>
            <a:off x="7512988" y="5031618"/>
            <a:ext cx="14267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Ends when work </a:t>
            </a:r>
            <a:r>
              <a:rPr lang="en-US" sz="1400" dirty="0" err="1"/>
              <a:t>completeS</a:t>
            </a:r>
            <a:endParaRPr lang="en-US" sz="1400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57D28D7-81BE-984C-A769-99AFD75C4F64}"/>
              </a:ext>
            </a:extLst>
          </p:cNvPr>
          <p:cNvSpPr/>
          <p:nvPr/>
        </p:nvSpPr>
        <p:spPr>
          <a:xfrm>
            <a:off x="8022074" y="4774760"/>
            <a:ext cx="97269" cy="150044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F37C0EB-7277-DE49-93A2-A8DF8877BA7A}"/>
              </a:ext>
            </a:extLst>
          </p:cNvPr>
          <p:cNvCxnSpPr>
            <a:cxnSpLocks/>
          </p:cNvCxnSpPr>
          <p:nvPr/>
        </p:nvCxnSpPr>
        <p:spPr>
          <a:xfrm flipV="1">
            <a:off x="5019473" y="3023361"/>
            <a:ext cx="0" cy="18264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8927FB8-74DA-0E4B-B1BC-78479D1DDA53}"/>
              </a:ext>
            </a:extLst>
          </p:cNvPr>
          <p:cNvSpPr txBox="1"/>
          <p:nvPr/>
        </p:nvSpPr>
        <p:spPr>
          <a:xfrm>
            <a:off x="5151165" y="3540036"/>
            <a:ext cx="3365024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Platform.</a:t>
            </a:r>
            <a:r>
              <a:rPr lang="en-US" sz="1400" i="1" dirty="0" err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runLater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(() -&gt; {</a:t>
            </a:r>
            <a:b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  // update GUI controls, etc.</a:t>
            </a:r>
            <a:b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});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A7690D3-7526-BA4F-8FE1-707846A30CE0}"/>
              </a:ext>
            </a:extLst>
          </p:cNvPr>
          <p:cNvSpPr txBox="1"/>
          <p:nvPr/>
        </p:nvSpPr>
        <p:spPr>
          <a:xfrm>
            <a:off x="739303" y="1531913"/>
            <a:ext cx="79568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One way to update the UI from the non-GUI thread is to use </a:t>
            </a:r>
            <a:r>
              <a:rPr lang="en-US" i="1" dirty="0" err="1"/>
              <a:t>Platform.runLater</a:t>
            </a:r>
            <a:r>
              <a:rPr lang="en-US" i="1" dirty="0"/>
              <a:t>()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/>
              <a:t>Marshals</a:t>
            </a:r>
            <a:r>
              <a:rPr lang="en-US" dirty="0"/>
              <a:t> the call to the GUI thread  </a:t>
            </a:r>
          </a:p>
        </p:txBody>
      </p:sp>
    </p:spTree>
    <p:extLst>
      <p:ext uri="{BB962C8B-B14F-4D97-AF65-F5344CB8AC3E}">
        <p14:creationId xmlns:p14="http://schemas.microsoft.com/office/powerpoint/2010/main" val="31884835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59980-B374-F24F-9B05-930875A024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638" y="323508"/>
            <a:ext cx="10515600" cy="883456"/>
          </a:xfrm>
        </p:spPr>
        <p:txBody>
          <a:bodyPr/>
          <a:lstStyle/>
          <a:p>
            <a:r>
              <a:rPr lang="en-US" dirty="0"/>
              <a:t>Using the </a:t>
            </a:r>
            <a:r>
              <a:rPr lang="en-US" dirty="0" err="1"/>
              <a:t>ExecutorService</a:t>
            </a:r>
            <a:r>
              <a:rPr lang="en-US" dirty="0"/>
              <a:t> *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1B65228-8E7A-054A-AEEB-6BB4D0E773E4}"/>
              </a:ext>
            </a:extLst>
          </p:cNvPr>
          <p:cNvSpPr/>
          <p:nvPr/>
        </p:nvSpPr>
        <p:spPr>
          <a:xfrm>
            <a:off x="1451042" y="2191118"/>
            <a:ext cx="9695234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ExecutorService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exec 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Executors.newCachedThreadPool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();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// Good for many tasks that are short-lived or mostly block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int processors 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Runtime.getRuntime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().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availableProcessors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();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nthreads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processors - 2; 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ExecutorService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exec 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Executors.newFixedThreadPool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nthreads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);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// Good for computationally intensive tasks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2DBE413-0C13-5F4A-AED8-1499BD2BB2A7}"/>
              </a:ext>
            </a:extLst>
          </p:cNvPr>
          <p:cNvSpPr/>
          <p:nvPr/>
        </p:nvSpPr>
        <p:spPr>
          <a:xfrm>
            <a:off x="1451042" y="5031503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Runnable task = () -&gt; { ... }; 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ExecutorService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exec = ...; 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exec.execute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(task);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6BCAAB-4486-9C4C-9E6F-92C34B07C89B}"/>
              </a:ext>
            </a:extLst>
          </p:cNvPr>
          <p:cNvSpPr txBox="1"/>
          <p:nvPr/>
        </p:nvSpPr>
        <p:spPr>
          <a:xfrm>
            <a:off x="719115" y="4426918"/>
            <a:ext cx="63341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Once you have an executor service, submit a </a:t>
            </a:r>
            <a:r>
              <a:rPr lang="en-US" sz="2000" i="1" dirty="0"/>
              <a:t>Runnable</a:t>
            </a:r>
            <a:r>
              <a:rPr lang="en-US" sz="2000" dirty="0"/>
              <a:t> task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9B1DAD-243D-C941-A68F-2BCC37CA79BE}"/>
              </a:ext>
            </a:extLst>
          </p:cNvPr>
          <p:cNvSpPr txBox="1"/>
          <p:nvPr/>
        </p:nvSpPr>
        <p:spPr>
          <a:xfrm>
            <a:off x="719115" y="1688309"/>
            <a:ext cx="53040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Create an executor service that suits your needs: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9B62C29-16AF-C44B-A2EE-85D4E2C5C2A2}"/>
              </a:ext>
            </a:extLst>
          </p:cNvPr>
          <p:cNvSpPr/>
          <p:nvPr/>
        </p:nvSpPr>
        <p:spPr>
          <a:xfrm>
            <a:off x="164639" y="6394561"/>
            <a:ext cx="106437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* Beyond the scope of this course but wanted to provide a look into possibilities and your on-going learning.</a:t>
            </a:r>
          </a:p>
        </p:txBody>
      </p:sp>
    </p:spTree>
    <p:extLst>
      <p:ext uri="{BB962C8B-B14F-4D97-AF65-F5344CB8AC3E}">
        <p14:creationId xmlns:p14="http://schemas.microsoft.com/office/powerpoint/2010/main" val="23907171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59980-B374-F24F-9B05-930875A024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638" y="323508"/>
            <a:ext cx="10515600" cy="883456"/>
          </a:xfrm>
        </p:spPr>
        <p:txBody>
          <a:bodyPr/>
          <a:lstStyle/>
          <a:p>
            <a:r>
              <a:rPr lang="en-US" dirty="0"/>
              <a:t>Using Futures*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6BCAAB-4486-9C4C-9E6F-92C34B07C89B}"/>
              </a:ext>
            </a:extLst>
          </p:cNvPr>
          <p:cNvSpPr txBox="1"/>
          <p:nvPr/>
        </p:nvSpPr>
        <p:spPr>
          <a:xfrm>
            <a:off x="719115" y="2487374"/>
            <a:ext cx="53242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 call to </a:t>
            </a:r>
            <a:r>
              <a:rPr lang="en-US" sz="2000" i="1" dirty="0"/>
              <a:t>get</a:t>
            </a:r>
            <a:r>
              <a:rPr lang="en-US" sz="2000" dirty="0"/>
              <a:t> blocks until the result is available: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9B1DAD-243D-C941-A68F-2BCC37CA79BE}"/>
              </a:ext>
            </a:extLst>
          </p:cNvPr>
          <p:cNvSpPr txBox="1"/>
          <p:nvPr/>
        </p:nvSpPr>
        <p:spPr>
          <a:xfrm>
            <a:off x="719115" y="1226305"/>
            <a:ext cx="59166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Submitting a </a:t>
            </a:r>
            <a:r>
              <a:rPr lang="en-US" sz="2000" i="1" dirty="0"/>
              <a:t>Callable</a:t>
            </a:r>
            <a:r>
              <a:rPr lang="en-US" sz="2000" dirty="0"/>
              <a:t> to an </a:t>
            </a:r>
            <a:r>
              <a:rPr lang="en-US" sz="2000" i="1" dirty="0"/>
              <a:t>Executor</a:t>
            </a:r>
            <a:r>
              <a:rPr lang="en-US" sz="2000" dirty="0"/>
              <a:t> yields a </a:t>
            </a:r>
            <a:r>
              <a:rPr lang="en-US" sz="2000" i="1" dirty="0"/>
              <a:t>Future</a:t>
            </a:r>
            <a:r>
              <a:rPr lang="en-US" sz="2000" dirty="0"/>
              <a:t>: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9B62C29-16AF-C44B-A2EE-85D4E2C5C2A2}"/>
              </a:ext>
            </a:extLst>
          </p:cNvPr>
          <p:cNvSpPr/>
          <p:nvPr/>
        </p:nvSpPr>
        <p:spPr>
          <a:xfrm>
            <a:off x="164639" y="6394561"/>
            <a:ext cx="106437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* Beyond the scope of this course but wanted to provide a look into possibilities and your on-going learning.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5D889F0-EED3-5B41-8B2A-891D380439F1}"/>
              </a:ext>
            </a:extLst>
          </p:cNvPr>
          <p:cNvSpPr/>
          <p:nvPr/>
        </p:nvSpPr>
        <p:spPr>
          <a:xfrm>
            <a:off x="1061936" y="1671059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Callable task = () -&gt; { ...; return count; } Future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resultFuture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exec.submit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(task);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0B47044-60F3-7D49-80FC-B70CF61B7617}"/>
              </a:ext>
            </a:extLst>
          </p:cNvPr>
          <p:cNvSpPr/>
          <p:nvPr/>
        </p:nvSpPr>
        <p:spPr>
          <a:xfrm>
            <a:off x="1061936" y="2894618"/>
            <a:ext cx="51235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Long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actualResult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resultFuture.get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1565F5-B60F-A142-8C4D-B92A970922EA}"/>
              </a:ext>
            </a:extLst>
          </p:cNvPr>
          <p:cNvSpPr txBox="1"/>
          <p:nvPr/>
        </p:nvSpPr>
        <p:spPr>
          <a:xfrm>
            <a:off x="719115" y="3518766"/>
            <a:ext cx="35557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Block until all tasks are done: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5E79EE-A880-FE4F-9470-35C12153582B}"/>
              </a:ext>
            </a:extLst>
          </p:cNvPr>
          <p:cNvSpPr/>
          <p:nvPr/>
        </p:nvSpPr>
        <p:spPr>
          <a:xfrm>
            <a:off x="1059483" y="3970517"/>
            <a:ext cx="8908915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Set paths = ...;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List&lt;Callable&gt; tasks = new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ArrayList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&lt;&gt;();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for (Path p : paths)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tasks.add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(() -&gt; { ...; return count; });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List&lt;Future&gt; results 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executor.invokeAll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(tasks);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for (Future result : results)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sum +=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result.get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36526904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1122</TotalTime>
  <Words>741</Words>
  <Application>Microsoft Macintosh PowerPoint</Application>
  <PresentationFormat>Widescreen</PresentationFormat>
  <Paragraphs>98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Consolas</vt:lpstr>
      <vt:lpstr>Office Theme</vt:lpstr>
      <vt:lpstr>Threads &amp; Concurrency</vt:lpstr>
      <vt:lpstr>Threads</vt:lpstr>
      <vt:lpstr>Overall View</vt:lpstr>
      <vt:lpstr>Overall View</vt:lpstr>
      <vt:lpstr>Concurrency</vt:lpstr>
      <vt:lpstr>Basics – Create &amp; Start Thread</vt:lpstr>
      <vt:lpstr>Basics – Implement Runnable Interface</vt:lpstr>
      <vt:lpstr>Basics</vt:lpstr>
      <vt:lpstr>Using the ExecutorService *</vt:lpstr>
      <vt:lpstr>Using Futures*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Threads &amp; Concurrency</dc:title>
  <dc:creator>John Puopolo</dc:creator>
  <cp:lastModifiedBy>John Puopolo</cp:lastModifiedBy>
  <cp:revision>11</cp:revision>
  <dcterms:created xsi:type="dcterms:W3CDTF">2020-07-23T21:59:12Z</dcterms:created>
  <dcterms:modified xsi:type="dcterms:W3CDTF">2020-08-06T15:36:46Z</dcterms:modified>
</cp:coreProperties>
</file>