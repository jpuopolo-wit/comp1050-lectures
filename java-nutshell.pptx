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62" r:id="rId9"/>
    <p:sldId id="263" r:id="rId10"/>
    <p:sldId id="264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783"/>
    <p:restoredTop sz="96405"/>
  </p:normalViewPr>
  <p:slideViewPr>
    <p:cSldViewPr snapToGrid="0" snapToObjects="1">
      <p:cViewPr varScale="1">
        <p:scale>
          <a:sx n="131" d="100"/>
          <a:sy n="131" d="100"/>
        </p:scale>
        <p:origin x="8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85833-9F99-0948-8E0A-1928D889A1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18256B-A4A3-584B-9C59-5E4E77EB59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9B3416-D62D-A043-92E6-6738055D0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B25AB-184B-054E-976D-180FE9EA0C4B}" type="datetimeFigureOut">
              <a:rPr lang="en-US" smtClean="0"/>
              <a:t>9/9/20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7CBBAD-842F-6F44-A952-096C40A20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92FA14-25C1-FE42-BF1B-6A5B5017B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E6EDC-67E3-5645-B977-4B1B1B219E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978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28BFE-5FAD-5346-91B3-A11C670DB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FC9A5-8039-A941-BF14-CE2B49A74A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DAC719-C99F-344D-81E0-06A210E18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B25AB-184B-054E-976D-180FE9EA0C4B}" type="datetimeFigureOut">
              <a:rPr lang="en-US" smtClean="0"/>
              <a:t>9/9/20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6889A5-2970-BA4F-ADA7-7311DB2D7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5813DE-8671-544C-AA87-E7B9D356B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E6EDC-67E3-5645-B977-4B1B1B219E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403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A6E57-C597-DC41-B6A8-F8ABB5413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E48A4A-FE1C-C545-94F1-11FA237647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F4D452-9F19-F746-A397-A84E8BE61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B25AB-184B-054E-976D-180FE9EA0C4B}" type="datetimeFigureOut">
              <a:rPr lang="en-US" smtClean="0"/>
              <a:t>9/9/20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6135FA-F252-5849-9923-605D80FB8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5A9830-6495-B547-AEB8-BDD8D8E90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E6EDC-67E3-5645-B977-4B1B1B219E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941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170EB-DDE3-484E-8652-2E7ED538B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6D6CEA-0323-594B-9B3E-420614E2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885998-5A9D-AC43-9D32-C497AB003E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E9DCC5-D631-8449-98CC-9CAC668DE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B25AB-184B-054E-976D-180FE9EA0C4B}" type="datetimeFigureOut">
              <a:rPr lang="en-US" smtClean="0"/>
              <a:t>9/9/20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D16EDA-023C-E349-A57C-A11C5B6D7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1C6907-A4D4-7646-BC26-1F07DAEE0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E6EDC-67E3-5645-B977-4B1B1B219E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445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A2AEB-B80B-EA4F-B54B-4DDF41BF8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989707-CA52-CF47-BCEA-B03524C1E2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ACF6C3-7C60-0647-B4EB-96885005C3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F21817-3A3C-174C-9DB4-D7E35C5064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6AEC52-6669-3D42-93B1-EA9A92312C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2EB892-D589-BD48-BA9B-003C8DA90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B25AB-184B-054E-976D-180FE9EA0C4B}" type="datetimeFigureOut">
              <a:rPr lang="en-US" smtClean="0"/>
              <a:t>9/9/20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F74CD5-47B1-FA40-8AA6-2ED314092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9AA812-2BFC-394E-9C5C-DA02ADCC0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E6EDC-67E3-5645-B977-4B1B1B219E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819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FC309-BBBB-ED4A-9C96-3E0BB027A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1110B6-3169-F34E-AF84-65AEDDA68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B25AB-184B-054E-976D-180FE9EA0C4B}" type="datetimeFigureOut">
              <a:rPr lang="en-US" smtClean="0"/>
              <a:t>9/9/20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FB2171-0EDE-F443-9CB3-C971F4B57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BE2FD1-A4C9-4449-A4B3-BE00403A8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E6EDC-67E3-5645-B977-4B1B1B219E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584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E38E09-C2D3-2B41-99EB-E21BD8BD5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B25AB-184B-054E-976D-180FE9EA0C4B}" type="datetimeFigureOut">
              <a:rPr lang="en-US" smtClean="0"/>
              <a:t>9/9/20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9517D8-1253-EA41-B11C-509B68511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AEEAF0-68EB-2941-A589-F52864FEE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E6EDC-67E3-5645-B977-4B1B1B219E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258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BD62F-4B50-0C44-B7E7-406D256E6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7D660-E99D-554D-8BD1-303077BC89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C6890D-7C71-4B44-89D9-21758AC479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9D8BF6-811C-A94B-B162-33042A010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B25AB-184B-054E-976D-180FE9EA0C4B}" type="datetimeFigureOut">
              <a:rPr lang="en-US" smtClean="0"/>
              <a:t>9/9/20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E89C5-39BE-664A-AC14-78AA34931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08F894-FDA2-6541-82BB-4787EEDD2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E6EDC-67E3-5645-B977-4B1B1B219E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680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693DC-A2BD-C44E-A9DA-9720E1D1A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299D68-614B-754E-B8D9-65C0B0CA91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4CD08F-0A71-3A46-A1D4-38897A4D95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9FF014-4BE3-A445-9556-3E9DB5137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B25AB-184B-054E-976D-180FE9EA0C4B}" type="datetimeFigureOut">
              <a:rPr lang="en-US" smtClean="0"/>
              <a:t>9/9/20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015010-8A01-5F4C-8E05-72CF0FD87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904350-FAB3-BD4A-8384-49C09E333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E6EDC-67E3-5645-B977-4B1B1B219E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851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D1B47-409A-A942-A243-BF79B42B5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EFC3C3-CB9C-9246-8389-A7BB97EEB0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673EC-F798-8A4A-B3BA-3D990A35B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B25AB-184B-054E-976D-180FE9EA0C4B}" type="datetimeFigureOut">
              <a:rPr lang="en-US" smtClean="0"/>
              <a:t>9/9/20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7578DD-7FEC-5A43-A5BE-0EB58BFE3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D90337-1EA6-8D47-AD0E-7DD647F39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E6EDC-67E3-5645-B977-4B1B1B219E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471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CC436E-A50E-954D-8454-861685B047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F6839E-5447-644E-BD1C-BA8AB29EDD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92E6F2-751A-B94C-999B-90CB942B3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B25AB-184B-054E-976D-180FE9EA0C4B}" type="datetimeFigureOut">
              <a:rPr lang="en-US" smtClean="0"/>
              <a:t>9/9/20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38CB34-86B3-A64A-BEC7-5CAF81531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E940D0-5DD6-BB49-8738-A14BF0528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E6EDC-67E3-5645-B977-4B1B1B219E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952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85C3D2-ECC0-5C46-91C0-786E31CA3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169328-C449-264F-AE36-DFBEDDF08C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26BC4B-C40E-DE48-94BB-BE9DDB8DAA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4B25AB-184B-054E-976D-180FE9EA0C4B}" type="datetimeFigureOut">
              <a:rPr lang="en-US" smtClean="0"/>
              <a:t>9/9/20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50D48A-287B-664C-80F1-18A73BB732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365A6F-00F5-3D44-BCA2-FFB9707C3C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BE6EDC-67E3-5645-B977-4B1B1B219E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357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racle.com/en/java/javase/11/docs/api/java.base/java/lang/String.html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7D5A4-152B-CA4C-BD33-BA6474FE8B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Core Java In a Nutshell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B7C595-58E0-3F40-AB52-56A2391378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400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49E15-AB03-904B-B6D1-64DD76D96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Buzzword Bingo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37B72-E037-0749-9C42-12F261AE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General purpose</a:t>
            </a:r>
          </a:p>
          <a:p>
            <a:pPr lvl="1"/>
            <a:r>
              <a:rPr lang="en-US" dirty="0"/>
              <a:t>Can be used to solve lots of general computing problems</a:t>
            </a:r>
          </a:p>
          <a:p>
            <a:r>
              <a:rPr lang="en-US" dirty="0"/>
              <a:t>Strongly-typed</a:t>
            </a:r>
          </a:p>
          <a:p>
            <a:pPr lvl="1"/>
            <a:r>
              <a:rPr lang="en-US" dirty="0"/>
              <a:t>Data items are of a known type always and cannot change type</a:t>
            </a:r>
          </a:p>
          <a:p>
            <a:r>
              <a:rPr lang="en-US" dirty="0"/>
              <a:t>Statically typed</a:t>
            </a:r>
          </a:p>
          <a:p>
            <a:pPr lvl="1"/>
            <a:r>
              <a:rPr lang="en-US" dirty="0"/>
              <a:t>Types are known at compile time, making the program less error-prone at runtime</a:t>
            </a:r>
          </a:p>
          <a:p>
            <a:r>
              <a:rPr lang="en-US" dirty="0"/>
              <a:t>Object-oriented</a:t>
            </a:r>
          </a:p>
          <a:p>
            <a:pPr lvl="1"/>
            <a:r>
              <a:rPr lang="en-US" dirty="0"/>
              <a:t>Solutions can be modeled with language constructs that match the semantics of the problem domain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63063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B7C09-FF4D-074D-AEE1-84549820D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Buzzword Bingo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A42B8-1C9F-0D46-8DF8-692749B337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Platform-neutral</a:t>
            </a:r>
          </a:p>
          <a:p>
            <a:pPr lvl="1"/>
            <a:r>
              <a:rPr lang="en-US" dirty="0"/>
              <a:t>The same Java program can be run on Windows, Linux, MacOS, etc</a:t>
            </a:r>
            <a:r>
              <a:rPr lang="en-US"/>
              <a:t>. </a:t>
            </a:r>
            <a:endParaRPr lang="en-US" dirty="0"/>
          </a:p>
          <a:p>
            <a:pPr lvl="1"/>
            <a:r>
              <a:rPr lang="en-US" dirty="0"/>
              <a:t>Magic of the platform’s JVM</a:t>
            </a:r>
          </a:p>
          <a:p>
            <a:r>
              <a:rPr lang="en-US" dirty="0"/>
              <a:t>Dynamic</a:t>
            </a:r>
          </a:p>
          <a:p>
            <a:pPr lvl="1"/>
            <a:r>
              <a:rPr lang="en-US" dirty="0"/>
              <a:t>New types can be loaded at run-time</a:t>
            </a:r>
          </a:p>
          <a:p>
            <a:pPr lvl="1"/>
            <a:r>
              <a:rPr lang="en-US" dirty="0"/>
              <a:t>Interface with native libraries, e.g., C, C++</a:t>
            </a:r>
          </a:p>
          <a:p>
            <a:r>
              <a:rPr lang="en-US" dirty="0"/>
              <a:t>Networked</a:t>
            </a:r>
          </a:p>
          <a:p>
            <a:pPr lvl="1"/>
            <a:r>
              <a:rPr lang="en-US" dirty="0"/>
              <a:t>You can use Java to create distributed application (applications that span physical processes and computers)</a:t>
            </a:r>
          </a:p>
          <a:p>
            <a:r>
              <a:rPr lang="en-US" dirty="0"/>
              <a:t>Secure</a:t>
            </a:r>
          </a:p>
          <a:p>
            <a:pPr lvl="1"/>
            <a:r>
              <a:rPr lang="en-US" dirty="0"/>
              <a:t>The JVM checks to ensure the program doesn’t do bad things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2453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7C57B-1465-9E4B-B743-B18ACC71E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789" y="149590"/>
            <a:ext cx="10515600" cy="662781"/>
          </a:xfrm>
        </p:spPr>
        <p:txBody>
          <a:bodyPr>
            <a:normAutofit fontScale="90000"/>
          </a:bodyPr>
          <a:lstStyle/>
          <a:p>
            <a:r>
              <a:rPr lang="en-US" dirty="0"/>
              <a:t>Primitive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1B16A-A16C-9B48-A456-7D69D4366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497" y="1159240"/>
            <a:ext cx="8033951" cy="4351338"/>
          </a:xfrm>
        </p:spPr>
        <p:txBody>
          <a:bodyPr/>
          <a:lstStyle/>
          <a:p>
            <a:r>
              <a:rPr lang="en-US" dirty="0"/>
              <a:t>Types native to Java</a:t>
            </a:r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6DAB1A-9763-1C4D-AA6A-87B6910F91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897" y="1600200"/>
            <a:ext cx="7696200" cy="3657600"/>
          </a:xfrm>
          <a:prstGeom prst="rect">
            <a:avLst/>
          </a:prstGeom>
        </p:spPr>
      </p:pic>
      <p:pic>
        <p:nvPicPr>
          <p:cNvPr id="1026" name="Picture 2" descr="Image for post">
            <a:extLst>
              <a:ext uri="{FF2B5EF4-FFF2-40B4-BE49-F238E27FC236}">
                <a16:creationId xmlns:a16="http://schemas.microsoft.com/office/drawing/2014/main" id="{9293C6B1-5B30-7D4E-A914-6FD8B8ECAC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6437" y="757166"/>
            <a:ext cx="1762382" cy="4670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ight Arrow 7">
            <a:extLst>
              <a:ext uri="{FF2B5EF4-FFF2-40B4-BE49-F238E27FC236}">
                <a16:creationId xmlns:a16="http://schemas.microsoft.com/office/drawing/2014/main" id="{5BBD8624-6857-844D-891A-AED769785B90}"/>
              </a:ext>
            </a:extLst>
          </p:cNvPr>
          <p:cNvSpPr/>
          <p:nvPr/>
        </p:nvSpPr>
        <p:spPr>
          <a:xfrm>
            <a:off x="8468497" y="3186684"/>
            <a:ext cx="1435012" cy="484632"/>
          </a:xfrm>
          <a:prstGeom prst="right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E087EE-BC6E-6A4A-9E45-D1EBBE1E01E3}"/>
              </a:ext>
            </a:extLst>
          </p:cNvPr>
          <p:cNvSpPr txBox="1"/>
          <p:nvPr/>
        </p:nvSpPr>
        <p:spPr>
          <a:xfrm>
            <a:off x="3737792" y="6003260"/>
            <a:ext cx="45783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Let’s take a quick look at </a:t>
            </a:r>
            <a:r>
              <a:rPr lang="en-US" sz="2800" dirty="0" err="1"/>
              <a:t>jshell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657665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DBCBB-7AB2-DA4B-B49F-D08AA920A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69990-2FE9-964F-99A0-A1A73AE53C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Ordered sequences of codepoints (think of codepoints as characters)</a:t>
            </a:r>
          </a:p>
          <a:p>
            <a:r>
              <a:rPr lang="en-US" dirty="0"/>
              <a:t>Implemented via the String type (</a:t>
            </a:r>
            <a:r>
              <a:rPr lang="en-US" dirty="0" err="1"/>
              <a:t>java.lang.String</a:t>
            </a:r>
            <a:r>
              <a:rPr lang="en-US" dirty="0"/>
              <a:t>)</a:t>
            </a:r>
          </a:p>
          <a:p>
            <a:r>
              <a:rPr lang="en-US" dirty="0"/>
              <a:t>Represents a string in the UTF-16 format (variable-length encoding)</a:t>
            </a:r>
          </a:p>
          <a:p>
            <a:r>
              <a:rPr lang="en-US" dirty="0"/>
              <a:t>Immutable</a:t>
            </a:r>
          </a:p>
          <a:p>
            <a:r>
              <a:rPr lang="en-US" dirty="0"/>
              <a:t>Support concatenation with +</a:t>
            </a:r>
          </a:p>
          <a:p>
            <a:r>
              <a:rPr lang="en-US" dirty="0"/>
              <a:t>Useful methods – let’s look at official doc</a:t>
            </a:r>
          </a:p>
          <a:p>
            <a:pPr lvl="1"/>
            <a:r>
              <a:rPr lang="en-US" dirty="0">
                <a:hlinkClick r:id="rId2"/>
              </a:rPr>
              <a:t>https://docs.oracle.com/en/java/javase/11/docs/api/java.base/java/lang/String.html</a:t>
            </a:r>
            <a:endParaRPr lang="en-US" dirty="0"/>
          </a:p>
          <a:p>
            <a:pPr lvl="1"/>
            <a:r>
              <a:rPr lang="en-US" dirty="0"/>
              <a:t>Learn how to read the doc and find your way around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811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Image for post">
            <a:extLst>
              <a:ext uri="{FF2B5EF4-FFF2-40B4-BE49-F238E27FC236}">
                <a16:creationId xmlns:a16="http://schemas.microsoft.com/office/drawing/2014/main" id="{94FB8C25-460E-324C-A00C-4814C4180E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7597" y="1180014"/>
            <a:ext cx="1762382" cy="4670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A51330-31C1-3447-B300-FB468F1A3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41C5C-A176-A94D-84C6-FADD279EC9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950725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All types that are non-primitive</a:t>
            </a:r>
          </a:p>
          <a:p>
            <a:r>
              <a:rPr lang="en-US" dirty="0"/>
              <a:t>String are an example</a:t>
            </a:r>
          </a:p>
          <a:p>
            <a:r>
              <a:rPr lang="en-US" dirty="0"/>
              <a:t>Implement state + behavior</a:t>
            </a:r>
          </a:p>
          <a:p>
            <a:r>
              <a:rPr lang="en-US" i="1" dirty="0"/>
              <a:t>Variables</a:t>
            </a:r>
            <a:r>
              <a:rPr lang="en-US" dirty="0"/>
              <a:t> represent state and can be primitives or reference types</a:t>
            </a:r>
          </a:p>
          <a:p>
            <a:r>
              <a:rPr lang="en-US" i="1" dirty="0"/>
              <a:t>Methods</a:t>
            </a:r>
            <a:r>
              <a:rPr lang="en-US" dirty="0"/>
              <a:t> implement behavior</a:t>
            </a:r>
          </a:p>
          <a:p>
            <a:r>
              <a:rPr lang="en-US" dirty="0"/>
              <a:t>Java SDK supplies hundreds of these</a:t>
            </a:r>
          </a:p>
          <a:p>
            <a:r>
              <a:rPr lang="en-US" dirty="0"/>
              <a:t>We can use 3</a:t>
            </a:r>
            <a:r>
              <a:rPr lang="en-US" baseline="30000" dirty="0"/>
              <a:t>rd</a:t>
            </a:r>
            <a:r>
              <a:rPr lang="en-US" dirty="0"/>
              <a:t> party types</a:t>
            </a:r>
          </a:p>
          <a:p>
            <a:r>
              <a:rPr lang="en-US" dirty="0"/>
              <a:t>We can build our own</a:t>
            </a:r>
          </a:p>
          <a:p>
            <a:pPr lvl="1"/>
            <a:r>
              <a:rPr lang="en-US" dirty="0"/>
              <a:t>This is the essence of being “object-oriented”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437A7B4E-822E-154B-80F5-FC5218792083}"/>
              </a:ext>
            </a:extLst>
          </p:cNvPr>
          <p:cNvSpPr/>
          <p:nvPr/>
        </p:nvSpPr>
        <p:spPr>
          <a:xfrm>
            <a:off x="7956224" y="2020945"/>
            <a:ext cx="1435012" cy="484632"/>
          </a:xfrm>
          <a:prstGeom prst="right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3563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7D904-C0A7-1D46-8A6D-83E94FABB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Arithmetic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9BC21-98FC-514F-80E6-93B266B834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Numeric signs (+/-)</a:t>
            </a:r>
          </a:p>
          <a:p>
            <a:r>
              <a:rPr lang="en-US" dirty="0"/>
              <a:t>()</a:t>
            </a:r>
          </a:p>
          <a:p>
            <a:r>
              <a:rPr lang="en-US" dirty="0"/>
              <a:t>+</a:t>
            </a:r>
          </a:p>
          <a:p>
            <a:r>
              <a:rPr lang="en-US" dirty="0"/>
              <a:t>-</a:t>
            </a:r>
          </a:p>
          <a:p>
            <a:r>
              <a:rPr lang="en-US" dirty="0"/>
              <a:t>*</a:t>
            </a:r>
          </a:p>
          <a:p>
            <a:r>
              <a:rPr lang="en-US" dirty="0"/>
              <a:t>/</a:t>
            </a:r>
          </a:p>
          <a:p>
            <a:r>
              <a:rPr lang="en-US" dirty="0"/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28938205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00404-C223-5540-9B7B-2012175B1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095A79-A91E-5E47-919B-6B23252944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Expressions are constructs that evaluate to a single value</a:t>
            </a:r>
          </a:p>
          <a:p>
            <a:r>
              <a:rPr lang="en-US" dirty="0"/>
              <a:t>We can use </a:t>
            </a:r>
            <a:r>
              <a:rPr lang="en-US" dirty="0" err="1"/>
              <a:t>boolean</a:t>
            </a:r>
            <a:r>
              <a:rPr lang="en-US" dirty="0"/>
              <a:t> expressions to make decisions and follow particular code paths</a:t>
            </a:r>
          </a:p>
          <a:p>
            <a:r>
              <a:rPr lang="en-US" dirty="0"/>
              <a:t>if</a:t>
            </a:r>
          </a:p>
          <a:p>
            <a:r>
              <a:rPr lang="en-US" dirty="0"/>
              <a:t>if…else / nesting</a:t>
            </a:r>
          </a:p>
          <a:p>
            <a:r>
              <a:rPr lang="en-US" dirty="0"/>
              <a:t>switch</a:t>
            </a:r>
          </a:p>
        </p:txBody>
      </p:sp>
    </p:spTree>
    <p:extLst>
      <p:ext uri="{BB962C8B-B14F-4D97-AF65-F5344CB8AC3E}">
        <p14:creationId xmlns:p14="http://schemas.microsoft.com/office/powerpoint/2010/main" val="16024337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00404-C223-5540-9B7B-2012175B1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Conditionals Comparisons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095A79-A91E-5E47-919B-6B23252944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Expressions are constructs that evaluate to a single value</a:t>
            </a:r>
          </a:p>
          <a:p>
            <a:r>
              <a:rPr lang="en-US" dirty="0"/>
              <a:t>We can use </a:t>
            </a:r>
            <a:r>
              <a:rPr lang="en-US" dirty="0" err="1"/>
              <a:t>boolean</a:t>
            </a:r>
            <a:r>
              <a:rPr lang="en-US" dirty="0"/>
              <a:t> expressions to make decisions and follow particular code paths</a:t>
            </a:r>
          </a:p>
          <a:p>
            <a:r>
              <a:rPr lang="en-US" dirty="0"/>
              <a:t>! </a:t>
            </a:r>
          </a:p>
          <a:p>
            <a:r>
              <a:rPr lang="en-US" dirty="0"/>
              <a:t>==, != &lt;, &gt;</a:t>
            </a:r>
          </a:p>
          <a:p>
            <a:r>
              <a:rPr lang="en-US" dirty="0"/>
              <a:t>&lt;=, &gt;=</a:t>
            </a:r>
          </a:p>
          <a:p>
            <a:r>
              <a:rPr lang="en-US" dirty="0"/>
              <a:t>conjunctions: &amp;&amp;, ||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8734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F2F8A-EA1A-5843-92B4-4714166C5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39E45-3A6C-9744-8BF2-6FE6DEC8EB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often need to repeat the same steps over and over</a:t>
            </a:r>
          </a:p>
          <a:p>
            <a:r>
              <a:rPr lang="en-US" dirty="0"/>
              <a:t>for</a:t>
            </a:r>
          </a:p>
          <a:p>
            <a:r>
              <a:rPr lang="en-US" dirty="0"/>
              <a:t>while</a:t>
            </a:r>
          </a:p>
          <a:p>
            <a:r>
              <a:rPr lang="en-US" dirty="0"/>
              <a:t>do…while</a:t>
            </a:r>
          </a:p>
          <a:p>
            <a:r>
              <a:rPr lang="en-US" dirty="0"/>
              <a:t>break</a:t>
            </a:r>
          </a:p>
          <a:p>
            <a:r>
              <a:rPr lang="en-US" dirty="0"/>
              <a:t>continue</a:t>
            </a:r>
          </a:p>
        </p:txBody>
      </p:sp>
    </p:spTree>
    <p:extLst>
      <p:ext uri="{BB962C8B-B14F-4D97-AF65-F5344CB8AC3E}">
        <p14:creationId xmlns:p14="http://schemas.microsoft.com/office/powerpoint/2010/main" val="36861717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16D59-977E-0F47-BC14-8FADF03E9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9D7A1A-DBAF-5B43-ABAF-07E1638CF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Covered in book slides Chapter 7 &amp; 8</a:t>
            </a:r>
          </a:p>
        </p:txBody>
      </p:sp>
    </p:spTree>
    <p:extLst>
      <p:ext uri="{BB962C8B-B14F-4D97-AF65-F5344CB8AC3E}">
        <p14:creationId xmlns:p14="http://schemas.microsoft.com/office/powerpoint/2010/main" val="42307999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401</Words>
  <Application>Microsoft Macintosh PowerPoint</Application>
  <PresentationFormat>Widescreen</PresentationFormat>
  <Paragraphs>73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Core Java In a Nutshell</vt:lpstr>
      <vt:lpstr>Java Buzzword Bingo</vt:lpstr>
      <vt:lpstr>Java Buzzword Bingo</vt:lpstr>
      <vt:lpstr>Primitive Types</vt:lpstr>
      <vt:lpstr>Strings</vt:lpstr>
      <vt:lpstr>Reference Types</vt:lpstr>
      <vt:lpstr>Arithmetic</vt:lpstr>
      <vt:lpstr>Conditionals</vt:lpstr>
      <vt:lpstr>Conditionals Comparisons</vt:lpstr>
      <vt:lpstr>Loops</vt:lpstr>
      <vt:lpstr>Arrays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Core Java In a Nutshell</dc:title>
  <dc:creator>John Puopolo</dc:creator>
  <cp:lastModifiedBy>John Puopolo</cp:lastModifiedBy>
  <cp:revision>9</cp:revision>
  <dcterms:created xsi:type="dcterms:W3CDTF">2020-09-09T19:12:13Z</dcterms:created>
  <dcterms:modified xsi:type="dcterms:W3CDTF">2020-09-09T21:50:55Z</dcterms:modified>
</cp:coreProperties>
</file>