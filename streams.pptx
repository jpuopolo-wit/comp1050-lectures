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3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33"/>
    <p:restoredTop sz="96405"/>
  </p:normalViewPr>
  <p:slideViewPr>
    <p:cSldViewPr snapToGrid="0" snapToObjects="1">
      <p:cViewPr varScale="1">
        <p:scale>
          <a:sx n="81" d="100"/>
          <a:sy n="81" d="100"/>
        </p:scale>
        <p:origin x="216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EBFF-29CD-D64B-B7C0-B50EBFABD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58F49-EAA0-654E-8121-240076A6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5596-B54C-4D49-BC56-ABC3AF20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E591C-C1A0-384B-98BB-A782309E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ABF35-AD4B-9344-A98C-F9A5EB9B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E8A4-CC65-0645-9DAC-5EE13AD05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D605-3E86-7C42-B785-3A835BF3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C75AF-2E54-2B47-8C7D-5E69114E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4805-4F9B-D243-946A-A4DC5D3A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CE120-C629-5B42-8D1D-06C4C015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9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A15E-D5F8-C449-822B-E9BC26150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BB447-CC78-6446-AFF3-ACA8C4024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43AEC-3FF4-8846-A81B-52C9881E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84497-B7D0-6945-9B62-1B08F219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1B7D8-D27D-E54A-B852-C064FC90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9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BE93-501B-DA4A-969F-50A3F253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8FA3-DF4B-834A-A0B2-C7AE06F34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18D1F-628A-0144-B226-C901317F1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DEA61-7BE4-374A-BFD3-AD24359F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0C513-D9EE-0842-B70F-1240FE5A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F3E36-5737-914F-A0CF-76BF9E57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16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6318-FFDB-3D4C-AE64-73916D1F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3F2AE-FFFF-944E-B049-330FC674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1418B-EB6F-394B-832E-708F5A00F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3114F-0A88-3B47-B487-C20BBD3D6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ED2EE-35EE-B744-8902-68001B9F7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DF0CF-5579-6343-8250-AE5DF22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6830C-43A4-964D-A131-AC05D084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45806-1305-A746-BC44-32993934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0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C7BA-DE08-1943-9356-D9A2EF6A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B43F5-7CBF-094E-9D64-EE53E937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3A964-E4BD-D24A-A10C-351E88E9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7775F-7DAA-744E-8767-CA6980C5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8C1FA-412E-2245-83B2-25F8DB33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BD65F-F62A-D746-88E5-9ED7B9E3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ED7B-77AF-3748-A5E3-146DB86D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9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8298-5DE0-E44B-AB48-7EA0DDFC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D34E-E3A0-DB49-A49E-01EE28040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3633F-A027-9245-889E-3C9ADB31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8B48A-B5F2-A34E-9C73-411CB562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41003-C6AE-0143-A664-264A36B3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DA177-2D22-B241-984E-1D5052BB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3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FD10-0558-5A48-92B8-1567D0CD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880F3-FA0F-0A49-853E-5EECDD57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2D6DE-C1F9-6445-9998-98552D89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32BEF-6D55-0B44-B938-FF59489B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B75B6-0BB5-0A4D-9732-78D20B61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4A890-4E90-F94B-9C93-22B421C7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2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2563-1749-9F4E-84ED-8B6B6B83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D939B-EB99-D34D-BDE1-CE657C086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65F16-DB96-8445-8C80-246C8F4F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A87AB-CC56-8147-AA0A-D98FF426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F3EBF-FBDA-604B-BDC8-325CFDA1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4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16B16E-02A2-9241-AE07-A3C1E0C21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6C064-67D1-A449-A652-34240EAB9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1822A-19E3-D24A-8117-BACE8F5D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24F67-B643-A54B-88F3-09B40E78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5545-35CE-7949-BB0A-A6D2C067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4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8EFA3-17F4-8645-8DDF-D9E48CF4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12783-4DDD-3347-9D28-08182FA9C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509EA-825A-6946-8323-2D60457B8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61AFA-1C97-7E41-AC29-956D290FBEA3}" type="datetimeFigureOut">
              <a:rPr lang="en-US" smtClean="0"/>
              <a:t>8/8/20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F171E-C58E-2248-99BB-43D1C9EFA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711F-1E96-5645-A1D2-5555E4A66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C370A-012F-F448-A2A6-94105522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5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tream/IntStream.html" TargetMode="External"/><Relationship Id="rId2" Type="http://schemas.openxmlformats.org/officeDocument/2006/relationships/hyperlink" Target="https://docs.oracle.com/javase/8/docs/api/java/util/stream/Stream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8/docs/api/java/util/Iterator.html" TargetMode="External"/><Relationship Id="rId5" Type="http://schemas.openxmlformats.org/officeDocument/2006/relationships/hyperlink" Target="https://docs.oracle.com/javase/8/docs/api/java/util/stream/DoubleStream.html" TargetMode="External"/><Relationship Id="rId4" Type="http://schemas.openxmlformats.org/officeDocument/2006/relationships/hyperlink" Target="https://docs.oracle.com/javase/8/docs/api/java/util/stream/LongStream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docs/api/java.base/java/util/stream/Stream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docs/api/java.base/java/util/stream/Stream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docs/api/java.base/java/util/stream/Stream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1/docs/api/java.base/java/util/stream/Stream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487F-6698-CF44-8CA2-2164C8425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38CFA-C2B4-A14C-A74C-0BBA2A94F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Functional Programming Becomes Reality</a:t>
            </a:r>
          </a:p>
        </p:txBody>
      </p:sp>
    </p:spTree>
    <p:extLst>
      <p:ext uri="{BB962C8B-B14F-4D97-AF65-F5344CB8AC3E}">
        <p14:creationId xmlns:p14="http://schemas.microsoft.com/office/powerpoint/2010/main" val="304997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D062-CF5F-C14F-8AC3-F41AD96D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5C85-BD46-8F46-A6D0-E6B721488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style of programming rooted in mathematical concepts</a:t>
            </a:r>
          </a:p>
          <a:p>
            <a:r>
              <a:rPr lang="en-US" dirty="0"/>
              <a:t>Key concepts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Pure functions</a:t>
            </a:r>
          </a:p>
          <a:p>
            <a:pPr lvl="1"/>
            <a:r>
              <a:rPr lang="en-US" dirty="0"/>
              <a:t>Immutable data</a:t>
            </a:r>
          </a:p>
          <a:p>
            <a:pPr lvl="1"/>
            <a:r>
              <a:rPr lang="en-US" dirty="0"/>
              <a:t>Internal iteration</a:t>
            </a:r>
          </a:p>
          <a:p>
            <a:r>
              <a:rPr lang="en-US" dirty="0"/>
              <a:t>Favors the </a:t>
            </a:r>
            <a:r>
              <a:rPr lang="en-US" i="1" dirty="0"/>
              <a:t>what</a:t>
            </a:r>
            <a:r>
              <a:rPr lang="en-US" dirty="0"/>
              <a:t> over the </a:t>
            </a:r>
            <a:r>
              <a:rPr lang="en-US" i="1" dirty="0"/>
              <a:t>how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76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A26F-DC9B-B344-BAEB-0C48CB30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EB63-4645-A441-BB7F-A8216F36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(General)</a:t>
            </a:r>
          </a:p>
          <a:p>
            <a:pPr lvl="1"/>
            <a:r>
              <a:rPr lang="en-US" dirty="0"/>
              <a:t>An operation that maps zero or more inputs to a single output</a:t>
            </a:r>
          </a:p>
          <a:p>
            <a:r>
              <a:rPr lang="en-US" dirty="0"/>
              <a:t>Pure Functions</a:t>
            </a:r>
          </a:p>
          <a:p>
            <a:pPr lvl="1"/>
            <a:r>
              <a:rPr lang="en-US" dirty="0"/>
              <a:t>Pure functions are those whose result depend exclusively on their inputs</a:t>
            </a:r>
          </a:p>
          <a:p>
            <a:pPr lvl="1"/>
            <a:r>
              <a:rPr lang="en-US" dirty="0"/>
              <a:t>The same inputs always yields the same, predictable output</a:t>
            </a:r>
          </a:p>
          <a:p>
            <a:pPr lvl="1"/>
            <a:r>
              <a:rPr lang="en-US" dirty="0"/>
              <a:t>Exhibit no side effects</a:t>
            </a:r>
          </a:p>
          <a:p>
            <a:pPr lvl="2"/>
            <a:r>
              <a:rPr lang="en-US" dirty="0"/>
              <a:t>In a program, for example, no data structures or data stores would be changed</a:t>
            </a:r>
          </a:p>
          <a:p>
            <a:pPr lvl="2"/>
            <a:r>
              <a:rPr lang="en-US" dirty="0"/>
              <a:t>Think “read only” </a:t>
            </a:r>
          </a:p>
        </p:txBody>
      </p:sp>
    </p:spTree>
    <p:extLst>
      <p:ext uri="{BB962C8B-B14F-4D97-AF65-F5344CB8AC3E}">
        <p14:creationId xmlns:p14="http://schemas.microsoft.com/office/powerpoint/2010/main" val="385276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8EE5-9E36-F54E-98F8-0596243F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ED52F-4A54-1349-93FB-0F4197B3A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Immutable Data</a:t>
            </a:r>
          </a:p>
          <a:p>
            <a:pPr lvl="1"/>
            <a:r>
              <a:rPr lang="en-US" dirty="0"/>
              <a:t>In general, in functional programming, we don’t change data structures/objects</a:t>
            </a:r>
          </a:p>
          <a:p>
            <a:pPr lvl="1"/>
            <a:r>
              <a:rPr lang="en-US" dirty="0"/>
              <a:t>We create new data structures and objects as a function (no pun intended) of an existing data structure or object</a:t>
            </a:r>
          </a:p>
          <a:p>
            <a:pPr lvl="1"/>
            <a:r>
              <a:rPr lang="en-US" dirty="0"/>
              <a:t>Enables us to reason about our programs more easily</a:t>
            </a:r>
          </a:p>
          <a:p>
            <a:pPr lvl="1"/>
            <a:r>
              <a:rPr lang="en-US" dirty="0"/>
              <a:t>Enables the possibility of parallelism</a:t>
            </a:r>
          </a:p>
          <a:p>
            <a:r>
              <a:rPr lang="en-US" dirty="0"/>
              <a:t>Internal Iteration</a:t>
            </a:r>
          </a:p>
          <a:p>
            <a:pPr lvl="1"/>
            <a:r>
              <a:rPr lang="en-US" dirty="0"/>
              <a:t>When we need to loop over a set of things, we can use external iteration (explicit, for-loops, for example)</a:t>
            </a:r>
          </a:p>
          <a:p>
            <a:pPr lvl="1"/>
            <a:r>
              <a:rPr lang="en-US" dirty="0"/>
              <a:t>Or we can use internal iteration (functional style)</a:t>
            </a:r>
          </a:p>
          <a:p>
            <a:pPr lvl="1"/>
            <a:r>
              <a:rPr lang="en-US" dirty="0"/>
              <a:t>When you need to </a:t>
            </a:r>
            <a:r>
              <a:rPr lang="en-US" i="1" dirty="0"/>
              <a:t>loop over a set of things </a:t>
            </a:r>
            <a:r>
              <a:rPr lang="en-US" dirty="0"/>
              <a:t>and ”do something” to them, that’s a sign that you could use a functional construct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429B2-1CBB-694E-9A4F-B7E735FA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8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77E5-49F4-BF4A-AD3E-A78C49EA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vs.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8382F-D9C9-CC47-B721-C24649AD8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</a:t>
            </a:r>
          </a:p>
          <a:p>
            <a:pPr lvl="1"/>
            <a:r>
              <a:rPr lang="en-US" dirty="0"/>
              <a:t>Explicit </a:t>
            </a:r>
          </a:p>
          <a:p>
            <a:pPr lvl="1"/>
            <a:r>
              <a:rPr lang="en-US" dirty="0"/>
              <a:t>Do this, then this, then this</a:t>
            </a:r>
          </a:p>
          <a:p>
            <a:pPr lvl="1"/>
            <a:r>
              <a:rPr lang="en-US" dirty="0"/>
              <a:t>Typical </a:t>
            </a:r>
            <a:r>
              <a:rPr lang="en-US"/>
              <a:t>imperative programming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</a:t>
            </a:r>
          </a:p>
          <a:p>
            <a:pPr lvl="1"/>
            <a:r>
              <a:rPr lang="en-US" dirty="0"/>
              <a:t>Declarative</a:t>
            </a:r>
          </a:p>
          <a:p>
            <a:pPr lvl="1"/>
            <a:r>
              <a:rPr lang="en-US" dirty="0"/>
              <a:t>I would like this answer</a:t>
            </a:r>
          </a:p>
          <a:p>
            <a:pPr lvl="1"/>
            <a:r>
              <a:rPr lang="en-US" dirty="0"/>
              <a:t>SQL is a great example</a:t>
            </a:r>
          </a:p>
          <a:p>
            <a:pPr lvl="2"/>
            <a:r>
              <a:rPr lang="en-US" dirty="0"/>
              <a:t>SELECT </a:t>
            </a:r>
            <a:r>
              <a:rPr lang="en-US" dirty="0" err="1"/>
              <a:t>u.fname</a:t>
            </a:r>
            <a:r>
              <a:rPr lang="en-US" dirty="0"/>
              <a:t>, </a:t>
            </a:r>
            <a:r>
              <a:rPr lang="en-US" dirty="0" err="1"/>
              <a:t>u.lname</a:t>
            </a:r>
            <a:r>
              <a:rPr lang="en-US" dirty="0"/>
              <a:t> WHERE </a:t>
            </a:r>
            <a:r>
              <a:rPr lang="en-US" dirty="0" err="1"/>
              <a:t>u.age</a:t>
            </a:r>
            <a:r>
              <a:rPr lang="en-US" dirty="0"/>
              <a:t> &gt;= 21 from Users u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7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4D1B-C25D-CC41-92FC-FE35877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Higher-Order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9A4F-A18D-084D-AC46-4A0E3237E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functional programming, functions take a front seat as first-class citizens</a:t>
            </a:r>
          </a:p>
          <a:p>
            <a:r>
              <a:rPr lang="en-US" dirty="0"/>
              <a:t>We can pass functions into methods</a:t>
            </a:r>
          </a:p>
          <a:p>
            <a:r>
              <a:rPr lang="en-US" dirty="0"/>
              <a:t>We can return functions from methods</a:t>
            </a:r>
          </a:p>
          <a:p>
            <a:r>
              <a:rPr lang="en-US" dirty="0"/>
              <a:t>This “passing functions around” enables us to compose sophisticated features elegantly</a:t>
            </a:r>
          </a:p>
          <a:p>
            <a:r>
              <a:rPr lang="en-US" dirty="0"/>
              <a:t>Let’s look at some examples to help solidify the main ideas</a:t>
            </a:r>
          </a:p>
          <a:p>
            <a:pPr lvl="1"/>
            <a:r>
              <a:rPr lang="en-US" i="1" dirty="0"/>
              <a:t>HighOrderFunc</a:t>
            </a:r>
            <a:r>
              <a:rPr lang="en-US" dirty="0"/>
              <a:t> example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3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AF74-9C59-694A-8355-AD930E61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85" y="329957"/>
            <a:ext cx="10515600" cy="1170598"/>
          </a:xfrm>
        </p:spPr>
        <p:txBody>
          <a:bodyPr>
            <a:normAutofit fontScale="90000"/>
          </a:bodyPr>
          <a:lstStyle/>
          <a:p>
            <a:r>
              <a:rPr lang="en-US" dirty="0"/>
              <a:t>Streams</a:t>
            </a:r>
            <a:br>
              <a:rPr lang="en-US" dirty="0"/>
            </a:br>
            <a:r>
              <a:rPr lang="en-US" sz="3600" dirty="0"/>
              <a:t>package </a:t>
            </a:r>
            <a:r>
              <a:rPr lang="en-US" sz="3600" dirty="0" err="1"/>
              <a:t>java.util.stream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A1BD-DA40-A244-AA80-46F51927B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969"/>
            <a:ext cx="10515600" cy="4312994"/>
          </a:xfrm>
        </p:spPr>
        <p:txBody>
          <a:bodyPr/>
          <a:lstStyle/>
          <a:p>
            <a:r>
              <a:rPr lang="en-US" dirty="0"/>
              <a:t>Streams are constructs that enable us to process data element using functional programming techniques</a:t>
            </a:r>
          </a:p>
          <a:p>
            <a:pPr lvl="1"/>
            <a:r>
              <a:rPr lang="en-US" dirty="0"/>
              <a:t>In mathematical terms, streams are realizations of a concept called a </a:t>
            </a:r>
            <a:r>
              <a:rPr lang="en-US" i="1" dirty="0"/>
              <a:t>monad</a:t>
            </a:r>
          </a:p>
          <a:p>
            <a:pPr lvl="1"/>
            <a:r>
              <a:rPr lang="en-US" dirty="0"/>
              <a:t>You do not need to understand monads to understand streams</a:t>
            </a:r>
          </a:p>
          <a:p>
            <a:r>
              <a:rPr lang="en-US" dirty="0"/>
              <a:t>They pull their data from a source, run it through a processing pipeline and produce a result</a:t>
            </a:r>
          </a:p>
        </p:txBody>
      </p:sp>
    </p:spTree>
    <p:extLst>
      <p:ext uri="{BB962C8B-B14F-4D97-AF65-F5344CB8AC3E}">
        <p14:creationId xmlns:p14="http://schemas.microsoft.com/office/powerpoint/2010/main" val="1116759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DCBC-77B0-D544-8A05-B3350CDA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38" y="201002"/>
            <a:ext cx="10515600" cy="748567"/>
          </a:xfrm>
        </p:spPr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B40FCF-1155-3B46-9D6F-82D693E1CCA7}"/>
              </a:ext>
            </a:extLst>
          </p:cNvPr>
          <p:cNvSpPr/>
          <p:nvPr/>
        </p:nvSpPr>
        <p:spPr>
          <a:xfrm>
            <a:off x="580291" y="2507022"/>
            <a:ext cx="1090246" cy="11271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05366-D07D-264A-A225-78FC945ACF8F}"/>
              </a:ext>
            </a:extLst>
          </p:cNvPr>
          <p:cNvSpPr/>
          <p:nvPr/>
        </p:nvSpPr>
        <p:spPr>
          <a:xfrm>
            <a:off x="2074005" y="2759925"/>
            <a:ext cx="785445" cy="62132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init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1D32F-266B-3741-B7AD-B6E012AAD55F}"/>
              </a:ext>
            </a:extLst>
          </p:cNvPr>
          <p:cNvSpPr/>
          <p:nvPr/>
        </p:nvSpPr>
        <p:spPr>
          <a:xfrm>
            <a:off x="3329354" y="2759926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7B5483-FEC3-1849-9C5E-357D72B9ED94}"/>
              </a:ext>
            </a:extLst>
          </p:cNvPr>
          <p:cNvSpPr/>
          <p:nvPr/>
        </p:nvSpPr>
        <p:spPr>
          <a:xfrm>
            <a:off x="5494214" y="2759926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36AFC-EFC1-A94C-8233-706DCD41E774}"/>
              </a:ext>
            </a:extLst>
          </p:cNvPr>
          <p:cNvSpPr/>
          <p:nvPr/>
        </p:nvSpPr>
        <p:spPr>
          <a:xfrm>
            <a:off x="7659074" y="2759926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08841-CFD6-BF4E-BFAF-2D0ADDC08305}"/>
              </a:ext>
            </a:extLst>
          </p:cNvPr>
          <p:cNvSpPr/>
          <p:nvPr/>
        </p:nvSpPr>
        <p:spPr>
          <a:xfrm>
            <a:off x="9823935" y="2759925"/>
            <a:ext cx="1477107" cy="6213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terminal 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B888C3-E339-754E-98B9-D6204242A8D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670537" y="3070586"/>
            <a:ext cx="40346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1D3F30-E6AC-7247-99DC-304DD2F585B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859450" y="3070587"/>
            <a:ext cx="4699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E4EBE2-981A-E04D-AC8B-57E8D0E9536E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4806461" y="3070588"/>
            <a:ext cx="6877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E3ED1F-3B00-3946-A009-00BEB5B2E38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971321" y="3070588"/>
            <a:ext cx="6877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D271BB-5716-C746-97E7-899FF0625119}"/>
              </a:ext>
            </a:extLst>
          </p:cNvPr>
          <p:cNvCxnSpPr>
            <a:endCxn id="13" idx="1"/>
          </p:cNvCxnSpPr>
          <p:nvPr/>
        </p:nvCxnSpPr>
        <p:spPr>
          <a:xfrm>
            <a:off x="9136181" y="3070585"/>
            <a:ext cx="68775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>
            <a:extLst>
              <a:ext uri="{FF2B5EF4-FFF2-40B4-BE49-F238E27FC236}">
                <a16:creationId xmlns:a16="http://schemas.microsoft.com/office/drawing/2014/main" id="{38477570-F287-2A40-A957-D8141335468A}"/>
              </a:ext>
            </a:extLst>
          </p:cNvPr>
          <p:cNvSpPr/>
          <p:nvPr/>
        </p:nvSpPr>
        <p:spPr>
          <a:xfrm rot="5400000">
            <a:off x="6145330" y="783001"/>
            <a:ext cx="174874" cy="58068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25BCC6-1D7B-3941-9405-34AF1DBC8740}"/>
              </a:ext>
            </a:extLst>
          </p:cNvPr>
          <p:cNvSpPr txBox="1"/>
          <p:nvPr/>
        </p:nvSpPr>
        <p:spPr>
          <a:xfrm>
            <a:off x="4280875" y="3871079"/>
            <a:ext cx="3903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Process each element, e.g., look at it, change it, filter it, etc. </a:t>
            </a:r>
            <a:br>
              <a:rPr lang="en-US" sz="1200" dirty="0"/>
            </a:br>
            <a:r>
              <a:rPr lang="en-US" sz="1200" dirty="0"/>
              <a:t>Each step’s output (a stream) is the next step’s input.</a:t>
            </a:r>
          </a:p>
          <a:p>
            <a:endParaRPr lang="en-US" sz="1200" dirty="0"/>
          </a:p>
          <a:p>
            <a:r>
              <a:rPr lang="en-US" sz="1200" dirty="0"/>
              <a:t>Intermediate operations produce streams for their siblings to consume</a:t>
            </a:r>
          </a:p>
          <a:p>
            <a:endParaRPr lang="en-US" sz="1200" dirty="0"/>
          </a:p>
          <a:p>
            <a:r>
              <a:rPr lang="en-US" sz="1200" dirty="0"/>
              <a:t>Always evaluated lazily (vs. eagerly)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8FD9B-2497-7F44-8CFF-14AFAE57AB5A}"/>
              </a:ext>
            </a:extLst>
          </p:cNvPr>
          <p:cNvSpPr txBox="1"/>
          <p:nvPr/>
        </p:nvSpPr>
        <p:spPr>
          <a:xfrm>
            <a:off x="9694003" y="3686414"/>
            <a:ext cx="2201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Produces a final result and terminates the stream.</a:t>
            </a:r>
          </a:p>
          <a:p>
            <a:endParaRPr lang="en-US" sz="1200" dirty="0"/>
          </a:p>
          <a:p>
            <a:r>
              <a:rPr lang="en-US" sz="1200" dirty="0"/>
              <a:t>Upon termination, the stream is rendered unusable, meaning you cannot you the stream again. You need to create a new stream to process more data.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BDC8E-F20A-E841-8D23-08E3E10421F4}"/>
              </a:ext>
            </a:extLst>
          </p:cNvPr>
          <p:cNvSpPr txBox="1"/>
          <p:nvPr/>
        </p:nvSpPr>
        <p:spPr>
          <a:xfrm>
            <a:off x="1988034" y="2177460"/>
            <a:ext cx="1477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Turn source into Stream&lt;T&gt;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7600F-115A-AC4F-9F8D-68E920905527}"/>
              </a:ext>
            </a:extLst>
          </p:cNvPr>
          <p:cNvSpPr txBox="1"/>
          <p:nvPr/>
        </p:nvSpPr>
        <p:spPr>
          <a:xfrm>
            <a:off x="131883" y="3812709"/>
            <a:ext cx="19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Array, file, List, database, etc.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F73077-A923-9342-A3FE-78D3D247F90B}"/>
              </a:ext>
            </a:extLst>
          </p:cNvPr>
          <p:cNvSpPr txBox="1"/>
          <p:nvPr/>
        </p:nvSpPr>
        <p:spPr>
          <a:xfrm>
            <a:off x="298938" y="5520917"/>
            <a:ext cx="78251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Important conceptual note: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Think of the terminal operation as </a:t>
            </a:r>
            <a:r>
              <a:rPr lang="en-US" sz="1600" i="1" dirty="0"/>
              <a:t>pulling the data toward itself</a:t>
            </a:r>
            <a:r>
              <a:rPr lang="en-US" sz="1600" dirty="0"/>
              <a:t> vs. having the data pushed. This conceptual model aids in understanding some of the the stream’s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79999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F59B-AD77-2C4E-9AB8-231EF4B2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9D2D-2844-6546-8BC8-DF14A250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classes </a:t>
            </a:r>
            <a:r>
              <a:rPr lang="en-US" dirty="0">
                <a:hlinkClick r:id="rId2" tooltip="interface in java.util.stream"/>
              </a:rPr>
              <a:t>Stream</a:t>
            </a:r>
            <a:r>
              <a:rPr lang="en-US" dirty="0"/>
              <a:t>, </a:t>
            </a:r>
            <a:r>
              <a:rPr lang="en-US" dirty="0">
                <a:hlinkClick r:id="rId3" tooltip="interface in java.util.stream"/>
              </a:rPr>
              <a:t>IntStream</a:t>
            </a:r>
            <a:r>
              <a:rPr lang="en-US" dirty="0"/>
              <a:t>, </a:t>
            </a:r>
            <a:r>
              <a:rPr lang="en-US" dirty="0">
                <a:hlinkClick r:id="rId4" tooltip="interface in java.util.stream"/>
              </a:rPr>
              <a:t>LongStream</a:t>
            </a:r>
            <a:r>
              <a:rPr lang="en-US" dirty="0"/>
              <a:t>, and </a:t>
            </a:r>
            <a:r>
              <a:rPr lang="en-US" dirty="0">
                <a:hlinkClick r:id="rId5" tooltip="interface in java.util.stream"/>
              </a:rPr>
              <a:t>DoubleStream</a:t>
            </a:r>
            <a:r>
              <a:rPr lang="en-US" dirty="0"/>
              <a:t> are streams over objects and the primitive int, long and double types</a:t>
            </a:r>
          </a:p>
          <a:p>
            <a:r>
              <a:rPr lang="en-US" dirty="0"/>
              <a:t>Streams differ from collections in several ways</a:t>
            </a:r>
          </a:p>
          <a:p>
            <a:pPr lvl="1"/>
            <a:r>
              <a:rPr lang="en-US" dirty="0"/>
              <a:t>No storage. A stream is not a data structure that stores elements; instead, it conveys elements from a source through a pipeline of computational operations.</a:t>
            </a:r>
          </a:p>
          <a:p>
            <a:pPr lvl="1"/>
            <a:r>
              <a:rPr lang="en-US" dirty="0"/>
              <a:t>Functional in nature. An operation on a stream produces a result, but does not modify its source. </a:t>
            </a:r>
          </a:p>
          <a:p>
            <a:pPr lvl="1"/>
            <a:r>
              <a:rPr lang="en-US" dirty="0"/>
              <a:t>Laziness-seeking. Many stream operations, such as filtering, mapping, or duplicate removal, can be implemented lazily, exposing opportunities for optimization</a:t>
            </a:r>
          </a:p>
          <a:p>
            <a:pPr lvl="1"/>
            <a:r>
              <a:rPr lang="en-US" dirty="0"/>
              <a:t>Possibly unbounded. While collections have a finite size, streams need not</a:t>
            </a:r>
          </a:p>
          <a:p>
            <a:pPr lvl="1"/>
            <a:r>
              <a:rPr lang="en-US" dirty="0"/>
              <a:t>Consumable. The elements of a stream are only visited once during the life of a stream. Like an </a:t>
            </a:r>
            <a:r>
              <a:rPr lang="en-US" dirty="0">
                <a:hlinkClick r:id="rId6" tooltip="interface in java.util"/>
              </a:rPr>
              <a:t>Iterator</a:t>
            </a:r>
            <a:r>
              <a:rPr lang="en-US" dirty="0"/>
              <a:t>, a new stream must be generated to revisit the same elements of the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8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F92-BAFD-4341-9CEC-47F51B72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Stream Operations</a:t>
            </a:r>
            <a:br>
              <a:rPr lang="en-US" dirty="0"/>
            </a:br>
            <a:r>
              <a:rPr lang="en-US" sz="1800" dirty="0">
                <a:hlinkClick r:id="rId2"/>
              </a:rPr>
              <a:t>https://docs.oracle.com/en/java/javase/11/docs/api/java.base/java/util/stream/Stream.html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D3D3E-B3E1-B944-AE38-2DBAE087B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peek</a:t>
            </a:r>
          </a:p>
          <a:p>
            <a:pPr lvl="1"/>
            <a:r>
              <a:rPr lang="en-US" dirty="0"/>
              <a:t>intermediate – enables element to flow through the pipeline – used mostly for debugging</a:t>
            </a:r>
          </a:p>
          <a:p>
            <a:r>
              <a:rPr lang="en-US" dirty="0" err="1"/>
              <a:t>forEach</a:t>
            </a:r>
            <a:endParaRPr lang="en-US" dirty="0"/>
          </a:p>
          <a:p>
            <a:pPr lvl="1"/>
            <a:r>
              <a:rPr lang="en-US" dirty="0"/>
              <a:t>terminal - accepts each stream element and does something with it, e.g., print it</a:t>
            </a:r>
          </a:p>
          <a:p>
            <a:r>
              <a:rPr lang="en-US" dirty="0"/>
              <a:t>count</a:t>
            </a:r>
          </a:p>
          <a:p>
            <a:pPr lvl="1"/>
            <a:r>
              <a:rPr lang="en-US" dirty="0"/>
              <a:t>terminal – produces a count of the elements</a:t>
            </a:r>
          </a:p>
          <a:p>
            <a:r>
              <a:rPr lang="en-US" dirty="0"/>
              <a:t>distinct</a:t>
            </a:r>
          </a:p>
          <a:p>
            <a:pPr lvl="1"/>
            <a:r>
              <a:rPr lang="en-US" dirty="0"/>
              <a:t>Intermediate – produces a stream of unique elements taken from an original stream</a:t>
            </a:r>
          </a:p>
        </p:txBody>
      </p:sp>
    </p:spTree>
    <p:extLst>
      <p:ext uri="{BB962C8B-B14F-4D97-AF65-F5344CB8AC3E}">
        <p14:creationId xmlns:p14="http://schemas.microsoft.com/office/powerpoint/2010/main" val="988820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F92-BAFD-4341-9CEC-47F51B72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Stream Operations</a:t>
            </a:r>
            <a:br>
              <a:rPr lang="en-US" dirty="0"/>
            </a:br>
            <a:r>
              <a:rPr lang="en-US" sz="1800" dirty="0">
                <a:hlinkClick r:id="rId2"/>
              </a:rPr>
              <a:t>https://docs.oracle.com/en/java/javase/11/docs/api/java.base/java/util/stream/Stream.html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D3D3E-B3E1-B944-AE38-2DBAE087B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filter</a:t>
            </a:r>
          </a:p>
          <a:p>
            <a:pPr lvl="1"/>
            <a:r>
              <a:rPr lang="en-US" dirty="0"/>
              <a:t>intermediate – filters out elements that don’t pass a test (the test is expressed as a Predicate)</a:t>
            </a:r>
          </a:p>
          <a:p>
            <a:r>
              <a:rPr lang="en-US" dirty="0"/>
              <a:t>limit</a:t>
            </a:r>
          </a:p>
          <a:p>
            <a:pPr lvl="1"/>
            <a:r>
              <a:rPr lang="en-US" dirty="0"/>
              <a:t>intermediate – governs the number of elements the stream processes</a:t>
            </a:r>
          </a:p>
          <a:p>
            <a:r>
              <a:rPr lang="en-US" dirty="0"/>
              <a:t>map</a:t>
            </a:r>
          </a:p>
          <a:p>
            <a:pPr lvl="1"/>
            <a:r>
              <a:rPr lang="en-US" dirty="0"/>
              <a:t>intermediate – takes the elements of a stream, performs a function on each one, and produces a new stream with the output</a:t>
            </a:r>
          </a:p>
          <a:p>
            <a:r>
              <a:rPr lang="en-US" dirty="0" err="1"/>
              <a:t>flatMap</a:t>
            </a:r>
            <a:endParaRPr lang="en-US" dirty="0"/>
          </a:p>
          <a:p>
            <a:pPr lvl="1"/>
            <a:r>
              <a:rPr lang="en-US" dirty="0"/>
              <a:t>intermediate – takes the elements of a nested data structure, allows you to perform a function on them, and then produces a ”flattened” stream of the result</a:t>
            </a:r>
          </a:p>
        </p:txBody>
      </p:sp>
    </p:spTree>
    <p:extLst>
      <p:ext uri="{BB962C8B-B14F-4D97-AF65-F5344CB8AC3E}">
        <p14:creationId xmlns:p14="http://schemas.microsoft.com/office/powerpoint/2010/main" val="1943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F92-BAFD-4341-9CEC-47F51B72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Stream Operations</a:t>
            </a:r>
            <a:br>
              <a:rPr lang="en-US" dirty="0"/>
            </a:br>
            <a:r>
              <a:rPr lang="en-US" sz="1800" dirty="0">
                <a:hlinkClick r:id="rId2"/>
              </a:rPr>
              <a:t>https://docs.oracle.com/en/java/javase/11/docs/api/java.base/java/util/stream/Stream.html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AA19B6-F09F-3246-90F5-DEDFA5426739}"/>
              </a:ext>
            </a:extLst>
          </p:cNvPr>
          <p:cNvSpPr/>
          <p:nvPr/>
        </p:nvSpPr>
        <p:spPr>
          <a:xfrm>
            <a:off x="3329443" y="2773173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6E538-2B3D-434B-9489-82A958AFBB3B}"/>
              </a:ext>
            </a:extLst>
          </p:cNvPr>
          <p:cNvSpPr/>
          <p:nvPr/>
        </p:nvSpPr>
        <p:spPr>
          <a:xfrm>
            <a:off x="4486554" y="2773173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2F2FA-3DD3-E742-8AA4-BFD01C62140E}"/>
              </a:ext>
            </a:extLst>
          </p:cNvPr>
          <p:cNvSpPr/>
          <p:nvPr/>
        </p:nvSpPr>
        <p:spPr>
          <a:xfrm>
            <a:off x="5643665" y="2773173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C5216-3D65-024D-B962-15571AABEAEB}"/>
              </a:ext>
            </a:extLst>
          </p:cNvPr>
          <p:cNvSpPr/>
          <p:nvPr/>
        </p:nvSpPr>
        <p:spPr>
          <a:xfrm>
            <a:off x="6800776" y="2773173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0C24ED-212A-BC49-82EA-20B564190F51}"/>
              </a:ext>
            </a:extLst>
          </p:cNvPr>
          <p:cNvSpPr/>
          <p:nvPr/>
        </p:nvSpPr>
        <p:spPr>
          <a:xfrm>
            <a:off x="3792288" y="3695158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18808-E238-304B-8DE6-0DE04779A13F}"/>
              </a:ext>
            </a:extLst>
          </p:cNvPr>
          <p:cNvSpPr/>
          <p:nvPr/>
        </p:nvSpPr>
        <p:spPr>
          <a:xfrm>
            <a:off x="6106510" y="3695159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5957D1-BAD3-9D4C-A103-038A9C4A2952}"/>
              </a:ext>
            </a:extLst>
          </p:cNvPr>
          <p:cNvSpPr/>
          <p:nvPr/>
        </p:nvSpPr>
        <p:spPr>
          <a:xfrm>
            <a:off x="7257976" y="3695158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9B1295-76B4-5E47-B288-0AB268B5A44D}"/>
              </a:ext>
            </a:extLst>
          </p:cNvPr>
          <p:cNvSpPr/>
          <p:nvPr/>
        </p:nvSpPr>
        <p:spPr>
          <a:xfrm>
            <a:off x="4955044" y="3695159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82756A-5739-1345-8780-A400B9EED21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786643" y="3176751"/>
            <a:ext cx="462845" cy="51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42CCE8-E6D3-9B48-852F-8FF734C0BA75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4943754" y="3176751"/>
            <a:ext cx="468490" cy="51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248E9A-5437-F24F-8C99-7B6BFFDFB54A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6100865" y="3176751"/>
            <a:ext cx="462845" cy="51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0BCCC0-122C-4044-B5A8-4E4417758E5B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7257976" y="3176751"/>
            <a:ext cx="457200" cy="51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74B923-5326-CB49-A075-B9E254E0C2F7}"/>
              </a:ext>
            </a:extLst>
          </p:cNvPr>
          <p:cNvSpPr txBox="1"/>
          <p:nvPr/>
        </p:nvSpPr>
        <p:spPr>
          <a:xfrm>
            <a:off x="8409437" y="3215209"/>
            <a:ext cx="128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f(</a:t>
            </a:r>
            <a:r>
              <a:rPr lang="en-US" dirty="0" err="1"/>
              <a:t>e</a:t>
            </a:r>
            <a:r>
              <a:rPr lang="en-US" baseline="-25000" dirty="0" err="1"/>
              <a:t>n</a:t>
            </a:r>
            <a:r>
              <a:rPr lang="en-US" dirty="0"/>
              <a:t>) =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B21313-E073-F547-8170-D9819CEAA629}"/>
              </a:ext>
            </a:extLst>
          </p:cNvPr>
          <p:cNvSpPr txBox="1"/>
          <p:nvPr/>
        </p:nvSpPr>
        <p:spPr>
          <a:xfrm>
            <a:off x="2146932" y="2651796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Stream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03537-1B75-F34B-9B02-7F9E3677327C}"/>
              </a:ext>
            </a:extLst>
          </p:cNvPr>
          <p:cNvSpPr txBox="1"/>
          <p:nvPr/>
        </p:nvSpPr>
        <p:spPr>
          <a:xfrm>
            <a:off x="2821443" y="356108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Stream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AD7692-5930-684C-9150-6C6B09E377A1}"/>
              </a:ext>
            </a:extLst>
          </p:cNvPr>
          <p:cNvSpPr txBox="1"/>
          <p:nvPr/>
        </p:nvSpPr>
        <p:spPr>
          <a:xfrm>
            <a:off x="8409442" y="2875593"/>
            <a:ext cx="191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 Function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9D2DC6-C303-0D49-BAC1-38741803BA5B}"/>
              </a:ext>
            </a:extLst>
          </p:cNvPr>
          <p:cNvSpPr txBox="1"/>
          <p:nvPr/>
        </p:nvSpPr>
        <p:spPr>
          <a:xfrm>
            <a:off x="5223155" y="2113695"/>
            <a:ext cx="93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map()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0951C0-A28D-8A43-B1A4-AEED3D928379}"/>
              </a:ext>
            </a:extLst>
          </p:cNvPr>
          <p:cNvSpPr txBox="1"/>
          <p:nvPr/>
        </p:nvSpPr>
        <p:spPr>
          <a:xfrm>
            <a:off x="1909705" y="4902877"/>
            <a:ext cx="85008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Strings into their corresponding lengths (String -&gt; 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String to all uppercase (String -&gt; String)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an element from an object, e.g., Person birthday, and produce age (Object -&gt; int)</a:t>
            </a:r>
          </a:p>
        </p:txBody>
      </p:sp>
    </p:spTree>
    <p:extLst>
      <p:ext uri="{BB962C8B-B14F-4D97-AF65-F5344CB8AC3E}">
        <p14:creationId xmlns:p14="http://schemas.microsoft.com/office/powerpoint/2010/main" val="313684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F92-BAFD-4341-9CEC-47F51B72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141868"/>
            <a:ext cx="10515600" cy="1132008"/>
          </a:xfrm>
        </p:spPr>
        <p:txBody>
          <a:bodyPr>
            <a:normAutofit/>
          </a:bodyPr>
          <a:lstStyle/>
          <a:p>
            <a:r>
              <a:rPr lang="en-US" dirty="0"/>
              <a:t>Common Stream Operations</a:t>
            </a:r>
            <a:br>
              <a:rPr lang="en-US" dirty="0"/>
            </a:br>
            <a:r>
              <a:rPr lang="en-US" sz="1800" dirty="0">
                <a:hlinkClick r:id="rId2"/>
              </a:rPr>
              <a:t>https://docs.oracle.com/en/java/javase/11/docs/api/java.base/java/util/stream/Stream.html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AA19B6-F09F-3246-90F5-DEDFA5426739}"/>
              </a:ext>
            </a:extLst>
          </p:cNvPr>
          <p:cNvSpPr/>
          <p:nvPr/>
        </p:nvSpPr>
        <p:spPr>
          <a:xfrm>
            <a:off x="824464" y="2182548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6E538-2B3D-434B-9489-82A958AFBB3B}"/>
              </a:ext>
            </a:extLst>
          </p:cNvPr>
          <p:cNvSpPr/>
          <p:nvPr/>
        </p:nvSpPr>
        <p:spPr>
          <a:xfrm>
            <a:off x="824464" y="2920855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2F2FA-3DD3-E742-8AA4-BFD01C62140E}"/>
              </a:ext>
            </a:extLst>
          </p:cNvPr>
          <p:cNvSpPr/>
          <p:nvPr/>
        </p:nvSpPr>
        <p:spPr>
          <a:xfrm>
            <a:off x="824464" y="3662628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C5216-3D65-024D-B962-15571AABEAEB}"/>
              </a:ext>
            </a:extLst>
          </p:cNvPr>
          <p:cNvSpPr/>
          <p:nvPr/>
        </p:nvSpPr>
        <p:spPr>
          <a:xfrm>
            <a:off x="824464" y="4380657"/>
            <a:ext cx="914400" cy="40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B21313-E073-F547-8170-D9819CEAA629}"/>
              </a:ext>
            </a:extLst>
          </p:cNvPr>
          <p:cNvSpPr txBox="1"/>
          <p:nvPr/>
        </p:nvSpPr>
        <p:spPr>
          <a:xfrm>
            <a:off x="1542326" y="5091083"/>
            <a:ext cx="221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 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03537-1B75-F34B-9B02-7F9E3677327C}"/>
              </a:ext>
            </a:extLst>
          </p:cNvPr>
          <p:cNvSpPr txBox="1"/>
          <p:nvPr/>
        </p:nvSpPr>
        <p:spPr>
          <a:xfrm>
            <a:off x="7181369" y="1525906"/>
            <a:ext cx="151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Stream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9D2DC6-C303-0D49-BAC1-38741803BA5B}"/>
              </a:ext>
            </a:extLst>
          </p:cNvPr>
          <p:cNvSpPr txBox="1"/>
          <p:nvPr/>
        </p:nvSpPr>
        <p:spPr>
          <a:xfrm rot="16200000">
            <a:off x="5111093" y="2984682"/>
            <a:ext cx="2121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flatMap</a:t>
            </a:r>
            <a:r>
              <a:rPr lang="en-US" sz="2400" dirty="0"/>
              <a:t>()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0951C0-A28D-8A43-B1A4-AEED3D928379}"/>
              </a:ext>
            </a:extLst>
          </p:cNvPr>
          <p:cNvSpPr txBox="1"/>
          <p:nvPr/>
        </p:nvSpPr>
        <p:spPr>
          <a:xfrm>
            <a:off x="4213038" y="5326812"/>
            <a:ext cx="7822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a nested set of things and turn them into a single stream for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Taking all the words from pages of a book and turning them into a stream for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867C4-ED98-5449-86C5-C09447DEBA0B}"/>
              </a:ext>
            </a:extLst>
          </p:cNvPr>
          <p:cNvSpPr txBox="1"/>
          <p:nvPr/>
        </p:nvSpPr>
        <p:spPr>
          <a:xfrm>
            <a:off x="375903" y="1525906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of Employees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181E2B8-CF94-9544-A643-5A11AF6729E4}"/>
              </a:ext>
            </a:extLst>
          </p:cNvPr>
          <p:cNvGrpSpPr/>
          <p:nvPr/>
        </p:nvGrpSpPr>
        <p:grpSpPr>
          <a:xfrm>
            <a:off x="1998510" y="2067439"/>
            <a:ext cx="2447743" cy="612718"/>
            <a:chOff x="3294993" y="2296056"/>
            <a:chExt cx="2447743" cy="61271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0C24ED-212A-BC49-82EA-20B564190F51}"/>
                </a:ext>
              </a:extLst>
            </p:cNvPr>
            <p:cNvSpPr/>
            <p:nvPr/>
          </p:nvSpPr>
          <p:spPr>
            <a:xfrm>
              <a:off x="3462383" y="2410121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9B1295-76B4-5E47-B288-0AB268B5A44D}"/>
                </a:ext>
              </a:extLst>
            </p:cNvPr>
            <p:cNvSpPr/>
            <p:nvPr/>
          </p:nvSpPr>
          <p:spPr>
            <a:xfrm>
              <a:off x="4636429" y="2410121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5BDB5D30-EC16-BF4B-844F-5824530A464F}"/>
                </a:ext>
              </a:extLst>
            </p:cNvPr>
            <p:cNvSpPr/>
            <p:nvPr/>
          </p:nvSpPr>
          <p:spPr>
            <a:xfrm>
              <a:off x="3294993" y="2296056"/>
              <a:ext cx="2447743" cy="612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836A46-847A-3145-AAD1-1B7C66FE1387}"/>
              </a:ext>
            </a:extLst>
          </p:cNvPr>
          <p:cNvGrpSpPr/>
          <p:nvPr/>
        </p:nvGrpSpPr>
        <p:grpSpPr>
          <a:xfrm>
            <a:off x="1991306" y="2809212"/>
            <a:ext cx="3515711" cy="612718"/>
            <a:chOff x="3294992" y="3040585"/>
            <a:chExt cx="3515711" cy="6127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18808-E238-304B-8DE6-0DE04779A13F}"/>
                </a:ext>
              </a:extLst>
            </p:cNvPr>
            <p:cNvSpPr/>
            <p:nvPr/>
          </p:nvSpPr>
          <p:spPr>
            <a:xfrm>
              <a:off x="3462383" y="3148428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957D1-BAD3-9D4C-A103-038A9C4A2952}"/>
                </a:ext>
              </a:extLst>
            </p:cNvPr>
            <p:cNvSpPr/>
            <p:nvPr/>
          </p:nvSpPr>
          <p:spPr>
            <a:xfrm>
              <a:off x="4636429" y="3148428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89637B-96E9-9C41-B7BC-D76BB111FA04}"/>
                </a:ext>
              </a:extLst>
            </p:cNvPr>
            <p:cNvSpPr/>
            <p:nvPr/>
          </p:nvSpPr>
          <p:spPr>
            <a:xfrm>
              <a:off x="5742736" y="3148428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p6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5B0CF5D-2D1F-FE4F-B3DC-C04FFEB4301B}"/>
                </a:ext>
              </a:extLst>
            </p:cNvPr>
            <p:cNvSpPr/>
            <p:nvPr/>
          </p:nvSpPr>
          <p:spPr>
            <a:xfrm>
              <a:off x="3294992" y="3040585"/>
              <a:ext cx="3515711" cy="612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4838044-71D9-1F41-8910-1F7D6DB8AD42}"/>
              </a:ext>
            </a:extLst>
          </p:cNvPr>
          <p:cNvGrpSpPr/>
          <p:nvPr/>
        </p:nvGrpSpPr>
        <p:grpSpPr>
          <a:xfrm>
            <a:off x="1998510" y="3558058"/>
            <a:ext cx="3515711" cy="612718"/>
            <a:chOff x="3294992" y="3785631"/>
            <a:chExt cx="3515711" cy="61271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BDFA9E-8756-E545-98C7-F5746A3C7CA3}"/>
                </a:ext>
              </a:extLst>
            </p:cNvPr>
            <p:cNvSpPr/>
            <p:nvPr/>
          </p:nvSpPr>
          <p:spPr>
            <a:xfrm>
              <a:off x="3421602" y="3890201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9EC65E-DA49-7D40-AF78-FA1421666030}"/>
                </a:ext>
              </a:extLst>
            </p:cNvPr>
            <p:cNvSpPr/>
            <p:nvPr/>
          </p:nvSpPr>
          <p:spPr>
            <a:xfrm>
              <a:off x="4595648" y="3890201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DEA7BB6-02FE-FB48-BBD0-87689F4264CD}"/>
                </a:ext>
              </a:extLst>
            </p:cNvPr>
            <p:cNvSpPr/>
            <p:nvPr/>
          </p:nvSpPr>
          <p:spPr>
            <a:xfrm>
              <a:off x="5701955" y="3890201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p6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6EC0C6B-12BD-D948-9784-5821B4A026AD}"/>
                </a:ext>
              </a:extLst>
            </p:cNvPr>
            <p:cNvSpPr/>
            <p:nvPr/>
          </p:nvSpPr>
          <p:spPr>
            <a:xfrm>
              <a:off x="3294992" y="3785631"/>
              <a:ext cx="3515711" cy="612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58933E-4D8F-C74D-8BF6-F325FFDFCB17}"/>
              </a:ext>
            </a:extLst>
          </p:cNvPr>
          <p:cNvGrpSpPr/>
          <p:nvPr/>
        </p:nvGrpSpPr>
        <p:grpSpPr>
          <a:xfrm>
            <a:off x="2002795" y="4276087"/>
            <a:ext cx="1159050" cy="612718"/>
            <a:chOff x="3299965" y="4503660"/>
            <a:chExt cx="1159050" cy="61271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AE5CC0C-8327-DA4C-9B82-2C55E56DC0F9}"/>
                </a:ext>
              </a:extLst>
            </p:cNvPr>
            <p:cNvSpPr/>
            <p:nvPr/>
          </p:nvSpPr>
          <p:spPr>
            <a:xfrm>
              <a:off x="3426575" y="4608230"/>
              <a:ext cx="914400" cy="40357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p1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DD9681EA-48C8-A047-87B4-F2DB6EAA257F}"/>
                </a:ext>
              </a:extLst>
            </p:cNvPr>
            <p:cNvSpPr/>
            <p:nvPr/>
          </p:nvSpPr>
          <p:spPr>
            <a:xfrm>
              <a:off x="3299965" y="4503660"/>
              <a:ext cx="1159050" cy="6127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5C29399-9D73-0C43-BBB2-EEA40F07A0F5}"/>
              </a:ext>
            </a:extLst>
          </p:cNvPr>
          <p:cNvSpPr txBox="1"/>
          <p:nvPr/>
        </p:nvSpPr>
        <p:spPr>
          <a:xfrm>
            <a:off x="2486969" y="1536843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28E7E5-68BF-DD4E-B782-902BF7FC79E3}"/>
              </a:ext>
            </a:extLst>
          </p:cNvPr>
          <p:cNvCxnSpPr>
            <a:stCxn id="6" idx="3"/>
            <a:endCxn id="32" idx="1"/>
          </p:cNvCxnSpPr>
          <p:nvPr/>
        </p:nvCxnSpPr>
        <p:spPr>
          <a:xfrm flipV="1">
            <a:off x="1738864" y="2373798"/>
            <a:ext cx="259646" cy="10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E05E3E-0D87-C040-8D9E-046FAA1DA931}"/>
              </a:ext>
            </a:extLst>
          </p:cNvPr>
          <p:cNvCxnSpPr>
            <a:stCxn id="7" idx="3"/>
            <a:endCxn id="37" idx="1"/>
          </p:cNvCxnSpPr>
          <p:nvPr/>
        </p:nvCxnSpPr>
        <p:spPr>
          <a:xfrm flipV="1">
            <a:off x="1738864" y="3115571"/>
            <a:ext cx="252442" cy="7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E6CCDD-F304-FB43-9E31-1C45B3841445}"/>
              </a:ext>
            </a:extLst>
          </p:cNvPr>
          <p:cNvCxnSpPr>
            <a:stCxn id="8" idx="3"/>
            <a:endCxn id="38" idx="1"/>
          </p:cNvCxnSpPr>
          <p:nvPr/>
        </p:nvCxnSpPr>
        <p:spPr>
          <a:xfrm>
            <a:off x="1738864" y="3864417"/>
            <a:ext cx="259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1DF7911-6FC5-8448-BAEC-FAE9516A289B}"/>
              </a:ext>
            </a:extLst>
          </p:cNvPr>
          <p:cNvCxnSpPr>
            <a:stCxn id="9" idx="3"/>
            <a:endCxn id="39" idx="1"/>
          </p:cNvCxnSpPr>
          <p:nvPr/>
        </p:nvCxnSpPr>
        <p:spPr>
          <a:xfrm>
            <a:off x="1738864" y="4582446"/>
            <a:ext cx="2639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75402BB-2F1F-D543-A704-4AF726E60788}"/>
              </a:ext>
            </a:extLst>
          </p:cNvPr>
          <p:cNvSpPr/>
          <p:nvPr/>
        </p:nvSpPr>
        <p:spPr>
          <a:xfrm>
            <a:off x="7348759" y="2153120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28CC96-7B9A-FC4B-A50D-F5B251C5E142}"/>
              </a:ext>
            </a:extLst>
          </p:cNvPr>
          <p:cNvSpPr/>
          <p:nvPr/>
        </p:nvSpPr>
        <p:spPr>
          <a:xfrm>
            <a:off x="8522805" y="2153120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8DCCF3-987F-4844-B40C-DC0CE85C1B2B}"/>
              </a:ext>
            </a:extLst>
          </p:cNvPr>
          <p:cNvSpPr/>
          <p:nvPr/>
        </p:nvSpPr>
        <p:spPr>
          <a:xfrm>
            <a:off x="9696851" y="2153120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8A1A94-EA83-B743-8859-1B9A17E2605F}"/>
              </a:ext>
            </a:extLst>
          </p:cNvPr>
          <p:cNvSpPr/>
          <p:nvPr/>
        </p:nvSpPr>
        <p:spPr>
          <a:xfrm>
            <a:off x="7869970" y="3288910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62BE3E2-E66A-CC4F-A131-09C6EF006C61}"/>
              </a:ext>
            </a:extLst>
          </p:cNvPr>
          <p:cNvSpPr/>
          <p:nvPr/>
        </p:nvSpPr>
        <p:spPr>
          <a:xfrm>
            <a:off x="9048184" y="3283115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B63832C-897B-2548-AFC8-094BD2AC7AF7}"/>
              </a:ext>
            </a:extLst>
          </p:cNvPr>
          <p:cNvSpPr/>
          <p:nvPr/>
        </p:nvSpPr>
        <p:spPr>
          <a:xfrm>
            <a:off x="10241246" y="3283115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3BEA67-67C4-0B4B-A8E0-882CF7068052}"/>
              </a:ext>
            </a:extLst>
          </p:cNvPr>
          <p:cNvSpPr/>
          <p:nvPr/>
        </p:nvSpPr>
        <p:spPr>
          <a:xfrm>
            <a:off x="7869970" y="4356677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F80CF4-6BD5-A94B-9B39-08F8661A9662}"/>
              </a:ext>
            </a:extLst>
          </p:cNvPr>
          <p:cNvSpPr/>
          <p:nvPr/>
        </p:nvSpPr>
        <p:spPr>
          <a:xfrm>
            <a:off x="9048184" y="4340731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82EF609-DDCE-F643-B24E-EBC1E811E868}"/>
              </a:ext>
            </a:extLst>
          </p:cNvPr>
          <p:cNvSpPr/>
          <p:nvPr/>
        </p:nvSpPr>
        <p:spPr>
          <a:xfrm>
            <a:off x="10241246" y="4339635"/>
            <a:ext cx="914400" cy="4035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A4E9BBC5-33DA-C64C-A301-0B70ECF15997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 flipH="1">
            <a:off x="7869970" y="2354909"/>
            <a:ext cx="2741281" cy="1135790"/>
          </a:xfrm>
          <a:prstGeom prst="curvedConnector5">
            <a:avLst>
              <a:gd name="adj1" fmla="val -8339"/>
              <a:gd name="adj2" fmla="val 50000"/>
              <a:gd name="adj3" fmla="val 1083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0B8CA10C-6401-6046-B4CC-1D9AD09C4306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 flipH="1">
            <a:off x="7869970" y="3484904"/>
            <a:ext cx="3285676" cy="1073562"/>
          </a:xfrm>
          <a:prstGeom prst="curvedConnector5">
            <a:avLst>
              <a:gd name="adj1" fmla="val -6957"/>
              <a:gd name="adj2" fmla="val 50000"/>
              <a:gd name="adj3" fmla="val 106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478B2DE-3570-FC4A-B2AD-EF88E1C0AF95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8263159" y="2354909"/>
            <a:ext cx="259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D7BE732-6320-0D45-B919-0237A4CA2A47}"/>
              </a:ext>
            </a:extLst>
          </p:cNvPr>
          <p:cNvCxnSpPr>
            <a:stCxn id="54" idx="3"/>
            <a:endCxn id="57" idx="1"/>
          </p:cNvCxnSpPr>
          <p:nvPr/>
        </p:nvCxnSpPr>
        <p:spPr>
          <a:xfrm>
            <a:off x="9437205" y="2354909"/>
            <a:ext cx="259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triped Right Arrow 78">
            <a:extLst>
              <a:ext uri="{FF2B5EF4-FFF2-40B4-BE49-F238E27FC236}">
                <a16:creationId xmlns:a16="http://schemas.microsoft.com/office/drawing/2014/main" id="{2EC5CE2F-1268-4D48-8F78-632EF02C09E8}"/>
              </a:ext>
            </a:extLst>
          </p:cNvPr>
          <p:cNvSpPr/>
          <p:nvPr/>
        </p:nvSpPr>
        <p:spPr>
          <a:xfrm>
            <a:off x="6510631" y="3266835"/>
            <a:ext cx="914400" cy="693964"/>
          </a:xfrm>
          <a:prstGeom prst="stripedRightArrow">
            <a:avLst/>
          </a:prstGeom>
          <a:gradFill flip="none" rotWithShape="1">
            <a:gsLst>
              <a:gs pos="17000">
                <a:srgbClr val="0070C0"/>
              </a:gs>
              <a:gs pos="100000">
                <a:schemeClr val="accent6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E9B46AC-244A-F540-B1DA-287F39827F7C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 flipV="1">
            <a:off x="8784370" y="3484904"/>
            <a:ext cx="263814" cy="5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3BF045B-B8A0-1C47-B133-3035BCFE3F46}"/>
              </a:ext>
            </a:extLst>
          </p:cNvPr>
          <p:cNvCxnSpPr>
            <a:stCxn id="59" idx="3"/>
            <a:endCxn id="62" idx="1"/>
          </p:cNvCxnSpPr>
          <p:nvPr/>
        </p:nvCxnSpPr>
        <p:spPr>
          <a:xfrm>
            <a:off x="9962584" y="3484904"/>
            <a:ext cx="278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2DD860D-8D72-0541-8800-211220745AB2}"/>
              </a:ext>
            </a:extLst>
          </p:cNvPr>
          <p:cNvCxnSpPr>
            <a:stCxn id="63" idx="3"/>
            <a:endCxn id="64" idx="1"/>
          </p:cNvCxnSpPr>
          <p:nvPr/>
        </p:nvCxnSpPr>
        <p:spPr>
          <a:xfrm flipV="1">
            <a:off x="8784370" y="4542520"/>
            <a:ext cx="263814" cy="1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E18B9D2-CABA-C347-A1BB-09AD51254316}"/>
              </a:ext>
            </a:extLst>
          </p:cNvPr>
          <p:cNvCxnSpPr>
            <a:stCxn id="64" idx="3"/>
            <a:endCxn id="67" idx="1"/>
          </p:cNvCxnSpPr>
          <p:nvPr/>
        </p:nvCxnSpPr>
        <p:spPr>
          <a:xfrm flipV="1">
            <a:off x="9962584" y="4541424"/>
            <a:ext cx="278662" cy="1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85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4A72-72DB-EA42-BB40-4CEA387A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EF2A5-C879-6E48-A98A-6A58446C5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go look at some examples</a:t>
            </a:r>
          </a:p>
          <a:p>
            <a:pPr lvl="1"/>
            <a:r>
              <a:rPr lang="en-US" dirty="0"/>
              <a:t>Streams project</a:t>
            </a:r>
          </a:p>
          <a:p>
            <a:pPr lvl="1"/>
            <a:r>
              <a:rPr lang="en-US" dirty="0"/>
              <a:t>When we get to the </a:t>
            </a:r>
            <a:r>
              <a:rPr lang="en-US" dirty="0" err="1"/>
              <a:t>IntStream</a:t>
            </a:r>
            <a:r>
              <a:rPr lang="en-US" dirty="0"/>
              <a:t> example, we’ll discuss </a:t>
            </a:r>
            <a:r>
              <a:rPr lang="en-US" dirty="0" err="1"/>
              <a:t>Optionals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04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DCBC-77B0-D544-8A05-B3350CDA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38" y="201002"/>
            <a:ext cx="10515600" cy="748567"/>
          </a:xfrm>
        </p:spPr>
        <p:txBody>
          <a:bodyPr/>
          <a:lstStyle/>
          <a:p>
            <a:r>
              <a:rPr lang="en-US" dirty="0"/>
              <a:t>Parallel Streams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B40FCF-1155-3B46-9D6F-82D693E1CCA7}"/>
              </a:ext>
            </a:extLst>
          </p:cNvPr>
          <p:cNvSpPr/>
          <p:nvPr/>
        </p:nvSpPr>
        <p:spPr>
          <a:xfrm>
            <a:off x="964113" y="2257410"/>
            <a:ext cx="1090246" cy="11271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05366-D07D-264A-A225-78FC945ACF8F}"/>
              </a:ext>
            </a:extLst>
          </p:cNvPr>
          <p:cNvSpPr/>
          <p:nvPr/>
        </p:nvSpPr>
        <p:spPr>
          <a:xfrm>
            <a:off x="2457827" y="2510313"/>
            <a:ext cx="785445" cy="62132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init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1D32F-266B-3741-B7AD-B6E012AAD55F}"/>
              </a:ext>
            </a:extLst>
          </p:cNvPr>
          <p:cNvSpPr/>
          <p:nvPr/>
        </p:nvSpPr>
        <p:spPr>
          <a:xfrm>
            <a:off x="4359896" y="1636087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7B5483-FEC3-1849-9C5E-357D72B9ED94}"/>
              </a:ext>
            </a:extLst>
          </p:cNvPr>
          <p:cNvSpPr/>
          <p:nvPr/>
        </p:nvSpPr>
        <p:spPr>
          <a:xfrm>
            <a:off x="4359896" y="3555818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36AFC-EFC1-A94C-8233-706DCD41E774}"/>
              </a:ext>
            </a:extLst>
          </p:cNvPr>
          <p:cNvSpPr/>
          <p:nvPr/>
        </p:nvSpPr>
        <p:spPr>
          <a:xfrm>
            <a:off x="6479822" y="1636086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08841-CFD6-BF4E-BFAF-2D0ADDC08305}"/>
              </a:ext>
            </a:extLst>
          </p:cNvPr>
          <p:cNvSpPr/>
          <p:nvPr/>
        </p:nvSpPr>
        <p:spPr>
          <a:xfrm>
            <a:off x="9716372" y="2587587"/>
            <a:ext cx="1477107" cy="6213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terminal 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B888C3-E339-754E-98B9-D6204242A8D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054359" y="2820974"/>
            <a:ext cx="40346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D271BB-5716-C746-97E7-899FF0625119}"/>
              </a:ext>
            </a:extLst>
          </p:cNvPr>
          <p:cNvCxnSpPr>
            <a:cxnSpLocks/>
            <a:stCxn id="41" idx="3"/>
            <a:endCxn id="13" idx="1"/>
          </p:cNvCxnSpPr>
          <p:nvPr/>
        </p:nvCxnSpPr>
        <p:spPr>
          <a:xfrm>
            <a:off x="9073553" y="2888491"/>
            <a:ext cx="642819" cy="9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31BDC8E-F20A-E841-8D23-08E3E10421F4}"/>
              </a:ext>
            </a:extLst>
          </p:cNvPr>
          <p:cNvSpPr txBox="1"/>
          <p:nvPr/>
        </p:nvSpPr>
        <p:spPr>
          <a:xfrm>
            <a:off x="2236068" y="1912746"/>
            <a:ext cx="1477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Turn source into Stream&lt;T&gt;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7600F-115A-AC4F-9F8D-68E920905527}"/>
              </a:ext>
            </a:extLst>
          </p:cNvPr>
          <p:cNvSpPr txBox="1"/>
          <p:nvPr/>
        </p:nvSpPr>
        <p:spPr>
          <a:xfrm>
            <a:off x="515705" y="3495363"/>
            <a:ext cx="1987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Array, file, List, database, etc.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BE96E60A-FE7A-1448-AB51-3095C5A248D2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243272" y="1946749"/>
            <a:ext cx="1116624" cy="8742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3F736D8-5084-D841-B733-F4F7ACBE2C7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9650" y="2992254"/>
            <a:ext cx="1090246" cy="8742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26D3D41-4CB2-704B-8FFE-E54861987329}"/>
              </a:ext>
            </a:extLst>
          </p:cNvPr>
          <p:cNvSpPr/>
          <p:nvPr/>
        </p:nvSpPr>
        <p:spPr>
          <a:xfrm>
            <a:off x="6479821" y="3555818"/>
            <a:ext cx="1477107" cy="6213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op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B221ED-2DCE-164E-89A7-4EBE804956FB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5837003" y="1946748"/>
            <a:ext cx="6428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CC5C3D-7B4F-6F40-A18D-95295E5BB032}"/>
              </a:ext>
            </a:extLst>
          </p:cNvPr>
          <p:cNvCxnSpPr>
            <a:stCxn id="11" idx="3"/>
            <a:endCxn id="32" idx="1"/>
          </p:cNvCxnSpPr>
          <p:nvPr/>
        </p:nvCxnSpPr>
        <p:spPr>
          <a:xfrm>
            <a:off x="5837003" y="3866480"/>
            <a:ext cx="642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ight Brace 34">
            <a:extLst>
              <a:ext uri="{FF2B5EF4-FFF2-40B4-BE49-F238E27FC236}">
                <a16:creationId xmlns:a16="http://schemas.microsoft.com/office/drawing/2014/main" id="{3703D754-7068-EC4D-BF57-B537AE6735AE}"/>
              </a:ext>
            </a:extLst>
          </p:cNvPr>
          <p:cNvSpPr/>
          <p:nvPr/>
        </p:nvSpPr>
        <p:spPr>
          <a:xfrm rot="5400000">
            <a:off x="6074826" y="3960507"/>
            <a:ext cx="167171" cy="10772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C884D7-8AA6-B244-BC99-60E0B7BA3262}"/>
              </a:ext>
            </a:extLst>
          </p:cNvPr>
          <p:cNvSpPr txBox="1"/>
          <p:nvPr/>
        </p:nvSpPr>
        <p:spPr>
          <a:xfrm>
            <a:off x="5619804" y="4726188"/>
            <a:ext cx="1256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Sub-stream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49290B10-31CF-D043-A437-A879F7CFF43D}"/>
              </a:ext>
            </a:extLst>
          </p:cNvPr>
          <p:cNvCxnSpPr>
            <a:stCxn id="12" idx="3"/>
          </p:cNvCxnSpPr>
          <p:nvPr/>
        </p:nvCxnSpPr>
        <p:spPr>
          <a:xfrm>
            <a:off x="7956929" y="1946748"/>
            <a:ext cx="550985" cy="8742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98A50A1-A0EA-BE45-BDDD-394B15794379}"/>
              </a:ext>
            </a:extLst>
          </p:cNvPr>
          <p:cNvCxnSpPr>
            <a:stCxn id="32" idx="3"/>
          </p:cNvCxnSpPr>
          <p:nvPr/>
        </p:nvCxnSpPr>
        <p:spPr>
          <a:xfrm flipV="1">
            <a:off x="7956928" y="3090601"/>
            <a:ext cx="550986" cy="77587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3855217-6087-144C-910F-8FE576FE5C41}"/>
              </a:ext>
            </a:extLst>
          </p:cNvPr>
          <p:cNvSpPr/>
          <p:nvPr/>
        </p:nvSpPr>
        <p:spPr>
          <a:xfrm>
            <a:off x="7956928" y="2568071"/>
            <a:ext cx="1116625" cy="640839"/>
          </a:xfrm>
          <a:prstGeom prst="roundRect">
            <a:avLst/>
          </a:prstGeom>
          <a:solidFill>
            <a:srgbClr val="963F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Combiner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C2477F-3242-234D-9F84-91FB15F18C07}"/>
              </a:ext>
            </a:extLst>
          </p:cNvPr>
          <p:cNvSpPr txBox="1"/>
          <p:nvPr/>
        </p:nvSpPr>
        <p:spPr>
          <a:xfrm>
            <a:off x="143172" y="5512096"/>
            <a:ext cx="79922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Streams must be used only with stateless, non-interfering, and associative operations: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 stateless operation is an operation in which the state of one element does not affect another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 non-interfering operation is an operation in which data source is not affected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 associative operation is an operation in which the result is not affected by the order of operands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73F792-DCA0-3C43-8493-A23696E8B6F0}"/>
              </a:ext>
            </a:extLst>
          </p:cNvPr>
          <p:cNvSpPr txBox="1"/>
          <p:nvPr/>
        </p:nvSpPr>
        <p:spPr>
          <a:xfrm>
            <a:off x="298938" y="868556"/>
            <a:ext cx="496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(Beyond the scope of this course)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5D9B0E-57A0-AB4B-8733-38B296139F4E}"/>
              </a:ext>
            </a:extLst>
          </p:cNvPr>
          <p:cNvSpPr txBox="1"/>
          <p:nvPr/>
        </p:nvSpPr>
        <p:spPr>
          <a:xfrm>
            <a:off x="8551878" y="210905"/>
            <a:ext cx="38060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streams offer the most increase in performance when the computation is CPU-bound</a:t>
            </a:r>
          </a:p>
        </p:txBody>
      </p:sp>
    </p:spTree>
    <p:extLst>
      <p:ext uri="{BB962C8B-B14F-4D97-AF65-F5344CB8AC3E}">
        <p14:creationId xmlns:p14="http://schemas.microsoft.com/office/powerpoint/2010/main" val="248306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16914</TotalTime>
  <Words>1257</Words>
  <Application>Microsoft Macintosh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Streams</vt:lpstr>
      <vt:lpstr>Functional Programming</vt:lpstr>
      <vt:lpstr>Functional Programming</vt:lpstr>
      <vt:lpstr>Functional Programming</vt:lpstr>
      <vt:lpstr>What vs. How</vt:lpstr>
      <vt:lpstr>Higher-Order Functions</vt:lpstr>
      <vt:lpstr>Streams package java.util.stream </vt:lpstr>
      <vt:lpstr>Streams</vt:lpstr>
      <vt:lpstr>Stream Characteristics</vt:lpstr>
      <vt:lpstr>Common Stream Operations https://docs.oracle.com/en/java/javase/11/docs/api/java.base/java/util/stream/Stream.html</vt:lpstr>
      <vt:lpstr>Common Stream Operations https://docs.oracle.com/en/java/javase/11/docs/api/java.base/java/util/stream/Stream.html</vt:lpstr>
      <vt:lpstr>Common Stream Operations https://docs.oracle.com/en/java/javase/11/docs/api/java.base/java/util/stream/Stream.html</vt:lpstr>
      <vt:lpstr>Common Stream Operations https://docs.oracle.com/en/java/javase/11/docs/api/java.base/java/util/stream/Stream.html</vt:lpstr>
      <vt:lpstr>Stream Examples</vt:lpstr>
      <vt:lpstr>Parallel Streams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</dc:title>
  <dc:creator>John Puopolo</dc:creator>
  <cp:lastModifiedBy>John Puopolo</cp:lastModifiedBy>
  <cp:revision>30</cp:revision>
  <dcterms:created xsi:type="dcterms:W3CDTF">2020-07-23T21:58:40Z</dcterms:created>
  <dcterms:modified xsi:type="dcterms:W3CDTF">2020-08-10T14:18:33Z</dcterms:modified>
</cp:coreProperties>
</file>