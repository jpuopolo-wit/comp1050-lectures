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8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10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E5A58-EF52-4A40-B75E-2BB7C9AF32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ABCAC7-5B03-044B-BBBD-95BC017AD5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5975B-6FB3-8341-99F2-D39E50F36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DAD9-FB5B-9740-9D7A-7F8135ED112F}" type="datetimeFigureOut">
              <a:rPr lang="en-US" smtClean="0"/>
              <a:t>7/23/20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566FC-2ED8-0A4D-BB79-4370C189E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62909-E3AE-CB4F-9A68-A5607D004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989A-33C1-B845-BBF5-6100DB531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12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7F097-1560-814A-BED4-F64EB707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D2E1B-A990-F342-9D93-8E1A3AB11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25187-8B94-A149-870C-5C611D63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DAD9-FB5B-9740-9D7A-7F8135ED112F}" type="datetimeFigureOut">
              <a:rPr lang="en-US" smtClean="0"/>
              <a:t>7/23/20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70A59-9F14-E648-A73D-5BEEB7028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F3871-92A6-BF45-A82E-43A33BAE3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989A-33C1-B845-BBF5-6100DB531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058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000A7-89FE-E143-B955-756DB8C46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D5C87-41F9-604B-8B48-47F7A034C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2B216-7797-5A4E-B93D-33737B384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DAD9-FB5B-9740-9D7A-7F8135ED112F}" type="datetimeFigureOut">
              <a:rPr lang="en-US" smtClean="0"/>
              <a:t>7/23/20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3E3F1-1667-2C4E-8FA7-D0A4D3E9F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CBE79-7D04-5946-94A6-2893BC16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989A-33C1-B845-BBF5-6100DB531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063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AF1F5-FA35-6548-BD1F-951398953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18E75-2864-574D-BE87-5ED7BC0F07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3B5940-0A97-5F4F-9FF6-58476D0875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E6DFDC-3605-9B48-B83D-9DA4C6A4C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DAD9-FB5B-9740-9D7A-7F8135ED112F}" type="datetimeFigureOut">
              <a:rPr lang="en-US" smtClean="0"/>
              <a:t>7/23/20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017CA8-2DE3-BF43-97B9-20CF92600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2AC52-AD89-D648-91F4-F64DE7147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989A-33C1-B845-BBF5-6100DB531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3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C3B31-8749-0C4A-90E1-0AA896650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A1ED7-01ED-9E45-8609-4ED53AE49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5A02C-B0FE-6D48-AB9A-75FE2204D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86EF09-1F9E-8E42-B8D5-06C9286FD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47F1FA-F6FA-3940-A268-EB2D727C67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DE05F3-E928-4749-8C38-5F7B3B244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DAD9-FB5B-9740-9D7A-7F8135ED112F}" type="datetimeFigureOut">
              <a:rPr lang="en-US" smtClean="0"/>
              <a:t>7/23/20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069796-06A4-B64A-BB26-654C5465A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EC02B0-FCC5-E044-8B70-D44CD922A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989A-33C1-B845-BBF5-6100DB531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55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8F5C1-EAD0-1E47-95F9-8E263322E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FFFC64-D720-8C4F-8917-787808665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DAD9-FB5B-9740-9D7A-7F8135ED112F}" type="datetimeFigureOut">
              <a:rPr lang="en-US" smtClean="0"/>
              <a:t>7/23/20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6779E8-7081-FB40-BDD2-186489574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13543A-8D45-1B4A-A3B2-1CCE7776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989A-33C1-B845-BBF5-6100DB531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43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601EF7-6280-1E49-AEE5-92F552189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DAD9-FB5B-9740-9D7A-7F8135ED112F}" type="datetimeFigureOut">
              <a:rPr lang="en-US" smtClean="0"/>
              <a:t>7/23/20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70CAE2-3739-CF44-A7D7-B89B5889F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F51F1-F908-3949-918D-E08D50525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989A-33C1-B845-BBF5-6100DB531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290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6CE10-40CA-964D-AC99-F722AEF9F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C73E8-D935-EA46-A2D9-9B991B287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3C9B9-D573-8E4E-8156-57046A6D4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8635A-B28C-794B-A1A1-C46C68EA0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DAD9-FB5B-9740-9D7A-7F8135ED112F}" type="datetimeFigureOut">
              <a:rPr lang="en-US" smtClean="0"/>
              <a:t>7/23/20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96CFD-091D-7841-B59D-5D31BC15E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D7A62-E87A-0940-9733-32A58BF26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989A-33C1-B845-BBF5-6100DB531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381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3A7E7-E677-4E47-A82D-7C20F2AB3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0DC948-F96A-F142-9E7E-6F62451367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D78A3-51D9-974B-8D8F-4DE4C1F8A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96F6C0-91AB-344C-A3B7-7CC9DE731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DAD9-FB5B-9740-9D7A-7F8135ED112F}" type="datetimeFigureOut">
              <a:rPr lang="en-US" smtClean="0"/>
              <a:t>7/23/20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A65272-663B-9443-B56F-998AB3BAD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A6684-E5FD-6844-94CF-FD3F931D0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989A-33C1-B845-BBF5-6100DB531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5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6704-21EC-C245-94B7-7E8B9CD5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A40398-62D4-3641-8231-0A08CAE1B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23D71-77FB-B640-A3A8-0CD610078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DAD9-FB5B-9740-9D7A-7F8135ED112F}" type="datetimeFigureOut">
              <a:rPr lang="en-US" smtClean="0"/>
              <a:t>7/23/20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B4D9A-B243-A84E-9668-53948DCAC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D93F9-5B72-2745-8AFD-C4ADB12E0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989A-33C1-B845-BBF5-6100DB531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224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700BC6-20A1-CA4B-AEBD-7785ED9A3A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29B3D2-2740-3A48-A6B3-71C23E67DC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CC18A-79D0-CC49-970B-F19D441C3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DDAD9-FB5B-9740-9D7A-7F8135ED112F}" type="datetimeFigureOut">
              <a:rPr lang="en-US" smtClean="0"/>
              <a:t>7/23/20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FC0BD-156F-834D-B8A2-A78C991D3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3E046-297D-5C48-805A-E29798953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989A-33C1-B845-BBF5-6100DB531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939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EFE648-550D-664A-A645-8B634D119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4656D-AEBF-6444-BA8E-3808811F5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78800-B31D-6043-B653-79BF27B4CA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DDAD9-FB5B-9740-9D7A-7F8135ED112F}" type="datetimeFigureOut">
              <a:rPr lang="en-US" smtClean="0"/>
              <a:t>7/23/20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05254-3D12-B947-B487-3C302FFA6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A70C2-D232-104A-9ED5-05E4AEC3E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D989A-33C1-B845-BBF5-6100DB531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963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CAE2C-35EA-A240-AE90-980FB78945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Optional&lt;T&gt;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87D08-BFCE-AD48-9123-CE5A44996C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Safe Replacement for null</a:t>
            </a:r>
          </a:p>
        </p:txBody>
      </p:sp>
    </p:spTree>
    <p:extLst>
      <p:ext uri="{BB962C8B-B14F-4D97-AF65-F5344CB8AC3E}">
        <p14:creationId xmlns:p14="http://schemas.microsoft.com/office/powerpoint/2010/main" val="1528198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F7DB7-E33C-C54F-ADB5-BC2FE6496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Optional&lt;T&gt;?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4A32A-52B4-A74C-9B6F-A808C3989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Comes from concepts in functional programming</a:t>
            </a:r>
          </a:p>
          <a:p>
            <a:pPr lvl="1"/>
            <a:r>
              <a:rPr lang="en-US" dirty="0"/>
              <a:t>Monad</a:t>
            </a:r>
          </a:p>
          <a:p>
            <a:r>
              <a:rPr lang="en-US" dirty="0"/>
              <a:t>Indicates existence of an object, or not</a:t>
            </a:r>
          </a:p>
          <a:p>
            <a:r>
              <a:rPr lang="en-US" dirty="0"/>
              <a:t>Like null, but a safer replacement (when used correctly)</a:t>
            </a:r>
          </a:p>
        </p:txBody>
      </p:sp>
    </p:spTree>
    <p:extLst>
      <p:ext uri="{BB962C8B-B14F-4D97-AF65-F5344CB8AC3E}">
        <p14:creationId xmlns:p14="http://schemas.microsoft.com/office/powerpoint/2010/main" val="1005211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3C8FC-120C-4249-9A4A-17F94FEC7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It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4C917-90C4-5E4E-B343-69959BAC0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Wraps an object of type T or no object</a:t>
            </a:r>
          </a:p>
          <a:p>
            <a:r>
              <a:rPr lang="en-US" dirty="0"/>
              <a:t>Manages when a value is present or not</a:t>
            </a:r>
          </a:p>
          <a:p>
            <a:r>
              <a:rPr lang="en-US" dirty="0"/>
              <a:t>Can fluidly participate in chained API calls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393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B32AB-1A41-F64C-8452-757051D1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It Used?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20DF0-709C-F347-A44E-B5798A261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Intended to be used as a </a:t>
            </a:r>
            <a:r>
              <a:rPr lang="en-US" b="1" dirty="0"/>
              <a:t>return type</a:t>
            </a:r>
          </a:p>
          <a:p>
            <a:pPr lvl="1"/>
            <a:r>
              <a:rPr lang="en-US" dirty="0"/>
              <a:t>Avoid using as a type for members (expensive)</a:t>
            </a:r>
          </a:p>
          <a:p>
            <a:pPr lvl="2"/>
            <a:r>
              <a:rPr lang="en-US" dirty="0"/>
              <a:t>Continue to use normal objects/null checks</a:t>
            </a:r>
          </a:p>
          <a:p>
            <a:pPr lvl="1"/>
            <a:r>
              <a:rPr lang="en-US" dirty="0"/>
              <a:t>Avoid using as a parameter to methods (overly complex)</a:t>
            </a:r>
          </a:p>
          <a:p>
            <a:pPr lvl="2"/>
            <a:r>
              <a:rPr lang="en-US" dirty="0"/>
              <a:t>Continue to use normal objects/null checks</a:t>
            </a:r>
          </a:p>
          <a:p>
            <a:r>
              <a:rPr lang="en-US" dirty="0"/>
              <a:t>Provides an API that makes dealing with values being present/not present relatively straight-forward</a:t>
            </a:r>
          </a:p>
          <a:p>
            <a:r>
              <a:rPr lang="en-US" dirty="0"/>
              <a:t>Often used with Streams that could result in “no elements”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276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8A4FE-7D0E-F24A-A31C-213346E4A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 Examples*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9B4DB-DACD-7845-A720-F5DA8B858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Given an optional, fish something out – either the value or an alternative</a:t>
            </a:r>
          </a:p>
          <a:p>
            <a:pPr lvl="1"/>
            <a:r>
              <a:rPr lang="en-US" sz="1800" dirty="0">
                <a:latin typeface="Andale Mono" panose="020B0509000000000004" pitchFamily="49" charset="0"/>
              </a:rPr>
              <a:t>Optional&lt;String&gt; </a:t>
            </a:r>
            <a:r>
              <a:rPr lang="en-US" sz="1800" dirty="0" err="1">
                <a:latin typeface="Andale Mono" panose="020B0509000000000004" pitchFamily="49" charset="0"/>
              </a:rPr>
              <a:t>opString</a:t>
            </a:r>
            <a:r>
              <a:rPr lang="en-US" sz="1800" dirty="0">
                <a:latin typeface="Andale Mono" panose="020B0509000000000004" pitchFamily="49" charset="0"/>
              </a:rPr>
              <a:t> = f();</a:t>
            </a:r>
          </a:p>
          <a:p>
            <a:pPr lvl="1"/>
            <a:r>
              <a:rPr lang="en-US" sz="1800" dirty="0">
                <a:latin typeface="Andale Mono" panose="020B0509000000000004" pitchFamily="49" charset="0"/>
              </a:rPr>
              <a:t>String result = </a:t>
            </a:r>
            <a:r>
              <a:rPr lang="en-US" sz="1800" dirty="0" err="1">
                <a:latin typeface="Andale Mono" panose="020B0509000000000004" pitchFamily="49" charset="0"/>
              </a:rPr>
              <a:t>opString.orElse</a:t>
            </a:r>
            <a:r>
              <a:rPr lang="en-US" sz="1800" dirty="0">
                <a:latin typeface="Andale Mono" panose="020B0509000000000004" pitchFamily="49" charset="0"/>
              </a:rPr>
              <a:t>(“”);</a:t>
            </a:r>
          </a:p>
          <a:p>
            <a:pPr lvl="1"/>
            <a:r>
              <a:rPr lang="en-US" sz="1800" dirty="0">
                <a:latin typeface="Andale Mono" panose="020B0509000000000004" pitchFamily="49" charset="0"/>
              </a:rPr>
              <a:t>String result = </a:t>
            </a:r>
            <a:r>
              <a:rPr lang="en-US" sz="1800" dirty="0" err="1">
                <a:latin typeface="Andale Mono" panose="020B0509000000000004" pitchFamily="49" charset="0"/>
              </a:rPr>
              <a:t>opString.orElseGet</a:t>
            </a:r>
            <a:r>
              <a:rPr lang="en-US" sz="1800" dirty="0">
                <a:latin typeface="Andale Mono" panose="020B0509000000000004" pitchFamily="49" charset="0"/>
              </a:rPr>
              <a:t>(() -&gt; g());</a:t>
            </a:r>
          </a:p>
          <a:p>
            <a:pPr lvl="1"/>
            <a:r>
              <a:rPr lang="en-US" sz="1800" dirty="0">
                <a:latin typeface="Andale Mono" panose="020B0509000000000004" pitchFamily="49" charset="0"/>
              </a:rPr>
              <a:t>String result = </a:t>
            </a:r>
            <a:r>
              <a:rPr lang="en-US" sz="1800" dirty="0" err="1">
                <a:latin typeface="Andale Mono" panose="020B0509000000000004" pitchFamily="49" charset="0"/>
              </a:rPr>
              <a:t>opString.orElseThrow</a:t>
            </a:r>
            <a:r>
              <a:rPr lang="en-US" sz="1800" dirty="0">
                <a:latin typeface="Andale Mono" panose="020B0509000000000004" pitchFamily="49" charset="0"/>
              </a:rPr>
              <a:t>(</a:t>
            </a:r>
            <a:r>
              <a:rPr lang="en-US" sz="1800" dirty="0" err="1">
                <a:latin typeface="Andale Mono" panose="020B0509000000000004" pitchFamily="49" charset="0"/>
              </a:rPr>
              <a:t>IllegalStateException</a:t>
            </a:r>
            <a:r>
              <a:rPr lang="en-US" sz="1800" dirty="0">
                <a:latin typeface="Andale Mono" panose="020B0509000000000004" pitchFamily="49" charset="0"/>
              </a:rPr>
              <a:t>::new);</a:t>
            </a:r>
            <a:br>
              <a:rPr lang="en-US" sz="1800" dirty="0">
                <a:latin typeface="Andale Mono" panose="020B0509000000000004" pitchFamily="49" charset="0"/>
              </a:rPr>
            </a:br>
            <a:endParaRPr lang="en-US" sz="1800" dirty="0">
              <a:latin typeface="Andale Mono" panose="020B0509000000000004" pitchFamily="49" charset="0"/>
            </a:endParaRPr>
          </a:p>
          <a:p>
            <a:r>
              <a:rPr lang="en-US" dirty="0"/>
              <a:t>Consume value only if present</a:t>
            </a:r>
          </a:p>
          <a:p>
            <a:pPr lvl="1"/>
            <a:r>
              <a:rPr lang="en-US" sz="1800" dirty="0" err="1">
                <a:latin typeface="Andale Mono" panose="020B0509000000000004" pitchFamily="49" charset="0"/>
              </a:rPr>
              <a:t>opValue.ifPresent</a:t>
            </a:r>
            <a:r>
              <a:rPr lang="en-US" sz="1800" dirty="0">
                <a:latin typeface="Andale Mono" panose="020B0509000000000004" pitchFamily="49" charset="0"/>
              </a:rPr>
              <a:t>(results::add);   // assume results is a List&lt;&gt;</a:t>
            </a:r>
          </a:p>
          <a:p>
            <a:pPr lvl="1"/>
            <a:r>
              <a:rPr lang="en-US" sz="1800" dirty="0">
                <a:latin typeface="Andale Mono" panose="020B0509000000000004" pitchFamily="49" charset="0"/>
              </a:rPr>
              <a:t>Optional&lt;Boolean&gt; added = </a:t>
            </a:r>
            <a:r>
              <a:rPr lang="en-US" sz="1800" dirty="0" err="1">
                <a:latin typeface="Andale Mono" panose="020B0509000000000004" pitchFamily="49" charset="0"/>
              </a:rPr>
              <a:t>opValue.map</a:t>
            </a:r>
            <a:r>
              <a:rPr lang="en-US" sz="1800" dirty="0">
                <a:latin typeface="Andale Mono" panose="020B0509000000000004" pitchFamily="49" charset="0"/>
              </a:rPr>
              <a:t>(results::add</a:t>
            </a:r>
            <a:r>
              <a:rPr lang="en-US" dirty="0">
                <a:latin typeface="Andale Mono" panose="020B0509000000000004" pitchFamily="49" charset="0"/>
              </a:rPr>
              <a:t>);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sz="2000" dirty="0"/>
              <a:t>Side note: Because lambdas are lazy, () -&gt; is a general way to defer a computation until it needs to be done (as in () -&gt; g() above)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E02AD-389D-0E48-A9D7-5430C752C4F4}"/>
              </a:ext>
            </a:extLst>
          </p:cNvPr>
          <p:cNvSpPr txBox="1"/>
          <p:nvPr/>
        </p:nvSpPr>
        <p:spPr>
          <a:xfrm>
            <a:off x="4955822" y="6311900"/>
            <a:ext cx="6898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From Cay </a:t>
            </a:r>
            <a:r>
              <a:rPr lang="en-US" dirty="0" err="1"/>
              <a:t>Horstmann’s</a:t>
            </a:r>
            <a:r>
              <a:rPr lang="en-US" dirty="0"/>
              <a:t> Core Java 11 Advanced course @ O’Reilly Press</a:t>
            </a:r>
          </a:p>
        </p:txBody>
      </p:sp>
    </p:spTree>
    <p:extLst>
      <p:ext uri="{BB962C8B-B14F-4D97-AF65-F5344CB8AC3E}">
        <p14:creationId xmlns:p14="http://schemas.microsoft.com/office/powerpoint/2010/main" val="1050363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FEDBF-E97E-4645-93B1-BB0FA1B32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 get()*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DD49F-8119-1943-A708-5E1536146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Avoid unchecked get:</a:t>
            </a:r>
          </a:p>
          <a:p>
            <a:pPr lvl="1"/>
            <a:r>
              <a:rPr lang="en-US" sz="1800" dirty="0">
                <a:latin typeface="Andale Mono" panose="020B0509000000000004" pitchFamily="49" charset="0"/>
              </a:rPr>
              <a:t>Optional&lt;T&gt; </a:t>
            </a:r>
            <a:r>
              <a:rPr lang="en-US" sz="1800" dirty="0" err="1">
                <a:latin typeface="Andale Mono" panose="020B0509000000000004" pitchFamily="49" charset="0"/>
              </a:rPr>
              <a:t>opValue</a:t>
            </a:r>
            <a:r>
              <a:rPr lang="en-US" sz="1800" dirty="0">
                <a:latin typeface="Andale Mono" panose="020B0509000000000004" pitchFamily="49" charset="0"/>
              </a:rPr>
              <a:t> = …;</a:t>
            </a:r>
          </a:p>
          <a:p>
            <a:pPr lvl="1"/>
            <a:r>
              <a:rPr lang="en-US" sz="1800" dirty="0" err="1">
                <a:latin typeface="Andale Mono" panose="020B0509000000000004" pitchFamily="49" charset="0"/>
              </a:rPr>
              <a:t>opValue.get</a:t>
            </a:r>
            <a:r>
              <a:rPr lang="en-US" sz="1800" dirty="0">
                <a:latin typeface="Andale Mono" panose="020B0509000000000004" pitchFamily="49" charset="0"/>
              </a:rPr>
              <a:t>().</a:t>
            </a:r>
            <a:r>
              <a:rPr lang="en-US" sz="1800" dirty="0" err="1">
                <a:latin typeface="Andale Mono" panose="020B0509000000000004" pitchFamily="49" charset="0"/>
              </a:rPr>
              <a:t>someMethod</a:t>
            </a:r>
            <a:r>
              <a:rPr lang="en-US" sz="1800" dirty="0">
                <a:latin typeface="Andale Mono" panose="020B0509000000000004" pitchFamily="49" charset="0"/>
              </a:rPr>
              <a:t>();	// avoid get() – akin to null paradigm</a:t>
            </a:r>
          </a:p>
          <a:p>
            <a:pPr lvl="1"/>
            <a:endParaRPr lang="en-US" dirty="0"/>
          </a:p>
          <a:p>
            <a:r>
              <a:rPr lang="en-US" dirty="0"/>
              <a:t>This is no better than</a:t>
            </a:r>
          </a:p>
          <a:p>
            <a:pPr lvl="1"/>
            <a:r>
              <a:rPr lang="en-US" sz="1800" dirty="0">
                <a:latin typeface="Andale Mono" panose="020B0509000000000004" pitchFamily="49" charset="0"/>
              </a:rPr>
              <a:t>T value = …;</a:t>
            </a:r>
          </a:p>
          <a:p>
            <a:pPr lvl="1"/>
            <a:r>
              <a:rPr lang="en-US" sz="1800" dirty="0" err="1">
                <a:latin typeface="Andale Mono" panose="020B0509000000000004" pitchFamily="49" charset="0"/>
              </a:rPr>
              <a:t>value.someMethod</a:t>
            </a:r>
            <a:r>
              <a:rPr lang="en-US" sz="1800" dirty="0">
                <a:latin typeface="Andale Mono" panose="020B0509000000000004" pitchFamily="49" charset="0"/>
              </a:rPr>
              <a:t>(); 	// null pointer exception possible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332257-A498-484D-8075-EAD521E59D4B}"/>
              </a:ext>
            </a:extLst>
          </p:cNvPr>
          <p:cNvSpPr txBox="1"/>
          <p:nvPr/>
        </p:nvSpPr>
        <p:spPr>
          <a:xfrm>
            <a:off x="4955822" y="6311900"/>
            <a:ext cx="6898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From Cay </a:t>
            </a:r>
            <a:r>
              <a:rPr lang="en-US" dirty="0" err="1"/>
              <a:t>Horstmann’s</a:t>
            </a:r>
            <a:r>
              <a:rPr lang="en-US" dirty="0"/>
              <a:t> Core Java 11 Advanced course @ O’Reilly Press</a:t>
            </a:r>
          </a:p>
        </p:txBody>
      </p:sp>
    </p:spTree>
    <p:extLst>
      <p:ext uri="{BB962C8B-B14F-4D97-AF65-F5344CB8AC3E}">
        <p14:creationId xmlns:p14="http://schemas.microsoft.com/office/powerpoint/2010/main" val="3127254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F445F-C1EE-3348-B5BB-0735C2331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Producing </a:t>
            </a:r>
            <a:r>
              <a:rPr lang="en-US" dirty="0" err="1"/>
              <a:t>Optionals</a:t>
            </a:r>
            <a:r>
              <a:rPr lang="en-US" dirty="0"/>
              <a:t>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278D1-BA96-C745-9C94-7AAF0C2B2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Writing a method that produces an Optional</a:t>
            </a:r>
            <a:endParaRPr lang="en-US" sz="1800" dirty="0">
              <a:latin typeface="Andale Mono" panose="020B05090000000000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public static Optional&lt;Double&gt; inverse(Double x) {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   if (x != 0) return </a:t>
            </a:r>
            <a:r>
              <a:rPr lang="en-US" sz="1800" dirty="0" err="1">
                <a:latin typeface="Andale Mono" panose="020B0509000000000004" pitchFamily="49" charset="0"/>
              </a:rPr>
              <a:t>Optional.of</a:t>
            </a:r>
            <a:r>
              <a:rPr lang="en-US" sz="1800" dirty="0">
                <a:latin typeface="Andale Mono" panose="020B0509000000000004" pitchFamily="49" charset="0"/>
              </a:rPr>
              <a:t>(1 / x);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} else {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   return </a:t>
            </a:r>
            <a:r>
              <a:rPr lang="en-US" sz="1800" dirty="0" err="1">
                <a:latin typeface="Andale Mono" panose="020B0509000000000004" pitchFamily="49" charset="0"/>
              </a:rPr>
              <a:t>Optional.empty</a:t>
            </a:r>
            <a:r>
              <a:rPr lang="en-US" sz="1800" dirty="0">
                <a:latin typeface="Andale Mono" panose="020B0509000000000004" pitchFamily="49" charset="0"/>
              </a:rPr>
              <a:t>();   // “no result”</a:t>
            </a:r>
          </a:p>
          <a:p>
            <a:pPr marL="0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you have a value that is something or </a:t>
            </a:r>
            <a:r>
              <a:rPr lang="en-US" i="1" dirty="0"/>
              <a:t>null</a:t>
            </a:r>
          </a:p>
          <a:p>
            <a:pPr marL="0" indent="0">
              <a:buNone/>
            </a:pPr>
            <a:r>
              <a:rPr lang="en-US" sz="1900" dirty="0">
                <a:latin typeface="Andale Mono" panose="020B0509000000000004" pitchFamily="49" charset="0"/>
              </a:rPr>
              <a:t>obj = find(query);</a:t>
            </a:r>
          </a:p>
          <a:p>
            <a:pPr marL="0" indent="0">
              <a:buNone/>
            </a:pPr>
            <a:r>
              <a:rPr lang="en-US" sz="1900" dirty="0">
                <a:latin typeface="Andale Mono" panose="020B0509000000000004" pitchFamily="49" charset="0"/>
              </a:rPr>
              <a:t>return </a:t>
            </a:r>
            <a:r>
              <a:rPr lang="en-US" sz="1900" dirty="0" err="1">
                <a:latin typeface="Andale Mono" panose="020B0509000000000004" pitchFamily="49" charset="0"/>
              </a:rPr>
              <a:t>Optional.ofNullable</a:t>
            </a:r>
            <a:r>
              <a:rPr lang="en-US" sz="1900" dirty="0">
                <a:latin typeface="Andale Mono" panose="020B0509000000000004" pitchFamily="49" charset="0"/>
              </a:rPr>
              <a:t>(obj);</a:t>
            </a:r>
          </a:p>
          <a:p>
            <a:pPr marL="0" indent="0">
              <a:buNone/>
            </a:pPr>
            <a:r>
              <a:rPr lang="en-US" sz="1900" dirty="0">
                <a:latin typeface="Andale Mono" panose="020B0509000000000004" pitchFamily="49" charset="0"/>
              </a:rPr>
              <a:t>	// </a:t>
            </a:r>
            <a:r>
              <a:rPr lang="en-US" sz="1900" dirty="0" err="1">
                <a:latin typeface="Andale Mono" panose="020B0509000000000004" pitchFamily="49" charset="0"/>
              </a:rPr>
              <a:t>Optional.of</a:t>
            </a:r>
            <a:r>
              <a:rPr lang="en-US" sz="1900" dirty="0">
                <a:latin typeface="Andale Mono" panose="020B0509000000000004" pitchFamily="49" charset="0"/>
              </a:rPr>
              <a:t>(obj) or </a:t>
            </a:r>
            <a:r>
              <a:rPr lang="en-US" sz="1900" dirty="0" err="1">
                <a:latin typeface="Andale Mono" panose="020B0509000000000004" pitchFamily="49" charset="0"/>
              </a:rPr>
              <a:t>Optional.empty</a:t>
            </a:r>
            <a:r>
              <a:rPr lang="en-US" sz="1900" dirty="0">
                <a:latin typeface="Andale Mono" panose="020B0509000000000004" pitchFamily="49" charset="0"/>
              </a:rPr>
              <a:t>() if obj == null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A269A5-EF8A-E449-B5FB-B359C15BD16B}"/>
              </a:ext>
            </a:extLst>
          </p:cNvPr>
          <p:cNvSpPr txBox="1"/>
          <p:nvPr/>
        </p:nvSpPr>
        <p:spPr>
          <a:xfrm>
            <a:off x="4955822" y="6311900"/>
            <a:ext cx="6898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From Cay </a:t>
            </a:r>
            <a:r>
              <a:rPr lang="en-US" dirty="0" err="1"/>
              <a:t>Horstmann’s</a:t>
            </a:r>
            <a:r>
              <a:rPr lang="en-US" dirty="0"/>
              <a:t> Core Java 11 Advanced course @ O’Reilly Press</a:t>
            </a:r>
          </a:p>
        </p:txBody>
      </p:sp>
    </p:spTree>
    <p:extLst>
      <p:ext uri="{BB962C8B-B14F-4D97-AF65-F5344CB8AC3E}">
        <p14:creationId xmlns:p14="http://schemas.microsoft.com/office/powerpoint/2010/main" val="2896015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5A2AE-4ECD-274E-B123-3423FBCF1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Chaining </a:t>
            </a:r>
            <a:r>
              <a:rPr lang="en-US" dirty="0" err="1"/>
              <a:t>Optionals</a:t>
            </a:r>
            <a:r>
              <a:rPr lang="en-US" dirty="0"/>
              <a:t> (Advanced)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9A69F-4D76-F848-AAC7-B0ABBC7F8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you have some object </a:t>
            </a:r>
            <a:r>
              <a:rPr lang="en-US" sz="1800" dirty="0">
                <a:latin typeface="Andale Mono" panose="020B0509000000000004" pitchFamily="49" charset="0"/>
              </a:rPr>
              <a:t>x</a:t>
            </a:r>
            <a:r>
              <a:rPr lang="en-US" dirty="0"/>
              <a:t> that contains </a:t>
            </a:r>
            <a:r>
              <a:rPr lang="en-US" sz="1800" dirty="0">
                <a:latin typeface="Andale Mono" panose="020B0509000000000004" pitchFamily="49" charset="0"/>
              </a:rPr>
              <a:t>f() </a:t>
            </a:r>
            <a:r>
              <a:rPr lang="en-US" dirty="0"/>
              <a:t>returning </a:t>
            </a:r>
            <a:r>
              <a:rPr lang="en-US" sz="1800" dirty="0">
                <a:latin typeface="Andale Mono" panose="020B0509000000000004" pitchFamily="49" charset="0"/>
              </a:rPr>
              <a:t>Optional&lt;T&gt; </a:t>
            </a:r>
            <a:r>
              <a:rPr lang="en-US" dirty="0"/>
              <a:t>and</a:t>
            </a:r>
            <a:r>
              <a:rPr lang="en-US" sz="1800" dirty="0">
                <a:latin typeface="Andale Mono" panose="020B0509000000000004" pitchFamily="49" charset="0"/>
              </a:rPr>
              <a:t> T </a:t>
            </a:r>
            <a:r>
              <a:rPr lang="en-US" dirty="0"/>
              <a:t>has a method </a:t>
            </a:r>
            <a:r>
              <a:rPr lang="en-US" sz="1800" dirty="0">
                <a:latin typeface="Andale Mono" panose="020B0509000000000004" pitchFamily="49" charset="0"/>
              </a:rPr>
              <a:t>g() </a:t>
            </a:r>
            <a:r>
              <a:rPr lang="en-US" dirty="0"/>
              <a:t>yielding an</a:t>
            </a:r>
            <a:r>
              <a:rPr lang="en-US" sz="1800" dirty="0">
                <a:latin typeface="Andale Mono" panose="020B0509000000000004" pitchFamily="49" charset="0"/>
              </a:rPr>
              <a:t> Optional&lt;U&gt;</a:t>
            </a:r>
          </a:p>
          <a:p>
            <a:r>
              <a:rPr lang="en-US" dirty="0"/>
              <a:t>Suppose also you want to chain calls, e.g.:</a:t>
            </a:r>
          </a:p>
          <a:p>
            <a:pPr lvl="1"/>
            <a:r>
              <a:rPr lang="en-US" sz="1800" dirty="0" err="1">
                <a:latin typeface="Andale Mono" panose="020B0509000000000004" pitchFamily="49" charset="0"/>
              </a:rPr>
              <a:t>x.f</a:t>
            </a:r>
            <a:r>
              <a:rPr lang="en-US" sz="1800" dirty="0">
                <a:latin typeface="Andale Mono" panose="020B0509000000000004" pitchFamily="49" charset="0"/>
              </a:rPr>
              <a:t>().g()</a:t>
            </a:r>
          </a:p>
          <a:p>
            <a:r>
              <a:rPr lang="en-US" dirty="0"/>
              <a:t>You cannot do this “as is” </a:t>
            </a:r>
          </a:p>
          <a:p>
            <a:pPr lvl="1"/>
            <a:r>
              <a:rPr lang="en-US" dirty="0"/>
              <a:t>Because </a:t>
            </a:r>
            <a:r>
              <a:rPr lang="en-US" sz="1800" dirty="0">
                <a:latin typeface="Andale Mono" panose="020B0509000000000004" pitchFamily="49" charset="0"/>
              </a:rPr>
              <a:t>f </a:t>
            </a:r>
            <a:r>
              <a:rPr lang="en-US" dirty="0"/>
              <a:t>returns an </a:t>
            </a:r>
            <a:r>
              <a:rPr lang="en-US" sz="1800" dirty="0">
                <a:latin typeface="Andale Mono" panose="020B0509000000000004" pitchFamily="49" charset="0"/>
              </a:rPr>
              <a:t>Optional&lt;T&gt;, </a:t>
            </a:r>
            <a:r>
              <a:rPr lang="en-US" dirty="0"/>
              <a:t>not a</a:t>
            </a:r>
            <a:r>
              <a:rPr lang="en-US" sz="1800" dirty="0">
                <a:latin typeface="Andale Mono" panose="020B0509000000000004" pitchFamily="49" charset="0"/>
              </a:rPr>
              <a:t> T</a:t>
            </a:r>
          </a:p>
          <a:p>
            <a:r>
              <a:rPr lang="en-US" dirty="0" err="1"/>
              <a:t>Flatmap</a:t>
            </a:r>
            <a:r>
              <a:rPr lang="en-US" dirty="0"/>
              <a:t> to the rescue</a:t>
            </a:r>
          </a:p>
          <a:p>
            <a:pPr lvl="1"/>
            <a:r>
              <a:rPr lang="en-US" sz="1800" dirty="0">
                <a:latin typeface="Andale Mono" panose="020B0509000000000004" pitchFamily="49" charset="0"/>
              </a:rPr>
              <a:t>Optional&lt;U&gt; result = </a:t>
            </a:r>
            <a:r>
              <a:rPr lang="en-US" sz="1800" dirty="0" err="1">
                <a:latin typeface="Andale Mono" panose="020B0509000000000004" pitchFamily="49" charset="0"/>
              </a:rPr>
              <a:t>x.f</a:t>
            </a:r>
            <a:r>
              <a:rPr lang="en-US" sz="1800" dirty="0">
                <a:latin typeface="Andale Mono" panose="020B0509000000000004" pitchFamily="49" charset="0"/>
              </a:rPr>
              <a:t>().</a:t>
            </a:r>
            <a:r>
              <a:rPr lang="en-US" sz="1800" dirty="0" err="1">
                <a:latin typeface="Andale Mono" panose="020B0509000000000004" pitchFamily="49" charset="0"/>
              </a:rPr>
              <a:t>flatMap</a:t>
            </a:r>
            <a:r>
              <a:rPr lang="en-US" sz="1800" dirty="0">
                <a:latin typeface="Andale Mono" panose="020B0509000000000004" pitchFamily="49" charset="0"/>
              </a:rPr>
              <a:t>(T::g);</a:t>
            </a:r>
            <a:endParaRPr lang="en-US" sz="1400" dirty="0">
              <a:latin typeface="Andale Mono" panose="020B0509000000000004" pitchFamily="49" charset="0"/>
            </a:endParaRPr>
          </a:p>
          <a:p>
            <a:pPr lvl="1"/>
            <a:r>
              <a:rPr lang="en-US" sz="1800" dirty="0"/>
              <a:t>Think of an Optional as a stream of size 0 or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F7F81-163E-3A43-9577-5540C92ABC52}"/>
              </a:ext>
            </a:extLst>
          </p:cNvPr>
          <p:cNvSpPr txBox="1"/>
          <p:nvPr/>
        </p:nvSpPr>
        <p:spPr>
          <a:xfrm>
            <a:off x="4955822" y="6311900"/>
            <a:ext cx="6898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From Cay </a:t>
            </a:r>
            <a:r>
              <a:rPr lang="en-US" dirty="0" err="1"/>
              <a:t>Horstmann’s</a:t>
            </a:r>
            <a:r>
              <a:rPr lang="en-US" dirty="0"/>
              <a:t> Core Java 11 Advanced course @ O’Reilly Press</a:t>
            </a:r>
          </a:p>
        </p:txBody>
      </p:sp>
    </p:spTree>
    <p:extLst>
      <p:ext uri="{BB962C8B-B14F-4D97-AF65-F5344CB8AC3E}">
        <p14:creationId xmlns:p14="http://schemas.microsoft.com/office/powerpoint/2010/main" val="2584684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33773-D232-8C40-9038-CD36386E3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 Code Smells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33D2B-8719-9842-8295-A95B5991B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variable of type </a:t>
            </a:r>
            <a:r>
              <a:rPr lang="en-US" sz="1800" dirty="0">
                <a:latin typeface="Andale Mono" panose="020B0509000000000004" pitchFamily="49" charset="0"/>
              </a:rPr>
              <a:t>Optional&lt;T&gt;</a:t>
            </a:r>
            <a:r>
              <a:rPr lang="en-US" dirty="0"/>
              <a:t> should never be </a:t>
            </a:r>
            <a:r>
              <a:rPr lang="en-US" i="1" dirty="0"/>
              <a:t>null</a:t>
            </a:r>
          </a:p>
          <a:p>
            <a:pPr lvl="1"/>
            <a:r>
              <a:rPr lang="en-US" dirty="0"/>
              <a:t>That would be super confusing!</a:t>
            </a:r>
          </a:p>
          <a:p>
            <a:r>
              <a:rPr lang="en-US" dirty="0"/>
              <a:t>Avoid parameters of </a:t>
            </a:r>
            <a:r>
              <a:rPr lang="en-US" sz="1800" dirty="0">
                <a:latin typeface="Andale Mono" panose="020B0509000000000004" pitchFamily="49" charset="0"/>
              </a:rPr>
              <a:t>Optional&lt;T&gt;</a:t>
            </a:r>
          </a:p>
          <a:p>
            <a:pPr lvl="1"/>
            <a:r>
              <a:rPr lang="en-US" dirty="0"/>
              <a:t>Clutters up the call site and is unnecessary in most cases</a:t>
            </a:r>
          </a:p>
          <a:p>
            <a:r>
              <a:rPr lang="en-US" dirty="0"/>
              <a:t>A </a:t>
            </a:r>
            <a:r>
              <a:rPr lang="en-US" sz="1800" dirty="0">
                <a:latin typeface="Andale Mono" panose="020B0509000000000004" pitchFamily="49" charset="0"/>
              </a:rPr>
              <a:t>List</a:t>
            </a:r>
            <a:r>
              <a:rPr lang="en-US" dirty="0"/>
              <a:t> of </a:t>
            </a:r>
            <a:r>
              <a:rPr lang="en-US" sz="1800" dirty="0">
                <a:latin typeface="Andale Mono" panose="020B0509000000000004" pitchFamily="49" charset="0"/>
              </a:rPr>
              <a:t>Optional&lt;T&gt;</a:t>
            </a:r>
            <a:r>
              <a:rPr lang="en-US" dirty="0"/>
              <a:t> values or a </a:t>
            </a:r>
            <a:r>
              <a:rPr lang="en-US" sz="1800" dirty="0">
                <a:latin typeface="Andale Mono" panose="020B0509000000000004" pitchFamily="49" charset="0"/>
              </a:rPr>
              <a:t>Map</a:t>
            </a:r>
            <a:r>
              <a:rPr lang="en-US" dirty="0"/>
              <a:t> with </a:t>
            </a:r>
            <a:r>
              <a:rPr lang="en-US" sz="1800" dirty="0">
                <a:latin typeface="Andale Mono" panose="020B0509000000000004" pitchFamily="49" charset="0"/>
              </a:rPr>
              <a:t>Optional&lt;T&gt;</a:t>
            </a:r>
            <a:r>
              <a:rPr lang="en-US" dirty="0"/>
              <a:t> keys is suspect</a:t>
            </a:r>
          </a:p>
          <a:p>
            <a:pPr lvl="1"/>
            <a:r>
              <a:rPr lang="en-US" dirty="0"/>
              <a:t>Instead of </a:t>
            </a:r>
            <a:r>
              <a:rPr lang="en-US" sz="1800" dirty="0">
                <a:latin typeface="Andale Mono" panose="020B0509000000000004" pitchFamily="49" charset="0"/>
              </a:rPr>
              <a:t>List&lt;Optional&lt;String&gt;&gt;</a:t>
            </a:r>
            <a:r>
              <a:rPr lang="en-US" dirty="0"/>
              <a:t>, use </a:t>
            </a:r>
            <a:r>
              <a:rPr lang="en-US" sz="1800" dirty="0">
                <a:latin typeface="Andale Mono" panose="020B0509000000000004" pitchFamily="49" charset="0"/>
              </a:rPr>
              <a:t>List&lt;String&gt;</a:t>
            </a:r>
          </a:p>
          <a:p>
            <a:r>
              <a:rPr lang="en-US" dirty="0"/>
              <a:t>Using an </a:t>
            </a:r>
            <a:r>
              <a:rPr lang="en-US" sz="1800" dirty="0">
                <a:latin typeface="Andale Mono" panose="020B0509000000000004" pitchFamily="49" charset="0"/>
              </a:rPr>
              <a:t>Optional&lt;T&gt;</a:t>
            </a:r>
            <a:r>
              <a:rPr lang="en-US" dirty="0"/>
              <a:t> to make a </a:t>
            </a:r>
            <a:r>
              <a:rPr lang="en-US" sz="1800" dirty="0">
                <a:latin typeface="Andale Mono" panose="020B0509000000000004" pitchFamily="49" charset="0"/>
              </a:rPr>
              <a:t>null</a:t>
            </a:r>
            <a:r>
              <a:rPr lang="en-US" dirty="0"/>
              <a:t> check</a:t>
            </a:r>
          </a:p>
          <a:p>
            <a:pPr lvl="1"/>
            <a:r>
              <a:rPr lang="en-US" sz="1800" dirty="0" err="1">
                <a:latin typeface="Andale Mono" panose="020B0509000000000004" pitchFamily="49" charset="0"/>
              </a:rPr>
              <a:t>Optional.ofNullable</a:t>
            </a:r>
            <a:r>
              <a:rPr lang="en-US" sz="1800" dirty="0">
                <a:latin typeface="Andale Mono" panose="020B0509000000000004" pitchFamily="49" charset="0"/>
              </a:rPr>
              <a:t>(result).</a:t>
            </a:r>
            <a:r>
              <a:rPr lang="en-US" sz="1800" dirty="0" err="1">
                <a:latin typeface="Andale Mono" panose="020B0509000000000004" pitchFamily="49" charset="0"/>
              </a:rPr>
              <a:t>ifPresentOrElse</a:t>
            </a:r>
            <a:r>
              <a:rPr lang="en-US" sz="1800" dirty="0">
                <a:latin typeface="Andale Mono" panose="020B0509000000000004" pitchFamily="49" charset="0"/>
              </a:rPr>
              <a:t>(…); // too complex!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127EA-FB46-CB4A-85F7-87C1A238E41F}"/>
              </a:ext>
            </a:extLst>
          </p:cNvPr>
          <p:cNvSpPr txBox="1"/>
          <p:nvPr/>
        </p:nvSpPr>
        <p:spPr>
          <a:xfrm>
            <a:off x="4955822" y="6311900"/>
            <a:ext cx="6898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From Cay </a:t>
            </a:r>
            <a:r>
              <a:rPr lang="en-US" dirty="0" err="1"/>
              <a:t>Horstmann’s</a:t>
            </a:r>
            <a:r>
              <a:rPr lang="en-US" dirty="0"/>
              <a:t> Core Java 11 Advanced course @ O’Reilly Press</a:t>
            </a:r>
          </a:p>
        </p:txBody>
      </p:sp>
    </p:spTree>
    <p:extLst>
      <p:ext uri="{BB962C8B-B14F-4D97-AF65-F5344CB8AC3E}">
        <p14:creationId xmlns:p14="http://schemas.microsoft.com/office/powerpoint/2010/main" val="2903995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1240</TotalTime>
  <Words>665</Words>
  <Application>Microsoft Macintosh PowerPoint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Andale Mono</vt:lpstr>
      <vt:lpstr>Arial</vt:lpstr>
      <vt:lpstr>Calibri</vt:lpstr>
      <vt:lpstr>Calibri Light</vt:lpstr>
      <vt:lpstr>Office Theme</vt:lpstr>
      <vt:lpstr>Optional&lt;T&gt;</vt:lpstr>
      <vt:lpstr>Why Optional&lt;T&gt;?</vt:lpstr>
      <vt:lpstr>What Does It Do?</vt:lpstr>
      <vt:lpstr>How Is It Used?</vt:lpstr>
      <vt:lpstr>Optional Examples*</vt:lpstr>
      <vt:lpstr>Avoid get()*</vt:lpstr>
      <vt:lpstr>Producing Optionals*</vt:lpstr>
      <vt:lpstr>Chaining Optionals (Advanced)</vt:lpstr>
      <vt:lpstr>Optional Code Smells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Optional&lt;T&gt;</dc:title>
  <dc:creator>John Puopolo</dc:creator>
  <cp:lastModifiedBy>John Puopolo</cp:lastModifiedBy>
  <cp:revision>11</cp:revision>
  <dcterms:created xsi:type="dcterms:W3CDTF">2020-04-30T11:25:31Z</dcterms:created>
  <dcterms:modified xsi:type="dcterms:W3CDTF">2020-07-24T16:36:30Z</dcterms:modified>
</cp:coreProperties>
</file>