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56" r:id="rId2"/>
    <p:sldId id="257" r:id="rId3"/>
    <p:sldId id="261" r:id="rId4"/>
    <p:sldId id="259" r:id="rId5"/>
    <p:sldId id="258" r:id="rId6"/>
    <p:sldId id="260"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63"/>
    <p:restoredTop sz="96405"/>
  </p:normalViewPr>
  <p:slideViewPr>
    <p:cSldViewPr snapToGrid="0" snapToObjects="1">
      <p:cViewPr varScale="1">
        <p:scale>
          <a:sx n="105" d="100"/>
          <a:sy n="105" d="100"/>
        </p:scale>
        <p:origin x="200"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9B5124-9EC9-7446-817D-FEA55EBE4888}" type="datetimeFigureOut">
              <a:rPr lang="en-US" smtClean="0"/>
              <a:t>8/10/20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2D7528-8D40-3442-92FE-A50473B09738}" type="slidenum">
              <a:rPr lang="en-US" smtClean="0"/>
              <a:t>‹#›</a:t>
            </a:fld>
            <a:endParaRPr lang="en-US"/>
          </a:p>
        </p:txBody>
      </p:sp>
    </p:spTree>
    <p:extLst>
      <p:ext uri="{BB962C8B-B14F-4D97-AF65-F5344CB8AC3E}">
        <p14:creationId xmlns:p14="http://schemas.microsoft.com/office/powerpoint/2010/main" val="3891756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35C46-6C75-3641-9490-5E003D8B65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281552-8657-1948-A7BC-993301EE78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11B7D1C8-C540-2648-8D4C-39676B5D149A}"/>
              </a:ext>
            </a:extLst>
          </p:cNvPr>
          <p:cNvSpPr>
            <a:spLocks noGrp="1"/>
          </p:cNvSpPr>
          <p:nvPr>
            <p:ph type="ftr" sz="quarter" idx="11"/>
          </p:nvPr>
        </p:nvSpPr>
        <p:spPr/>
        <p:txBody>
          <a:bodyPr/>
          <a:lstStyle/>
          <a:p>
            <a:r>
              <a:rPr lang="en-US"/>
              <a:t>COMP1050 | Spring 2019 | Puopolo</a:t>
            </a:r>
            <a:endParaRPr lang="en-US" dirty="0"/>
          </a:p>
        </p:txBody>
      </p:sp>
      <p:sp>
        <p:nvSpPr>
          <p:cNvPr id="6" name="Slide Number Placeholder 5">
            <a:extLst>
              <a:ext uri="{FF2B5EF4-FFF2-40B4-BE49-F238E27FC236}">
                <a16:creationId xmlns:a16="http://schemas.microsoft.com/office/drawing/2014/main" id="{FBA72C65-CCFB-674B-B7B9-F83E9CD28716}"/>
              </a:ext>
            </a:extLst>
          </p:cNvPr>
          <p:cNvSpPr>
            <a:spLocks noGrp="1"/>
          </p:cNvSpPr>
          <p:nvPr>
            <p:ph type="sldNum" sz="quarter" idx="12"/>
          </p:nvPr>
        </p:nvSpPr>
        <p:spPr/>
        <p:txBody>
          <a:bodyPr/>
          <a:lstStyle/>
          <a:p>
            <a:fld id="{D3DCE80F-F978-684E-BD81-5BA398573AD8}" type="slidenum">
              <a:rPr lang="en-US" smtClean="0"/>
              <a:t>‹#›</a:t>
            </a:fld>
            <a:endParaRPr lang="en-US"/>
          </a:p>
        </p:txBody>
      </p:sp>
    </p:spTree>
    <p:extLst>
      <p:ext uri="{BB962C8B-B14F-4D97-AF65-F5344CB8AC3E}">
        <p14:creationId xmlns:p14="http://schemas.microsoft.com/office/powerpoint/2010/main" val="3858911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225D6-D766-3640-A841-73D1A44D34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9036C8-2FA1-B949-BDEE-463B32AED3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430ED7D-1C11-9149-9DEF-5319A5020BCD}"/>
              </a:ext>
            </a:extLst>
          </p:cNvPr>
          <p:cNvSpPr>
            <a:spLocks noGrp="1"/>
          </p:cNvSpPr>
          <p:nvPr>
            <p:ph type="ftr" sz="quarter" idx="11"/>
          </p:nvPr>
        </p:nvSpPr>
        <p:spPr/>
        <p:txBody>
          <a:bodyPr/>
          <a:lstStyle/>
          <a:p>
            <a:r>
              <a:rPr lang="en-US" dirty="0"/>
              <a:t>COMP1050 | Fall 2020 | Puopolo</a:t>
            </a:r>
          </a:p>
        </p:txBody>
      </p:sp>
      <p:sp>
        <p:nvSpPr>
          <p:cNvPr id="6" name="Slide Number Placeholder 5">
            <a:extLst>
              <a:ext uri="{FF2B5EF4-FFF2-40B4-BE49-F238E27FC236}">
                <a16:creationId xmlns:a16="http://schemas.microsoft.com/office/drawing/2014/main" id="{BF097DB4-353E-7C48-A547-0DDFF2C547E3}"/>
              </a:ext>
            </a:extLst>
          </p:cNvPr>
          <p:cNvSpPr>
            <a:spLocks noGrp="1"/>
          </p:cNvSpPr>
          <p:nvPr>
            <p:ph type="sldNum" sz="quarter" idx="12"/>
          </p:nvPr>
        </p:nvSpPr>
        <p:spPr/>
        <p:txBody>
          <a:bodyPr/>
          <a:lstStyle/>
          <a:p>
            <a:fld id="{D3DCE80F-F978-684E-BD81-5BA398573AD8}" type="slidenum">
              <a:rPr lang="en-US" smtClean="0"/>
              <a:t>‹#›</a:t>
            </a:fld>
            <a:endParaRPr lang="en-US"/>
          </a:p>
        </p:txBody>
      </p:sp>
    </p:spTree>
    <p:extLst>
      <p:ext uri="{BB962C8B-B14F-4D97-AF65-F5344CB8AC3E}">
        <p14:creationId xmlns:p14="http://schemas.microsoft.com/office/powerpoint/2010/main" val="920584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C2E81-0579-B443-AB09-2B26DC0C38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9D6304-0C10-6940-B5E8-93A0590623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E516B861-E88F-EE44-A1EF-0C7F3C2E55B2}"/>
              </a:ext>
            </a:extLst>
          </p:cNvPr>
          <p:cNvSpPr>
            <a:spLocks noGrp="1"/>
          </p:cNvSpPr>
          <p:nvPr>
            <p:ph type="ftr" sz="quarter" idx="11"/>
          </p:nvPr>
        </p:nvSpPr>
        <p:spPr/>
        <p:txBody>
          <a:bodyPr/>
          <a:lstStyle/>
          <a:p>
            <a:r>
              <a:rPr lang="en-US"/>
              <a:t>COMP1050 | Spring 2019 | Puopolo</a:t>
            </a:r>
          </a:p>
        </p:txBody>
      </p:sp>
      <p:sp>
        <p:nvSpPr>
          <p:cNvPr id="6" name="Slide Number Placeholder 5">
            <a:extLst>
              <a:ext uri="{FF2B5EF4-FFF2-40B4-BE49-F238E27FC236}">
                <a16:creationId xmlns:a16="http://schemas.microsoft.com/office/drawing/2014/main" id="{B037DDA1-3798-9A41-AB77-297AB775C2F4}"/>
              </a:ext>
            </a:extLst>
          </p:cNvPr>
          <p:cNvSpPr>
            <a:spLocks noGrp="1"/>
          </p:cNvSpPr>
          <p:nvPr>
            <p:ph type="sldNum" sz="quarter" idx="12"/>
          </p:nvPr>
        </p:nvSpPr>
        <p:spPr/>
        <p:txBody>
          <a:bodyPr/>
          <a:lstStyle/>
          <a:p>
            <a:fld id="{D3DCE80F-F978-684E-BD81-5BA398573AD8}" type="slidenum">
              <a:rPr lang="en-US" smtClean="0"/>
              <a:t>‹#›</a:t>
            </a:fld>
            <a:endParaRPr lang="en-US"/>
          </a:p>
        </p:txBody>
      </p:sp>
    </p:spTree>
    <p:extLst>
      <p:ext uri="{BB962C8B-B14F-4D97-AF65-F5344CB8AC3E}">
        <p14:creationId xmlns:p14="http://schemas.microsoft.com/office/powerpoint/2010/main" val="3080683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907A6-046A-B94D-9796-3F48F98501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72345B-DE8A-2A4B-BAFD-45ACEB746A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55AABCB-BEFB-894B-B7F4-8FE42B625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1F6B55D9-0D03-A64F-A9EF-2ACD967ADE21}"/>
              </a:ext>
            </a:extLst>
          </p:cNvPr>
          <p:cNvSpPr>
            <a:spLocks noGrp="1"/>
          </p:cNvSpPr>
          <p:nvPr>
            <p:ph type="ftr" sz="quarter" idx="11"/>
          </p:nvPr>
        </p:nvSpPr>
        <p:spPr/>
        <p:txBody>
          <a:bodyPr/>
          <a:lstStyle/>
          <a:p>
            <a:r>
              <a:rPr lang="en-US"/>
              <a:t>COMP1050 | Spring 2019 | Puopolo</a:t>
            </a:r>
          </a:p>
        </p:txBody>
      </p:sp>
      <p:sp>
        <p:nvSpPr>
          <p:cNvPr id="7" name="Slide Number Placeholder 6">
            <a:extLst>
              <a:ext uri="{FF2B5EF4-FFF2-40B4-BE49-F238E27FC236}">
                <a16:creationId xmlns:a16="http://schemas.microsoft.com/office/drawing/2014/main" id="{7598E101-20D3-3A4D-9DF0-A4B1207F5672}"/>
              </a:ext>
            </a:extLst>
          </p:cNvPr>
          <p:cNvSpPr>
            <a:spLocks noGrp="1"/>
          </p:cNvSpPr>
          <p:nvPr>
            <p:ph type="sldNum" sz="quarter" idx="12"/>
          </p:nvPr>
        </p:nvSpPr>
        <p:spPr/>
        <p:txBody>
          <a:bodyPr/>
          <a:lstStyle/>
          <a:p>
            <a:fld id="{D3DCE80F-F978-684E-BD81-5BA398573AD8}" type="slidenum">
              <a:rPr lang="en-US" smtClean="0"/>
              <a:t>‹#›</a:t>
            </a:fld>
            <a:endParaRPr lang="en-US"/>
          </a:p>
        </p:txBody>
      </p:sp>
    </p:spTree>
    <p:extLst>
      <p:ext uri="{BB962C8B-B14F-4D97-AF65-F5344CB8AC3E}">
        <p14:creationId xmlns:p14="http://schemas.microsoft.com/office/powerpoint/2010/main" val="3827171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57A02-49CC-9340-884F-73C13B4E75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EB997E-5EC2-C443-AADD-F21B591500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80A7B1-FD65-5346-B8A0-8F2175E7D9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62D201-87E9-8A4D-934F-8AD0B34760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6C4A1D-D694-2B41-B548-4FCD33BDA3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F234C59F-0D8C-D04A-AC00-48A83463A297}"/>
              </a:ext>
            </a:extLst>
          </p:cNvPr>
          <p:cNvSpPr>
            <a:spLocks noGrp="1"/>
          </p:cNvSpPr>
          <p:nvPr>
            <p:ph type="ftr" sz="quarter" idx="11"/>
          </p:nvPr>
        </p:nvSpPr>
        <p:spPr/>
        <p:txBody>
          <a:bodyPr/>
          <a:lstStyle/>
          <a:p>
            <a:r>
              <a:rPr lang="en-US"/>
              <a:t>COMP1050 | Spring 2019 | Puopolo</a:t>
            </a:r>
          </a:p>
        </p:txBody>
      </p:sp>
      <p:sp>
        <p:nvSpPr>
          <p:cNvPr id="9" name="Slide Number Placeholder 8">
            <a:extLst>
              <a:ext uri="{FF2B5EF4-FFF2-40B4-BE49-F238E27FC236}">
                <a16:creationId xmlns:a16="http://schemas.microsoft.com/office/drawing/2014/main" id="{2FB69640-B107-9C4C-AB65-F4AB428EEBE1}"/>
              </a:ext>
            </a:extLst>
          </p:cNvPr>
          <p:cNvSpPr>
            <a:spLocks noGrp="1"/>
          </p:cNvSpPr>
          <p:nvPr>
            <p:ph type="sldNum" sz="quarter" idx="12"/>
          </p:nvPr>
        </p:nvSpPr>
        <p:spPr/>
        <p:txBody>
          <a:bodyPr/>
          <a:lstStyle/>
          <a:p>
            <a:fld id="{D3DCE80F-F978-684E-BD81-5BA398573AD8}" type="slidenum">
              <a:rPr lang="en-US" smtClean="0"/>
              <a:t>‹#›</a:t>
            </a:fld>
            <a:endParaRPr lang="en-US"/>
          </a:p>
        </p:txBody>
      </p:sp>
    </p:spTree>
    <p:extLst>
      <p:ext uri="{BB962C8B-B14F-4D97-AF65-F5344CB8AC3E}">
        <p14:creationId xmlns:p14="http://schemas.microsoft.com/office/powerpoint/2010/main" val="61256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2F1C5-50A0-CE41-832B-024CAF6EDD4C}"/>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258844A0-2AF4-E84B-BDE0-2530FCA6FB98}"/>
              </a:ext>
            </a:extLst>
          </p:cNvPr>
          <p:cNvSpPr>
            <a:spLocks noGrp="1"/>
          </p:cNvSpPr>
          <p:nvPr>
            <p:ph type="ftr" sz="quarter" idx="11"/>
          </p:nvPr>
        </p:nvSpPr>
        <p:spPr/>
        <p:txBody>
          <a:bodyPr/>
          <a:lstStyle/>
          <a:p>
            <a:r>
              <a:rPr lang="en-US"/>
              <a:t>COMP1050 | Spring 2019 | Puopolo</a:t>
            </a:r>
          </a:p>
        </p:txBody>
      </p:sp>
      <p:sp>
        <p:nvSpPr>
          <p:cNvPr id="5" name="Slide Number Placeholder 4">
            <a:extLst>
              <a:ext uri="{FF2B5EF4-FFF2-40B4-BE49-F238E27FC236}">
                <a16:creationId xmlns:a16="http://schemas.microsoft.com/office/drawing/2014/main" id="{F42E29C2-0663-5643-A132-3686487ADDD1}"/>
              </a:ext>
            </a:extLst>
          </p:cNvPr>
          <p:cNvSpPr>
            <a:spLocks noGrp="1"/>
          </p:cNvSpPr>
          <p:nvPr>
            <p:ph type="sldNum" sz="quarter" idx="12"/>
          </p:nvPr>
        </p:nvSpPr>
        <p:spPr/>
        <p:txBody>
          <a:bodyPr/>
          <a:lstStyle/>
          <a:p>
            <a:fld id="{D3DCE80F-F978-684E-BD81-5BA398573AD8}" type="slidenum">
              <a:rPr lang="en-US" smtClean="0"/>
              <a:t>‹#›</a:t>
            </a:fld>
            <a:endParaRPr lang="en-US"/>
          </a:p>
        </p:txBody>
      </p:sp>
    </p:spTree>
    <p:extLst>
      <p:ext uri="{BB962C8B-B14F-4D97-AF65-F5344CB8AC3E}">
        <p14:creationId xmlns:p14="http://schemas.microsoft.com/office/powerpoint/2010/main" val="18490415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6CDD441-BD60-8F41-9DAF-B6EEAB2A766F}"/>
              </a:ext>
            </a:extLst>
          </p:cNvPr>
          <p:cNvSpPr>
            <a:spLocks noGrp="1"/>
          </p:cNvSpPr>
          <p:nvPr>
            <p:ph type="ftr" sz="quarter" idx="11"/>
          </p:nvPr>
        </p:nvSpPr>
        <p:spPr/>
        <p:txBody>
          <a:bodyPr/>
          <a:lstStyle/>
          <a:p>
            <a:r>
              <a:rPr lang="en-US"/>
              <a:t>COMP1050 | Spring 2019 | Puopolo</a:t>
            </a:r>
          </a:p>
        </p:txBody>
      </p:sp>
      <p:sp>
        <p:nvSpPr>
          <p:cNvPr id="4" name="Slide Number Placeholder 3">
            <a:extLst>
              <a:ext uri="{FF2B5EF4-FFF2-40B4-BE49-F238E27FC236}">
                <a16:creationId xmlns:a16="http://schemas.microsoft.com/office/drawing/2014/main" id="{9FD4615C-A4E9-414C-AB45-C2BC886F7B9A}"/>
              </a:ext>
            </a:extLst>
          </p:cNvPr>
          <p:cNvSpPr>
            <a:spLocks noGrp="1"/>
          </p:cNvSpPr>
          <p:nvPr>
            <p:ph type="sldNum" sz="quarter" idx="12"/>
          </p:nvPr>
        </p:nvSpPr>
        <p:spPr/>
        <p:txBody>
          <a:bodyPr/>
          <a:lstStyle/>
          <a:p>
            <a:fld id="{D3DCE80F-F978-684E-BD81-5BA398573AD8}" type="slidenum">
              <a:rPr lang="en-US" smtClean="0"/>
              <a:t>‹#›</a:t>
            </a:fld>
            <a:endParaRPr lang="en-US"/>
          </a:p>
        </p:txBody>
      </p:sp>
    </p:spTree>
    <p:extLst>
      <p:ext uri="{BB962C8B-B14F-4D97-AF65-F5344CB8AC3E}">
        <p14:creationId xmlns:p14="http://schemas.microsoft.com/office/powerpoint/2010/main" val="986566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63200-DE0F-D64F-B57C-027D3186A9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A9C2A1F-1CD4-D942-98B3-472303B710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AB3EB0-7B05-BF40-BC7C-E08DF9415E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32FB59F3-CF66-414A-8D4B-1CA02778694A}"/>
              </a:ext>
            </a:extLst>
          </p:cNvPr>
          <p:cNvSpPr>
            <a:spLocks noGrp="1"/>
          </p:cNvSpPr>
          <p:nvPr>
            <p:ph type="ftr" sz="quarter" idx="11"/>
          </p:nvPr>
        </p:nvSpPr>
        <p:spPr/>
        <p:txBody>
          <a:bodyPr/>
          <a:lstStyle/>
          <a:p>
            <a:r>
              <a:rPr lang="en-US"/>
              <a:t>COMP1050 | Spring 2019 | Puopolo</a:t>
            </a:r>
          </a:p>
        </p:txBody>
      </p:sp>
      <p:sp>
        <p:nvSpPr>
          <p:cNvPr id="7" name="Slide Number Placeholder 6">
            <a:extLst>
              <a:ext uri="{FF2B5EF4-FFF2-40B4-BE49-F238E27FC236}">
                <a16:creationId xmlns:a16="http://schemas.microsoft.com/office/drawing/2014/main" id="{7BF85E8D-33CF-CE49-876C-70F7A4E74F87}"/>
              </a:ext>
            </a:extLst>
          </p:cNvPr>
          <p:cNvSpPr>
            <a:spLocks noGrp="1"/>
          </p:cNvSpPr>
          <p:nvPr>
            <p:ph type="sldNum" sz="quarter" idx="12"/>
          </p:nvPr>
        </p:nvSpPr>
        <p:spPr/>
        <p:txBody>
          <a:bodyPr/>
          <a:lstStyle/>
          <a:p>
            <a:fld id="{D3DCE80F-F978-684E-BD81-5BA398573AD8}" type="slidenum">
              <a:rPr lang="en-US" smtClean="0"/>
              <a:t>‹#›</a:t>
            </a:fld>
            <a:endParaRPr lang="en-US"/>
          </a:p>
        </p:txBody>
      </p:sp>
    </p:spTree>
    <p:extLst>
      <p:ext uri="{BB962C8B-B14F-4D97-AF65-F5344CB8AC3E}">
        <p14:creationId xmlns:p14="http://schemas.microsoft.com/office/powerpoint/2010/main" val="589601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266C1-6E9C-6F41-A53C-67349FE51C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FFBF222-6D8E-0843-9A11-331CB562A0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0BC6E417-B09C-EB41-A6C2-F45F7F6596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010397E-82E4-D04F-96D4-7F7E6BA6545A}"/>
              </a:ext>
            </a:extLst>
          </p:cNvPr>
          <p:cNvSpPr>
            <a:spLocks noGrp="1"/>
          </p:cNvSpPr>
          <p:nvPr>
            <p:ph type="ftr" sz="quarter" idx="11"/>
          </p:nvPr>
        </p:nvSpPr>
        <p:spPr/>
        <p:txBody>
          <a:bodyPr/>
          <a:lstStyle/>
          <a:p>
            <a:r>
              <a:rPr lang="en-US"/>
              <a:t>COMP1050 | Spring 2019 | Puopolo</a:t>
            </a:r>
          </a:p>
        </p:txBody>
      </p:sp>
      <p:sp>
        <p:nvSpPr>
          <p:cNvPr id="7" name="Slide Number Placeholder 6">
            <a:extLst>
              <a:ext uri="{FF2B5EF4-FFF2-40B4-BE49-F238E27FC236}">
                <a16:creationId xmlns:a16="http://schemas.microsoft.com/office/drawing/2014/main" id="{0F8E85A2-15FC-8F4F-A790-584DB2207BB0}"/>
              </a:ext>
            </a:extLst>
          </p:cNvPr>
          <p:cNvSpPr>
            <a:spLocks noGrp="1"/>
          </p:cNvSpPr>
          <p:nvPr>
            <p:ph type="sldNum" sz="quarter" idx="12"/>
          </p:nvPr>
        </p:nvSpPr>
        <p:spPr/>
        <p:txBody>
          <a:bodyPr/>
          <a:lstStyle/>
          <a:p>
            <a:fld id="{D3DCE80F-F978-684E-BD81-5BA398573AD8}" type="slidenum">
              <a:rPr lang="en-US" smtClean="0"/>
              <a:t>‹#›</a:t>
            </a:fld>
            <a:endParaRPr lang="en-US"/>
          </a:p>
        </p:txBody>
      </p:sp>
    </p:spTree>
    <p:extLst>
      <p:ext uri="{BB962C8B-B14F-4D97-AF65-F5344CB8AC3E}">
        <p14:creationId xmlns:p14="http://schemas.microsoft.com/office/powerpoint/2010/main" val="13947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7DC6-0B6A-074D-833C-0B0B410D7F5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7FAAE9-8970-3A45-91B1-F3DBD4E741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84F68652-1005-6D41-B8A4-7520CE47A76C}"/>
              </a:ext>
            </a:extLst>
          </p:cNvPr>
          <p:cNvSpPr>
            <a:spLocks noGrp="1"/>
          </p:cNvSpPr>
          <p:nvPr>
            <p:ph type="ftr" sz="quarter" idx="11"/>
          </p:nvPr>
        </p:nvSpPr>
        <p:spPr/>
        <p:txBody>
          <a:bodyPr/>
          <a:lstStyle/>
          <a:p>
            <a:r>
              <a:rPr lang="en-US"/>
              <a:t>COMP1050 | Spring 2019 | Puopolo</a:t>
            </a:r>
          </a:p>
        </p:txBody>
      </p:sp>
      <p:sp>
        <p:nvSpPr>
          <p:cNvPr id="6" name="Slide Number Placeholder 5">
            <a:extLst>
              <a:ext uri="{FF2B5EF4-FFF2-40B4-BE49-F238E27FC236}">
                <a16:creationId xmlns:a16="http://schemas.microsoft.com/office/drawing/2014/main" id="{4D01F2FD-A518-A44E-A0F9-FA05C17674A2}"/>
              </a:ext>
            </a:extLst>
          </p:cNvPr>
          <p:cNvSpPr>
            <a:spLocks noGrp="1"/>
          </p:cNvSpPr>
          <p:nvPr>
            <p:ph type="sldNum" sz="quarter" idx="12"/>
          </p:nvPr>
        </p:nvSpPr>
        <p:spPr/>
        <p:txBody>
          <a:bodyPr/>
          <a:lstStyle/>
          <a:p>
            <a:fld id="{D3DCE80F-F978-684E-BD81-5BA398573AD8}" type="slidenum">
              <a:rPr lang="en-US" smtClean="0"/>
              <a:t>‹#›</a:t>
            </a:fld>
            <a:endParaRPr lang="en-US"/>
          </a:p>
        </p:txBody>
      </p:sp>
    </p:spTree>
    <p:extLst>
      <p:ext uri="{BB962C8B-B14F-4D97-AF65-F5344CB8AC3E}">
        <p14:creationId xmlns:p14="http://schemas.microsoft.com/office/powerpoint/2010/main" val="3890181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D164F5-666C-5E4B-A54A-C9B56934F48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CB2D40-8C4E-C040-AEA1-2EF5710D28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67CBECC-F9C8-8D42-A763-57F91F30A3BB}"/>
              </a:ext>
            </a:extLst>
          </p:cNvPr>
          <p:cNvSpPr>
            <a:spLocks noGrp="1"/>
          </p:cNvSpPr>
          <p:nvPr>
            <p:ph type="ftr" sz="quarter" idx="11"/>
          </p:nvPr>
        </p:nvSpPr>
        <p:spPr/>
        <p:txBody>
          <a:bodyPr/>
          <a:lstStyle/>
          <a:p>
            <a:r>
              <a:rPr lang="en-US"/>
              <a:t>COMP1050 | Spring 2019 | Puopolo</a:t>
            </a:r>
          </a:p>
        </p:txBody>
      </p:sp>
      <p:sp>
        <p:nvSpPr>
          <p:cNvPr id="6" name="Slide Number Placeholder 5">
            <a:extLst>
              <a:ext uri="{FF2B5EF4-FFF2-40B4-BE49-F238E27FC236}">
                <a16:creationId xmlns:a16="http://schemas.microsoft.com/office/drawing/2014/main" id="{1656BAD5-ECA8-204D-B391-05B855164988}"/>
              </a:ext>
            </a:extLst>
          </p:cNvPr>
          <p:cNvSpPr>
            <a:spLocks noGrp="1"/>
          </p:cNvSpPr>
          <p:nvPr>
            <p:ph type="sldNum" sz="quarter" idx="12"/>
          </p:nvPr>
        </p:nvSpPr>
        <p:spPr/>
        <p:txBody>
          <a:bodyPr/>
          <a:lstStyle/>
          <a:p>
            <a:fld id="{D3DCE80F-F978-684E-BD81-5BA398573AD8}" type="slidenum">
              <a:rPr lang="en-US" smtClean="0"/>
              <a:t>‹#›</a:t>
            </a:fld>
            <a:endParaRPr lang="en-US"/>
          </a:p>
        </p:txBody>
      </p:sp>
    </p:spTree>
    <p:extLst>
      <p:ext uri="{BB962C8B-B14F-4D97-AF65-F5344CB8AC3E}">
        <p14:creationId xmlns:p14="http://schemas.microsoft.com/office/powerpoint/2010/main" val="1736669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100B40-F97F-2240-B18C-D8F1C34D74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5BE5BF9-2863-1246-A255-F5DDF36B31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EA2ECA8-F233-2743-84EF-8BDF9C180D2B}"/>
              </a:ext>
            </a:extLst>
          </p:cNvPr>
          <p:cNvSpPr>
            <a:spLocks noGrp="1"/>
          </p:cNvSpPr>
          <p:nvPr>
            <p:ph type="ftr" sz="quarter" idx="3"/>
          </p:nvPr>
        </p:nvSpPr>
        <p:spPr>
          <a:xfrm>
            <a:off x="838200" y="6324011"/>
            <a:ext cx="411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COMP1050 | Spring 2019 | Puopolo</a:t>
            </a:r>
            <a:endParaRPr lang="en-US" dirty="0"/>
          </a:p>
        </p:txBody>
      </p:sp>
      <p:sp>
        <p:nvSpPr>
          <p:cNvPr id="6" name="Slide Number Placeholder 5">
            <a:extLst>
              <a:ext uri="{FF2B5EF4-FFF2-40B4-BE49-F238E27FC236}">
                <a16:creationId xmlns:a16="http://schemas.microsoft.com/office/drawing/2014/main" id="{DC2CC447-9197-4B46-A919-543D4C9894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DCE80F-F978-684E-BD81-5BA398573AD8}" type="slidenum">
              <a:rPr lang="en-US" smtClean="0"/>
              <a:t>‹#›</a:t>
            </a:fld>
            <a:endParaRPr lang="en-US"/>
          </a:p>
        </p:txBody>
      </p:sp>
    </p:spTree>
    <p:extLst>
      <p:ext uri="{BB962C8B-B14F-4D97-AF65-F5344CB8AC3E}">
        <p14:creationId xmlns:p14="http://schemas.microsoft.com/office/powerpoint/2010/main" val="3198953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3A8A1-0975-114A-9F90-559D2FAECA84}"/>
              </a:ext>
            </a:extLst>
          </p:cNvPr>
          <p:cNvSpPr>
            <a:spLocks noGrp="1"/>
          </p:cNvSpPr>
          <p:nvPr>
            <p:ph type="ctrTitle"/>
          </p:nvPr>
        </p:nvSpPr>
        <p:spPr/>
        <p:txBody>
          <a:bodyPr/>
          <a:lstStyle/>
          <a:p>
            <a:r>
              <a:rPr lang="en-US" dirty="0" err="1"/>
              <a:t>Lambas</a:t>
            </a:r>
            <a:endParaRPr lang="en-US" dirty="0"/>
          </a:p>
        </p:txBody>
      </p:sp>
      <p:sp>
        <p:nvSpPr>
          <p:cNvPr id="3" name="Subtitle 2">
            <a:extLst>
              <a:ext uri="{FF2B5EF4-FFF2-40B4-BE49-F238E27FC236}">
                <a16:creationId xmlns:a16="http://schemas.microsoft.com/office/drawing/2014/main" id="{BF41A93B-5540-884A-92A5-9E751246508D}"/>
              </a:ext>
            </a:extLst>
          </p:cNvPr>
          <p:cNvSpPr>
            <a:spLocks noGrp="1"/>
          </p:cNvSpPr>
          <p:nvPr>
            <p:ph type="subTitle" idx="1"/>
          </p:nvPr>
        </p:nvSpPr>
        <p:spPr/>
        <p:txBody>
          <a:bodyPr/>
          <a:lstStyle/>
          <a:p>
            <a:r>
              <a:rPr lang="en-US" dirty="0"/>
              <a:t>The Basics</a:t>
            </a:r>
          </a:p>
        </p:txBody>
      </p:sp>
    </p:spTree>
    <p:extLst>
      <p:ext uri="{BB962C8B-B14F-4D97-AF65-F5344CB8AC3E}">
        <p14:creationId xmlns:p14="http://schemas.microsoft.com/office/powerpoint/2010/main" val="269435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6AEF4-ABD3-7149-A0AD-2887D8FA075E}"/>
              </a:ext>
            </a:extLst>
          </p:cNvPr>
          <p:cNvSpPr>
            <a:spLocks noGrp="1"/>
          </p:cNvSpPr>
          <p:nvPr>
            <p:ph type="title"/>
          </p:nvPr>
        </p:nvSpPr>
        <p:spPr/>
        <p:txBody>
          <a:bodyPr/>
          <a:lstStyle/>
          <a:p>
            <a:r>
              <a:rPr lang="en-US" dirty="0"/>
              <a:t>Interface-Based Development</a:t>
            </a:r>
          </a:p>
        </p:txBody>
      </p:sp>
      <p:sp>
        <p:nvSpPr>
          <p:cNvPr id="3" name="Content Placeholder 2">
            <a:extLst>
              <a:ext uri="{FF2B5EF4-FFF2-40B4-BE49-F238E27FC236}">
                <a16:creationId xmlns:a16="http://schemas.microsoft.com/office/drawing/2014/main" id="{2E960CA5-C586-9D46-BB7C-2CD2A9E18FA4}"/>
              </a:ext>
            </a:extLst>
          </p:cNvPr>
          <p:cNvSpPr>
            <a:spLocks noGrp="1"/>
          </p:cNvSpPr>
          <p:nvPr>
            <p:ph idx="1"/>
          </p:nvPr>
        </p:nvSpPr>
        <p:spPr/>
        <p:txBody>
          <a:bodyPr/>
          <a:lstStyle/>
          <a:p>
            <a:r>
              <a:rPr lang="en-US" dirty="0"/>
              <a:t>Programming </a:t>
            </a:r>
            <a:r>
              <a:rPr lang="en-US" i="1" dirty="0"/>
              <a:t>to an interface </a:t>
            </a:r>
            <a:r>
              <a:rPr lang="en-US" dirty="0"/>
              <a:t>is generally considered a best practice</a:t>
            </a:r>
          </a:p>
          <a:p>
            <a:r>
              <a:rPr lang="en-US" dirty="0"/>
              <a:t>It’s the basis for abstraction and helps enable dependency injection</a:t>
            </a:r>
          </a:p>
          <a:p>
            <a:pPr lvl="1"/>
            <a:r>
              <a:rPr lang="en-US" dirty="0"/>
              <a:t>Also called Aspect-Oriented Programming (AOP)</a:t>
            </a:r>
          </a:p>
          <a:p>
            <a:pPr lvl="1"/>
            <a:r>
              <a:rPr lang="en-US" dirty="0"/>
              <a:t>Also called Inversion of Control (</a:t>
            </a:r>
            <a:r>
              <a:rPr lang="en-US" dirty="0" err="1"/>
              <a:t>IoC</a:t>
            </a:r>
            <a:r>
              <a:rPr lang="en-US" dirty="0"/>
              <a:t>)</a:t>
            </a:r>
          </a:p>
          <a:p>
            <a:r>
              <a:rPr lang="en-US" dirty="0"/>
              <a:t>It’s also the basis of functional programming (covered Week 12)</a:t>
            </a:r>
          </a:p>
          <a:p>
            <a:r>
              <a:rPr lang="en-US" dirty="0"/>
              <a:t>Useful Java APIs are expressed via interfaces</a:t>
            </a:r>
          </a:p>
          <a:p>
            <a:r>
              <a:rPr lang="en-US" dirty="0"/>
              <a:t>Interfaces with exactly one abstract method are called </a:t>
            </a:r>
            <a:r>
              <a:rPr lang="en-US" i="1" dirty="0"/>
              <a:t>functional interfaces</a:t>
            </a:r>
          </a:p>
          <a:p>
            <a:endParaRPr lang="en-US" dirty="0"/>
          </a:p>
        </p:txBody>
      </p:sp>
      <p:sp>
        <p:nvSpPr>
          <p:cNvPr id="4" name="Footer Placeholder 3">
            <a:extLst>
              <a:ext uri="{FF2B5EF4-FFF2-40B4-BE49-F238E27FC236}">
                <a16:creationId xmlns:a16="http://schemas.microsoft.com/office/drawing/2014/main" id="{32C8FC85-EB4D-2F41-8C0A-DC8C0AFEDBC7}"/>
              </a:ext>
            </a:extLst>
          </p:cNvPr>
          <p:cNvSpPr>
            <a:spLocks noGrp="1"/>
          </p:cNvSpPr>
          <p:nvPr>
            <p:ph type="ftr" sz="quarter" idx="11"/>
          </p:nvPr>
        </p:nvSpPr>
        <p:spPr/>
        <p:txBody>
          <a:bodyPr/>
          <a:lstStyle/>
          <a:p>
            <a:r>
              <a:rPr lang="en-US" dirty="0"/>
              <a:t>COMP1050 | Fall 2020 | Puopolo</a:t>
            </a:r>
          </a:p>
        </p:txBody>
      </p:sp>
      <p:sp>
        <p:nvSpPr>
          <p:cNvPr id="5" name="Slide Number Placeholder 4">
            <a:extLst>
              <a:ext uri="{FF2B5EF4-FFF2-40B4-BE49-F238E27FC236}">
                <a16:creationId xmlns:a16="http://schemas.microsoft.com/office/drawing/2014/main" id="{91D48D17-0FD8-F244-BF2B-BE887BA3A354}"/>
              </a:ext>
            </a:extLst>
          </p:cNvPr>
          <p:cNvSpPr>
            <a:spLocks noGrp="1"/>
          </p:cNvSpPr>
          <p:nvPr>
            <p:ph type="sldNum" sz="quarter" idx="12"/>
          </p:nvPr>
        </p:nvSpPr>
        <p:spPr/>
        <p:txBody>
          <a:bodyPr/>
          <a:lstStyle/>
          <a:p>
            <a:fld id="{D3DCE80F-F978-684E-BD81-5BA398573AD8}" type="slidenum">
              <a:rPr lang="en-US" smtClean="0"/>
              <a:t>2</a:t>
            </a:fld>
            <a:endParaRPr lang="en-US"/>
          </a:p>
        </p:txBody>
      </p:sp>
    </p:spTree>
    <p:extLst>
      <p:ext uri="{BB962C8B-B14F-4D97-AF65-F5344CB8AC3E}">
        <p14:creationId xmlns:p14="http://schemas.microsoft.com/office/powerpoint/2010/main" val="575646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F4657-04B4-0143-B400-2ED34CBE8B25}"/>
              </a:ext>
            </a:extLst>
          </p:cNvPr>
          <p:cNvSpPr>
            <a:spLocks noGrp="1"/>
          </p:cNvSpPr>
          <p:nvPr>
            <p:ph type="title"/>
          </p:nvPr>
        </p:nvSpPr>
        <p:spPr/>
        <p:txBody>
          <a:bodyPr/>
          <a:lstStyle/>
          <a:p>
            <a:r>
              <a:rPr lang="en-US" dirty="0"/>
              <a:t>Interface-Based Development</a:t>
            </a:r>
          </a:p>
        </p:txBody>
      </p:sp>
      <p:sp>
        <p:nvSpPr>
          <p:cNvPr id="4" name="Footer Placeholder 3">
            <a:extLst>
              <a:ext uri="{FF2B5EF4-FFF2-40B4-BE49-F238E27FC236}">
                <a16:creationId xmlns:a16="http://schemas.microsoft.com/office/drawing/2014/main" id="{E58A4BDD-143F-7D42-ABBA-77B6ABB1CC88}"/>
              </a:ext>
            </a:extLst>
          </p:cNvPr>
          <p:cNvSpPr>
            <a:spLocks noGrp="1"/>
          </p:cNvSpPr>
          <p:nvPr>
            <p:ph type="ftr" sz="quarter" idx="11"/>
          </p:nvPr>
        </p:nvSpPr>
        <p:spPr/>
        <p:txBody>
          <a:bodyPr/>
          <a:lstStyle/>
          <a:p>
            <a:r>
              <a:rPr lang="en-US"/>
              <a:t>COMP1050 | Fall 2020 | Puopolo</a:t>
            </a:r>
            <a:endParaRPr lang="en-US" dirty="0"/>
          </a:p>
        </p:txBody>
      </p:sp>
      <p:sp>
        <p:nvSpPr>
          <p:cNvPr id="5" name="Slide Number Placeholder 4">
            <a:extLst>
              <a:ext uri="{FF2B5EF4-FFF2-40B4-BE49-F238E27FC236}">
                <a16:creationId xmlns:a16="http://schemas.microsoft.com/office/drawing/2014/main" id="{C7A9CF08-21E1-9C42-BDBF-A2DDB4A1F32D}"/>
              </a:ext>
            </a:extLst>
          </p:cNvPr>
          <p:cNvSpPr>
            <a:spLocks noGrp="1"/>
          </p:cNvSpPr>
          <p:nvPr>
            <p:ph type="sldNum" sz="quarter" idx="12"/>
          </p:nvPr>
        </p:nvSpPr>
        <p:spPr/>
        <p:txBody>
          <a:bodyPr/>
          <a:lstStyle/>
          <a:p>
            <a:fld id="{D3DCE80F-F978-684E-BD81-5BA398573AD8}" type="slidenum">
              <a:rPr lang="en-US" smtClean="0"/>
              <a:t>3</a:t>
            </a:fld>
            <a:endParaRPr lang="en-US"/>
          </a:p>
        </p:txBody>
      </p:sp>
      <p:sp>
        <p:nvSpPr>
          <p:cNvPr id="6" name="Oval 5">
            <a:extLst>
              <a:ext uri="{FF2B5EF4-FFF2-40B4-BE49-F238E27FC236}">
                <a16:creationId xmlns:a16="http://schemas.microsoft.com/office/drawing/2014/main" id="{66BF6AA3-BB76-7840-ACB1-69F9793B2E30}"/>
              </a:ext>
            </a:extLst>
          </p:cNvPr>
          <p:cNvSpPr/>
          <p:nvPr/>
        </p:nvSpPr>
        <p:spPr>
          <a:xfrm>
            <a:off x="4495800" y="2072759"/>
            <a:ext cx="453390" cy="4800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73C3F036-DEFE-7342-9198-3FC74E481738}"/>
              </a:ext>
            </a:extLst>
          </p:cNvPr>
          <p:cNvSpPr/>
          <p:nvPr/>
        </p:nvSpPr>
        <p:spPr>
          <a:xfrm>
            <a:off x="1634490" y="1827014"/>
            <a:ext cx="1946910" cy="1234639"/>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Implementation Class X</a:t>
            </a:r>
          </a:p>
        </p:txBody>
      </p:sp>
      <p:cxnSp>
        <p:nvCxnSpPr>
          <p:cNvPr id="9" name="Straight Connector 8">
            <a:extLst>
              <a:ext uri="{FF2B5EF4-FFF2-40B4-BE49-F238E27FC236}">
                <a16:creationId xmlns:a16="http://schemas.microsoft.com/office/drawing/2014/main" id="{77E57900-7B2C-B944-A3ED-29BD6A1F210C}"/>
              </a:ext>
            </a:extLst>
          </p:cNvPr>
          <p:cNvCxnSpPr>
            <a:cxnSpLocks/>
            <a:endCxn id="6" idx="2"/>
          </p:cNvCxnSpPr>
          <p:nvPr/>
        </p:nvCxnSpPr>
        <p:spPr>
          <a:xfrm>
            <a:off x="3581400" y="2312789"/>
            <a:ext cx="914400"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B70C34B-F4EF-F74C-879D-A8133FD1CC0F}"/>
              </a:ext>
            </a:extLst>
          </p:cNvPr>
          <p:cNvSpPr txBox="1"/>
          <p:nvPr/>
        </p:nvSpPr>
        <p:spPr>
          <a:xfrm>
            <a:off x="4128967" y="1700570"/>
            <a:ext cx="1187056" cy="369332"/>
          </a:xfrm>
          <a:prstGeom prst="rect">
            <a:avLst/>
          </a:prstGeom>
          <a:noFill/>
        </p:spPr>
        <p:txBody>
          <a:bodyPr wrap="none" rtlCol="0">
            <a:spAutoFit/>
          </a:bodyPr>
          <a:lstStyle/>
          <a:p>
            <a:r>
              <a:rPr lang="en-US" dirty="0"/>
              <a:t>Interface Y</a:t>
            </a:r>
          </a:p>
        </p:txBody>
      </p:sp>
      <p:sp>
        <p:nvSpPr>
          <p:cNvPr id="13" name="TextBox 12">
            <a:extLst>
              <a:ext uri="{FF2B5EF4-FFF2-40B4-BE49-F238E27FC236}">
                <a16:creationId xmlns:a16="http://schemas.microsoft.com/office/drawing/2014/main" id="{3AF06133-A9CB-7D4F-BF97-63942D23F95E}"/>
              </a:ext>
            </a:extLst>
          </p:cNvPr>
          <p:cNvSpPr txBox="1"/>
          <p:nvPr/>
        </p:nvSpPr>
        <p:spPr>
          <a:xfrm>
            <a:off x="6096000" y="1851124"/>
            <a:ext cx="3817620" cy="923330"/>
          </a:xfrm>
          <a:prstGeom prst="rect">
            <a:avLst/>
          </a:prstGeom>
          <a:noFill/>
        </p:spPr>
        <p:txBody>
          <a:bodyPr wrap="square" rtlCol="0">
            <a:spAutoFit/>
          </a:bodyPr>
          <a:lstStyle/>
          <a:p>
            <a:r>
              <a:rPr lang="en-US" dirty="0">
                <a:latin typeface="Consolas" panose="020B0609020204030204" pitchFamily="49" charset="0"/>
                <a:cs typeface="Consolas" panose="020B0609020204030204" pitchFamily="49" charset="0"/>
              </a:rPr>
              <a:t>class X implements Y {</a:t>
            </a:r>
          </a:p>
          <a:p>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impl</a:t>
            </a:r>
            <a:r>
              <a:rPr lang="en-US" dirty="0">
                <a:latin typeface="Consolas" panose="020B0609020204030204" pitchFamily="49" charset="0"/>
                <a:cs typeface="Consolas" panose="020B0609020204030204" pitchFamily="49" charset="0"/>
              </a:rPr>
              <a:t> Y here</a:t>
            </a:r>
          </a:p>
          <a:p>
            <a:r>
              <a:rPr lang="en-US" dirty="0">
                <a:latin typeface="Consolas" panose="020B0609020204030204" pitchFamily="49" charset="0"/>
                <a:cs typeface="Consolas" panose="020B0609020204030204" pitchFamily="49" charset="0"/>
              </a:rPr>
              <a:t>}</a:t>
            </a:r>
          </a:p>
        </p:txBody>
      </p:sp>
      <p:sp>
        <p:nvSpPr>
          <p:cNvPr id="15" name="Rounded Rectangle 14">
            <a:extLst>
              <a:ext uri="{FF2B5EF4-FFF2-40B4-BE49-F238E27FC236}">
                <a16:creationId xmlns:a16="http://schemas.microsoft.com/office/drawing/2014/main" id="{6A376ED1-1E98-0E49-86A8-9A73E3CFCAE2}"/>
              </a:ext>
            </a:extLst>
          </p:cNvPr>
          <p:cNvSpPr/>
          <p:nvPr/>
        </p:nvSpPr>
        <p:spPr>
          <a:xfrm>
            <a:off x="1634490" y="3914380"/>
            <a:ext cx="1946910" cy="1234639"/>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Implementation Class X</a:t>
            </a:r>
          </a:p>
        </p:txBody>
      </p:sp>
      <p:grpSp>
        <p:nvGrpSpPr>
          <p:cNvPr id="19" name="Group 18">
            <a:extLst>
              <a:ext uri="{FF2B5EF4-FFF2-40B4-BE49-F238E27FC236}">
                <a16:creationId xmlns:a16="http://schemas.microsoft.com/office/drawing/2014/main" id="{2B8E4219-8848-914D-8E4A-28F9CD1D448F}"/>
              </a:ext>
            </a:extLst>
          </p:cNvPr>
          <p:cNvGrpSpPr/>
          <p:nvPr/>
        </p:nvGrpSpPr>
        <p:grpSpPr>
          <a:xfrm>
            <a:off x="3581400" y="4160125"/>
            <a:ext cx="1367790" cy="480060"/>
            <a:chOff x="3581400" y="4160125"/>
            <a:chExt cx="1367790" cy="480060"/>
          </a:xfrm>
        </p:grpSpPr>
        <p:sp>
          <p:nvSpPr>
            <p:cNvPr id="14" name="Oval 13">
              <a:extLst>
                <a:ext uri="{FF2B5EF4-FFF2-40B4-BE49-F238E27FC236}">
                  <a16:creationId xmlns:a16="http://schemas.microsoft.com/office/drawing/2014/main" id="{F38C815F-F34A-C245-B3C1-A08940134017}"/>
                </a:ext>
              </a:extLst>
            </p:cNvPr>
            <p:cNvSpPr/>
            <p:nvPr/>
          </p:nvSpPr>
          <p:spPr>
            <a:xfrm>
              <a:off x="4495800" y="4160125"/>
              <a:ext cx="453390" cy="4800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388080B2-0080-6147-9BF2-131CAE41C77C}"/>
                </a:ext>
              </a:extLst>
            </p:cNvPr>
            <p:cNvCxnSpPr>
              <a:cxnSpLocks/>
              <a:endCxn id="14" idx="2"/>
            </p:cNvCxnSpPr>
            <p:nvPr/>
          </p:nvCxnSpPr>
          <p:spPr>
            <a:xfrm>
              <a:off x="3581400" y="4400155"/>
              <a:ext cx="914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13DC6649-68DF-2B4A-B294-CB4C91BDC8FB}"/>
              </a:ext>
            </a:extLst>
          </p:cNvPr>
          <p:cNvSpPr txBox="1"/>
          <p:nvPr/>
        </p:nvSpPr>
        <p:spPr>
          <a:xfrm>
            <a:off x="4128967" y="3797262"/>
            <a:ext cx="1187056" cy="369332"/>
          </a:xfrm>
          <a:prstGeom prst="rect">
            <a:avLst/>
          </a:prstGeom>
          <a:noFill/>
        </p:spPr>
        <p:txBody>
          <a:bodyPr wrap="none" rtlCol="0">
            <a:spAutoFit/>
          </a:bodyPr>
          <a:lstStyle/>
          <a:p>
            <a:r>
              <a:rPr lang="en-US" dirty="0"/>
              <a:t>Interface Y</a:t>
            </a:r>
          </a:p>
        </p:txBody>
      </p:sp>
      <p:sp>
        <p:nvSpPr>
          <p:cNvPr id="18" name="TextBox 17">
            <a:extLst>
              <a:ext uri="{FF2B5EF4-FFF2-40B4-BE49-F238E27FC236}">
                <a16:creationId xmlns:a16="http://schemas.microsoft.com/office/drawing/2014/main" id="{351D7658-4A45-C846-8406-B94D7578E58C}"/>
              </a:ext>
            </a:extLst>
          </p:cNvPr>
          <p:cNvSpPr txBox="1"/>
          <p:nvPr/>
        </p:nvSpPr>
        <p:spPr>
          <a:xfrm>
            <a:off x="6096000" y="3931534"/>
            <a:ext cx="3817620" cy="1200329"/>
          </a:xfrm>
          <a:prstGeom prst="rect">
            <a:avLst/>
          </a:prstGeom>
          <a:noFill/>
        </p:spPr>
        <p:txBody>
          <a:bodyPr wrap="square" rtlCol="0">
            <a:spAutoFit/>
          </a:bodyPr>
          <a:lstStyle/>
          <a:p>
            <a:r>
              <a:rPr lang="en-US" dirty="0">
                <a:latin typeface="Consolas" panose="020B0609020204030204" pitchFamily="49" charset="0"/>
                <a:cs typeface="Consolas" panose="020B0609020204030204" pitchFamily="49" charset="0"/>
              </a:rPr>
              <a:t>class X implements Y, Z {</a:t>
            </a:r>
          </a:p>
          <a:p>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impl</a:t>
            </a:r>
            <a:r>
              <a:rPr lang="en-US" dirty="0">
                <a:latin typeface="Consolas" panose="020B0609020204030204" pitchFamily="49" charset="0"/>
                <a:cs typeface="Consolas" panose="020B0609020204030204" pitchFamily="49" charset="0"/>
              </a:rPr>
              <a:t> Y here</a:t>
            </a:r>
          </a:p>
          <a:p>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impl</a:t>
            </a:r>
            <a:r>
              <a:rPr lang="en-US" dirty="0">
                <a:latin typeface="Consolas" panose="020B0609020204030204" pitchFamily="49" charset="0"/>
                <a:cs typeface="Consolas" panose="020B0609020204030204" pitchFamily="49" charset="0"/>
              </a:rPr>
              <a:t> Z here</a:t>
            </a:r>
          </a:p>
          <a:p>
            <a:r>
              <a:rPr lang="en-US" dirty="0">
                <a:latin typeface="Consolas" panose="020B0609020204030204" pitchFamily="49" charset="0"/>
                <a:cs typeface="Consolas" panose="020B0609020204030204" pitchFamily="49" charset="0"/>
              </a:rPr>
              <a:t>}</a:t>
            </a:r>
          </a:p>
        </p:txBody>
      </p:sp>
      <p:grpSp>
        <p:nvGrpSpPr>
          <p:cNvPr id="20" name="Group 19">
            <a:extLst>
              <a:ext uri="{FF2B5EF4-FFF2-40B4-BE49-F238E27FC236}">
                <a16:creationId xmlns:a16="http://schemas.microsoft.com/office/drawing/2014/main" id="{C5943A22-F2B5-0D49-8602-0135E7057268}"/>
              </a:ext>
            </a:extLst>
          </p:cNvPr>
          <p:cNvGrpSpPr/>
          <p:nvPr/>
        </p:nvGrpSpPr>
        <p:grpSpPr>
          <a:xfrm>
            <a:off x="3581400" y="4725713"/>
            <a:ext cx="1367790" cy="480060"/>
            <a:chOff x="3581400" y="4160125"/>
            <a:chExt cx="1367790" cy="480060"/>
          </a:xfrm>
        </p:grpSpPr>
        <p:sp>
          <p:nvSpPr>
            <p:cNvPr id="21" name="Oval 20">
              <a:extLst>
                <a:ext uri="{FF2B5EF4-FFF2-40B4-BE49-F238E27FC236}">
                  <a16:creationId xmlns:a16="http://schemas.microsoft.com/office/drawing/2014/main" id="{5D6DB049-EFD4-1042-AD67-151B8D192C40}"/>
                </a:ext>
              </a:extLst>
            </p:cNvPr>
            <p:cNvSpPr/>
            <p:nvPr/>
          </p:nvSpPr>
          <p:spPr>
            <a:xfrm>
              <a:off x="4495800" y="4160125"/>
              <a:ext cx="453390" cy="4800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719CE691-55E9-A947-9F97-29E5EE08AE7B}"/>
                </a:ext>
              </a:extLst>
            </p:cNvPr>
            <p:cNvCxnSpPr>
              <a:cxnSpLocks/>
              <a:endCxn id="21" idx="2"/>
            </p:cNvCxnSpPr>
            <p:nvPr/>
          </p:nvCxnSpPr>
          <p:spPr>
            <a:xfrm>
              <a:off x="3581400" y="4400155"/>
              <a:ext cx="914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3" name="TextBox 22">
            <a:extLst>
              <a:ext uri="{FF2B5EF4-FFF2-40B4-BE49-F238E27FC236}">
                <a16:creationId xmlns:a16="http://schemas.microsoft.com/office/drawing/2014/main" id="{968A09B3-133E-0E40-9808-95BEF3C0D94A}"/>
              </a:ext>
            </a:extLst>
          </p:cNvPr>
          <p:cNvSpPr txBox="1"/>
          <p:nvPr/>
        </p:nvSpPr>
        <p:spPr>
          <a:xfrm>
            <a:off x="4128967" y="5204183"/>
            <a:ext cx="1182247" cy="369332"/>
          </a:xfrm>
          <a:prstGeom prst="rect">
            <a:avLst/>
          </a:prstGeom>
          <a:noFill/>
        </p:spPr>
        <p:txBody>
          <a:bodyPr wrap="none" rtlCol="0">
            <a:spAutoFit/>
          </a:bodyPr>
          <a:lstStyle/>
          <a:p>
            <a:r>
              <a:rPr lang="en-US" dirty="0"/>
              <a:t>Interface Z</a:t>
            </a:r>
          </a:p>
        </p:txBody>
      </p:sp>
    </p:spTree>
    <p:extLst>
      <p:ext uri="{BB962C8B-B14F-4D97-AF65-F5344CB8AC3E}">
        <p14:creationId xmlns:p14="http://schemas.microsoft.com/office/powerpoint/2010/main" val="2787282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0BBF8-C25E-8E4B-AC26-579C4476E143}"/>
              </a:ext>
            </a:extLst>
          </p:cNvPr>
          <p:cNvSpPr>
            <a:spLocks noGrp="1"/>
          </p:cNvSpPr>
          <p:nvPr>
            <p:ph type="title"/>
          </p:nvPr>
        </p:nvSpPr>
        <p:spPr/>
        <p:txBody>
          <a:bodyPr/>
          <a:lstStyle/>
          <a:p>
            <a:r>
              <a:rPr lang="en-US" dirty="0"/>
              <a:t>@FunctionalInterface</a:t>
            </a:r>
          </a:p>
        </p:txBody>
      </p:sp>
      <p:sp>
        <p:nvSpPr>
          <p:cNvPr id="3" name="Content Placeholder 2">
            <a:extLst>
              <a:ext uri="{FF2B5EF4-FFF2-40B4-BE49-F238E27FC236}">
                <a16:creationId xmlns:a16="http://schemas.microsoft.com/office/drawing/2014/main" id="{FD5BE9A7-5E38-E84A-AAA8-7046233ABFD7}"/>
              </a:ext>
            </a:extLst>
          </p:cNvPr>
          <p:cNvSpPr>
            <a:spLocks noGrp="1"/>
          </p:cNvSpPr>
          <p:nvPr>
            <p:ph idx="1"/>
          </p:nvPr>
        </p:nvSpPr>
        <p:spPr/>
        <p:txBody>
          <a:bodyPr/>
          <a:lstStyle/>
          <a:p>
            <a:r>
              <a:rPr lang="en-US" dirty="0"/>
              <a:t>Functions that are intended to be used in a functional context are annotated with </a:t>
            </a:r>
            <a:r>
              <a:rPr lang="en-US" i="1" dirty="0"/>
              <a:t>@FunctionalInterface</a:t>
            </a:r>
          </a:p>
          <a:p>
            <a:r>
              <a:rPr lang="en-US" dirty="0"/>
              <a:t>This tells the compiler to ensure there is exactly one abstract method defined and prevents inadvertently updating the interface</a:t>
            </a:r>
          </a:p>
          <a:p>
            <a:pPr lvl="1"/>
            <a:r>
              <a:rPr lang="en-US" dirty="0"/>
              <a:t>They </a:t>
            </a:r>
            <a:r>
              <a:rPr lang="en-US" i="1" dirty="0"/>
              <a:t>can</a:t>
            </a:r>
            <a:r>
              <a:rPr lang="en-US" dirty="0"/>
              <a:t> have default methods with implementations</a:t>
            </a:r>
          </a:p>
          <a:p>
            <a:r>
              <a:rPr lang="en-US" dirty="0"/>
              <a:t>Can be implemented by a </a:t>
            </a:r>
            <a:r>
              <a:rPr lang="en-US" i="1" dirty="0"/>
              <a:t>lambda function </a:t>
            </a:r>
          </a:p>
        </p:txBody>
      </p:sp>
      <p:sp>
        <p:nvSpPr>
          <p:cNvPr id="4" name="Footer Placeholder 3">
            <a:extLst>
              <a:ext uri="{FF2B5EF4-FFF2-40B4-BE49-F238E27FC236}">
                <a16:creationId xmlns:a16="http://schemas.microsoft.com/office/drawing/2014/main" id="{A4ED0748-9285-F540-B16B-C35143D1258D}"/>
              </a:ext>
            </a:extLst>
          </p:cNvPr>
          <p:cNvSpPr>
            <a:spLocks noGrp="1"/>
          </p:cNvSpPr>
          <p:nvPr>
            <p:ph type="ftr" sz="quarter" idx="11"/>
          </p:nvPr>
        </p:nvSpPr>
        <p:spPr/>
        <p:txBody>
          <a:bodyPr/>
          <a:lstStyle/>
          <a:p>
            <a:r>
              <a:rPr lang="en-US" dirty="0"/>
              <a:t>COMP1050 | Fall 2020 | Puopolo</a:t>
            </a:r>
          </a:p>
        </p:txBody>
      </p:sp>
      <p:sp>
        <p:nvSpPr>
          <p:cNvPr id="5" name="Slide Number Placeholder 4">
            <a:extLst>
              <a:ext uri="{FF2B5EF4-FFF2-40B4-BE49-F238E27FC236}">
                <a16:creationId xmlns:a16="http://schemas.microsoft.com/office/drawing/2014/main" id="{9FB467A3-4366-DD43-9983-7E28C181EA60}"/>
              </a:ext>
            </a:extLst>
          </p:cNvPr>
          <p:cNvSpPr>
            <a:spLocks noGrp="1"/>
          </p:cNvSpPr>
          <p:nvPr>
            <p:ph type="sldNum" sz="quarter" idx="12"/>
          </p:nvPr>
        </p:nvSpPr>
        <p:spPr/>
        <p:txBody>
          <a:bodyPr/>
          <a:lstStyle/>
          <a:p>
            <a:fld id="{D3DCE80F-F978-684E-BD81-5BA398573AD8}" type="slidenum">
              <a:rPr lang="en-US" smtClean="0"/>
              <a:t>4</a:t>
            </a:fld>
            <a:endParaRPr lang="en-US"/>
          </a:p>
        </p:txBody>
      </p:sp>
    </p:spTree>
    <p:extLst>
      <p:ext uri="{BB962C8B-B14F-4D97-AF65-F5344CB8AC3E}">
        <p14:creationId xmlns:p14="http://schemas.microsoft.com/office/powerpoint/2010/main" val="2163413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349CF-B845-114C-A57E-7B17EC09A39D}"/>
              </a:ext>
            </a:extLst>
          </p:cNvPr>
          <p:cNvSpPr>
            <a:spLocks noGrp="1"/>
          </p:cNvSpPr>
          <p:nvPr>
            <p:ph type="title"/>
          </p:nvPr>
        </p:nvSpPr>
        <p:spPr/>
        <p:txBody>
          <a:bodyPr/>
          <a:lstStyle/>
          <a:p>
            <a:r>
              <a:rPr lang="en-US" dirty="0"/>
              <a:t>Common Functional Interfaces in Java</a:t>
            </a:r>
          </a:p>
        </p:txBody>
      </p:sp>
      <p:sp>
        <p:nvSpPr>
          <p:cNvPr id="3" name="Content Placeholder 2">
            <a:extLst>
              <a:ext uri="{FF2B5EF4-FFF2-40B4-BE49-F238E27FC236}">
                <a16:creationId xmlns:a16="http://schemas.microsoft.com/office/drawing/2014/main" id="{6ABD1E97-4A56-DA4B-98F5-3635E2FC8036}"/>
              </a:ext>
            </a:extLst>
          </p:cNvPr>
          <p:cNvSpPr>
            <a:spLocks noGrp="1"/>
          </p:cNvSpPr>
          <p:nvPr>
            <p:ph idx="1"/>
          </p:nvPr>
        </p:nvSpPr>
        <p:spPr/>
        <p:txBody>
          <a:bodyPr>
            <a:normAutofit fontScale="77500" lnSpcReduction="20000"/>
          </a:bodyPr>
          <a:lstStyle/>
          <a:p>
            <a:r>
              <a:rPr lang="en-US" dirty="0"/>
              <a:t>Java has defined a number of functional interfaces that address common scenarios</a:t>
            </a:r>
            <a:br>
              <a:rPr lang="en-US" dirty="0"/>
            </a:br>
            <a:endParaRPr lang="en-US" dirty="0"/>
          </a:p>
          <a:p>
            <a:r>
              <a:rPr lang="en-US" dirty="0"/>
              <a:t>While we can create our own functional interfaces, the Java API saves us the time in many cases, e.g.:</a:t>
            </a:r>
            <a:br>
              <a:rPr lang="en-US" dirty="0"/>
            </a:br>
            <a:endParaRPr lang="en-US" dirty="0"/>
          </a:p>
          <a:p>
            <a:pPr lvl="1"/>
            <a:r>
              <a:rPr lang="en-US" i="1" dirty="0" err="1"/>
              <a:t>java.util.Comparator</a:t>
            </a:r>
            <a:endParaRPr lang="en-US" i="1" dirty="0"/>
          </a:p>
          <a:p>
            <a:pPr lvl="1"/>
            <a:r>
              <a:rPr lang="en-US" i="1" dirty="0" err="1"/>
              <a:t>java.lang.Runnable</a:t>
            </a:r>
            <a:endParaRPr lang="en-US" i="1" dirty="0"/>
          </a:p>
          <a:p>
            <a:pPr lvl="1"/>
            <a:r>
              <a:rPr lang="en-US" i="1" dirty="0" err="1"/>
              <a:t>java.util.concurrent.Callable</a:t>
            </a:r>
            <a:endParaRPr lang="en-US" i="1" dirty="0"/>
          </a:p>
          <a:p>
            <a:pPr lvl="1"/>
            <a:r>
              <a:rPr lang="en-US" i="1" dirty="0" err="1"/>
              <a:t>java.io.FileFilter</a:t>
            </a:r>
            <a:endParaRPr lang="en-US" i="1" dirty="0"/>
          </a:p>
          <a:p>
            <a:endParaRPr lang="en-US" dirty="0"/>
          </a:p>
          <a:p>
            <a:r>
              <a:rPr lang="en-US" dirty="0"/>
              <a:t>We will explore functional programming later in course (Week 12)</a:t>
            </a:r>
            <a:br>
              <a:rPr lang="en-US" dirty="0"/>
            </a:br>
            <a:endParaRPr lang="en-US" dirty="0"/>
          </a:p>
          <a:p>
            <a:r>
              <a:rPr lang="en-US" dirty="0"/>
              <a:t>For now, to get an idea of how lambda came to be and how they work, let’s look at an example (Lambdas)</a:t>
            </a:r>
          </a:p>
        </p:txBody>
      </p:sp>
      <p:sp>
        <p:nvSpPr>
          <p:cNvPr id="4" name="Footer Placeholder 3">
            <a:extLst>
              <a:ext uri="{FF2B5EF4-FFF2-40B4-BE49-F238E27FC236}">
                <a16:creationId xmlns:a16="http://schemas.microsoft.com/office/drawing/2014/main" id="{A3F136B6-BE1F-0A45-AC65-CECFBC110919}"/>
              </a:ext>
            </a:extLst>
          </p:cNvPr>
          <p:cNvSpPr>
            <a:spLocks noGrp="1"/>
          </p:cNvSpPr>
          <p:nvPr>
            <p:ph type="ftr" sz="quarter" idx="11"/>
          </p:nvPr>
        </p:nvSpPr>
        <p:spPr/>
        <p:txBody>
          <a:bodyPr/>
          <a:lstStyle/>
          <a:p>
            <a:r>
              <a:rPr lang="en-US" dirty="0"/>
              <a:t>COMP1050 | Fall 2020 | Puopolo</a:t>
            </a:r>
          </a:p>
        </p:txBody>
      </p:sp>
      <p:sp>
        <p:nvSpPr>
          <p:cNvPr id="5" name="Slide Number Placeholder 4">
            <a:extLst>
              <a:ext uri="{FF2B5EF4-FFF2-40B4-BE49-F238E27FC236}">
                <a16:creationId xmlns:a16="http://schemas.microsoft.com/office/drawing/2014/main" id="{A989F24F-80B8-2545-A43E-2063581AD836}"/>
              </a:ext>
            </a:extLst>
          </p:cNvPr>
          <p:cNvSpPr>
            <a:spLocks noGrp="1"/>
          </p:cNvSpPr>
          <p:nvPr>
            <p:ph type="sldNum" sz="quarter" idx="12"/>
          </p:nvPr>
        </p:nvSpPr>
        <p:spPr/>
        <p:txBody>
          <a:bodyPr/>
          <a:lstStyle/>
          <a:p>
            <a:fld id="{D3DCE80F-F978-684E-BD81-5BA398573AD8}" type="slidenum">
              <a:rPr lang="en-US" smtClean="0"/>
              <a:t>5</a:t>
            </a:fld>
            <a:endParaRPr lang="en-US"/>
          </a:p>
        </p:txBody>
      </p:sp>
    </p:spTree>
    <p:extLst>
      <p:ext uri="{BB962C8B-B14F-4D97-AF65-F5344CB8AC3E}">
        <p14:creationId xmlns:p14="http://schemas.microsoft.com/office/powerpoint/2010/main" val="503301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4DF2D-DF25-0447-B7A9-F7E802C5EB50}"/>
              </a:ext>
            </a:extLst>
          </p:cNvPr>
          <p:cNvSpPr>
            <a:spLocks noGrp="1"/>
          </p:cNvSpPr>
          <p:nvPr>
            <p:ph type="title"/>
          </p:nvPr>
        </p:nvSpPr>
        <p:spPr/>
        <p:txBody>
          <a:bodyPr/>
          <a:lstStyle/>
          <a:p>
            <a:r>
              <a:rPr lang="en-US" dirty="0"/>
              <a:t>Points to Ponder</a:t>
            </a:r>
          </a:p>
        </p:txBody>
      </p:sp>
      <p:sp>
        <p:nvSpPr>
          <p:cNvPr id="3" name="Content Placeholder 2">
            <a:extLst>
              <a:ext uri="{FF2B5EF4-FFF2-40B4-BE49-F238E27FC236}">
                <a16:creationId xmlns:a16="http://schemas.microsoft.com/office/drawing/2014/main" id="{1AA3ADB6-50EC-CE4C-B821-0F11DA2D1ADF}"/>
              </a:ext>
            </a:extLst>
          </p:cNvPr>
          <p:cNvSpPr>
            <a:spLocks noGrp="1"/>
          </p:cNvSpPr>
          <p:nvPr>
            <p:ph idx="1"/>
          </p:nvPr>
        </p:nvSpPr>
        <p:spPr>
          <a:xfrm>
            <a:off x="838200" y="1642065"/>
            <a:ext cx="10515600" cy="923330"/>
          </a:xfrm>
        </p:spPr>
        <p:txBody>
          <a:bodyPr>
            <a:normAutofit/>
          </a:bodyPr>
          <a:lstStyle/>
          <a:p>
            <a:r>
              <a:rPr lang="en-US" dirty="0"/>
              <a:t>Lambdas are a nice shortcut for having the compiler synthesize an implementation class under the covers*</a:t>
            </a:r>
          </a:p>
        </p:txBody>
      </p:sp>
      <p:sp>
        <p:nvSpPr>
          <p:cNvPr id="4" name="Footer Placeholder 3">
            <a:extLst>
              <a:ext uri="{FF2B5EF4-FFF2-40B4-BE49-F238E27FC236}">
                <a16:creationId xmlns:a16="http://schemas.microsoft.com/office/drawing/2014/main" id="{729C53B2-AE56-3044-92F8-9B254B6D5CA5}"/>
              </a:ext>
            </a:extLst>
          </p:cNvPr>
          <p:cNvSpPr>
            <a:spLocks noGrp="1"/>
          </p:cNvSpPr>
          <p:nvPr>
            <p:ph type="ftr" sz="quarter" idx="11"/>
          </p:nvPr>
        </p:nvSpPr>
        <p:spPr/>
        <p:txBody>
          <a:bodyPr/>
          <a:lstStyle/>
          <a:p>
            <a:r>
              <a:rPr lang="en-US"/>
              <a:t>COMP1050 | Fall 2020 | Puopolo</a:t>
            </a:r>
            <a:endParaRPr lang="en-US" dirty="0"/>
          </a:p>
        </p:txBody>
      </p:sp>
      <p:sp>
        <p:nvSpPr>
          <p:cNvPr id="5" name="Slide Number Placeholder 4">
            <a:extLst>
              <a:ext uri="{FF2B5EF4-FFF2-40B4-BE49-F238E27FC236}">
                <a16:creationId xmlns:a16="http://schemas.microsoft.com/office/drawing/2014/main" id="{F76CB549-3FD2-804E-8449-1D177CB63AD9}"/>
              </a:ext>
            </a:extLst>
          </p:cNvPr>
          <p:cNvSpPr>
            <a:spLocks noGrp="1"/>
          </p:cNvSpPr>
          <p:nvPr>
            <p:ph type="sldNum" sz="quarter" idx="12"/>
          </p:nvPr>
        </p:nvSpPr>
        <p:spPr/>
        <p:txBody>
          <a:bodyPr/>
          <a:lstStyle/>
          <a:p>
            <a:fld id="{D3DCE80F-F978-684E-BD81-5BA398573AD8}" type="slidenum">
              <a:rPr lang="en-US" smtClean="0"/>
              <a:t>6</a:t>
            </a:fld>
            <a:endParaRPr lang="en-US"/>
          </a:p>
        </p:txBody>
      </p:sp>
      <p:sp>
        <p:nvSpPr>
          <p:cNvPr id="6" name="TextBox 5">
            <a:extLst>
              <a:ext uri="{FF2B5EF4-FFF2-40B4-BE49-F238E27FC236}">
                <a16:creationId xmlns:a16="http://schemas.microsoft.com/office/drawing/2014/main" id="{F48BE928-0FA2-7B45-A5B0-A71593FF20DD}"/>
              </a:ext>
            </a:extLst>
          </p:cNvPr>
          <p:cNvSpPr txBox="1"/>
          <p:nvPr/>
        </p:nvSpPr>
        <p:spPr>
          <a:xfrm>
            <a:off x="838200" y="5400681"/>
            <a:ext cx="10107930" cy="923330"/>
          </a:xfrm>
          <a:prstGeom prst="rect">
            <a:avLst/>
          </a:prstGeom>
          <a:noFill/>
        </p:spPr>
        <p:txBody>
          <a:bodyPr wrap="square" rtlCol="0">
            <a:spAutoFit/>
          </a:bodyPr>
          <a:lstStyle/>
          <a:p>
            <a:r>
              <a:rPr lang="en-US" dirty="0"/>
              <a:t>* It’s important to keep in mind that everything eventually gets compiled to byte code then to machine code. There is nothing magic about any of this. If you dig enough, you will find out how stuff works! I encourage you to probe, explore, question and investigate.</a:t>
            </a:r>
          </a:p>
        </p:txBody>
      </p:sp>
      <p:sp>
        <p:nvSpPr>
          <p:cNvPr id="7" name="TextBox 6">
            <a:extLst>
              <a:ext uri="{FF2B5EF4-FFF2-40B4-BE49-F238E27FC236}">
                <a16:creationId xmlns:a16="http://schemas.microsoft.com/office/drawing/2014/main" id="{099248C1-208E-144D-A065-FB71DD8D9430}"/>
              </a:ext>
            </a:extLst>
          </p:cNvPr>
          <p:cNvSpPr txBox="1"/>
          <p:nvPr/>
        </p:nvSpPr>
        <p:spPr>
          <a:xfrm>
            <a:off x="2008819" y="3304059"/>
            <a:ext cx="805029" cy="338554"/>
          </a:xfrm>
          <a:prstGeom prst="rect">
            <a:avLst/>
          </a:prstGeom>
          <a:noFill/>
        </p:spPr>
        <p:txBody>
          <a:bodyPr wrap="none" rtlCol="0">
            <a:spAutoFit/>
          </a:bodyPr>
          <a:lstStyle/>
          <a:p>
            <a:r>
              <a:rPr lang="en-US" sz="1600" dirty="0"/>
              <a:t>lambda</a:t>
            </a:r>
          </a:p>
        </p:txBody>
      </p:sp>
      <p:grpSp>
        <p:nvGrpSpPr>
          <p:cNvPr id="9" name="Group 8">
            <a:extLst>
              <a:ext uri="{FF2B5EF4-FFF2-40B4-BE49-F238E27FC236}">
                <a16:creationId xmlns:a16="http://schemas.microsoft.com/office/drawing/2014/main" id="{09BC9788-04D7-5A4C-A645-D346F402051B}"/>
              </a:ext>
            </a:extLst>
          </p:cNvPr>
          <p:cNvGrpSpPr/>
          <p:nvPr/>
        </p:nvGrpSpPr>
        <p:grpSpPr>
          <a:xfrm>
            <a:off x="6450330" y="3248695"/>
            <a:ext cx="1367790" cy="480060"/>
            <a:chOff x="3581400" y="4160125"/>
            <a:chExt cx="1367790" cy="480060"/>
          </a:xfrm>
        </p:grpSpPr>
        <p:sp>
          <p:nvSpPr>
            <p:cNvPr id="10" name="Oval 9">
              <a:extLst>
                <a:ext uri="{FF2B5EF4-FFF2-40B4-BE49-F238E27FC236}">
                  <a16:creationId xmlns:a16="http://schemas.microsoft.com/office/drawing/2014/main" id="{58D5C3D1-4C73-8E42-94C0-B129DBC3113D}"/>
                </a:ext>
              </a:extLst>
            </p:cNvPr>
            <p:cNvSpPr/>
            <p:nvPr/>
          </p:nvSpPr>
          <p:spPr>
            <a:xfrm>
              <a:off x="4495800" y="4160125"/>
              <a:ext cx="453390" cy="4800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F8CC3878-BD05-BB44-83DE-9BB47B0D8DBB}"/>
                </a:ext>
              </a:extLst>
            </p:cNvPr>
            <p:cNvCxnSpPr>
              <a:cxnSpLocks/>
              <a:endCxn id="10" idx="2"/>
            </p:cNvCxnSpPr>
            <p:nvPr/>
          </p:nvCxnSpPr>
          <p:spPr>
            <a:xfrm>
              <a:off x="3581400" y="4400155"/>
              <a:ext cx="914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2" name="TextBox 11">
            <a:extLst>
              <a:ext uri="{FF2B5EF4-FFF2-40B4-BE49-F238E27FC236}">
                <a16:creationId xmlns:a16="http://schemas.microsoft.com/office/drawing/2014/main" id="{674212A3-D2FA-4841-88C5-A398B7ECD27E}"/>
              </a:ext>
            </a:extLst>
          </p:cNvPr>
          <p:cNvSpPr txBox="1"/>
          <p:nvPr/>
        </p:nvSpPr>
        <p:spPr>
          <a:xfrm>
            <a:off x="6907530" y="2645722"/>
            <a:ext cx="1983107" cy="584775"/>
          </a:xfrm>
          <a:prstGeom prst="rect">
            <a:avLst/>
          </a:prstGeom>
          <a:noFill/>
        </p:spPr>
        <p:txBody>
          <a:bodyPr wrap="none" rtlCol="0">
            <a:spAutoFit/>
          </a:bodyPr>
          <a:lstStyle/>
          <a:p>
            <a:r>
              <a:rPr lang="en-US" sz="1600" dirty="0"/>
              <a:t>@FunctionalInterface</a:t>
            </a:r>
          </a:p>
          <a:p>
            <a:r>
              <a:rPr lang="en-US" sz="1600" dirty="0"/>
              <a:t>Interface Y</a:t>
            </a:r>
          </a:p>
        </p:txBody>
      </p:sp>
      <p:cxnSp>
        <p:nvCxnSpPr>
          <p:cNvPr id="14" name="Straight Connector 13">
            <a:extLst>
              <a:ext uri="{FF2B5EF4-FFF2-40B4-BE49-F238E27FC236}">
                <a16:creationId xmlns:a16="http://schemas.microsoft.com/office/drawing/2014/main" id="{9670B624-A3B0-0343-95F5-059F30C87D04}"/>
              </a:ext>
            </a:extLst>
          </p:cNvPr>
          <p:cNvCxnSpPr>
            <a:cxnSpLocks/>
          </p:cNvCxnSpPr>
          <p:nvPr/>
        </p:nvCxnSpPr>
        <p:spPr>
          <a:xfrm>
            <a:off x="2956560" y="3488725"/>
            <a:ext cx="3493770" cy="0"/>
          </a:xfrm>
          <a:prstGeom prst="line">
            <a:avLst/>
          </a:prstGeom>
          <a:ln>
            <a:solidFill>
              <a:srgbClr val="00B0F0"/>
            </a:solidFill>
            <a:prstDash val="dash"/>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BEFF58EA-070C-BD43-94BE-0F0B3424654B}"/>
              </a:ext>
            </a:extLst>
          </p:cNvPr>
          <p:cNvSpPr/>
          <p:nvPr/>
        </p:nvSpPr>
        <p:spPr>
          <a:xfrm>
            <a:off x="4046220" y="2871405"/>
            <a:ext cx="1946910" cy="1234639"/>
          </a:xfrm>
          <a:prstGeom prst="roundRect">
            <a:avLst/>
          </a:prstGeom>
          <a:solidFill>
            <a:srgbClr val="00B0F0">
              <a:alpha val="26000"/>
            </a:srgbClr>
          </a:solidFill>
          <a:ln w="22225">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65000"/>
                  </a:schemeClr>
                </a:solidFill>
              </a:rPr>
              <a:t>Implementation Class X$</a:t>
            </a:r>
          </a:p>
        </p:txBody>
      </p:sp>
      <p:sp>
        <p:nvSpPr>
          <p:cNvPr id="17" name="TextBox 16">
            <a:extLst>
              <a:ext uri="{FF2B5EF4-FFF2-40B4-BE49-F238E27FC236}">
                <a16:creationId xmlns:a16="http://schemas.microsoft.com/office/drawing/2014/main" id="{F831FB81-86DB-5040-85A9-E029589B6330}"/>
              </a:ext>
            </a:extLst>
          </p:cNvPr>
          <p:cNvSpPr txBox="1"/>
          <p:nvPr/>
        </p:nvSpPr>
        <p:spPr>
          <a:xfrm>
            <a:off x="4092594" y="4237321"/>
            <a:ext cx="1854162" cy="369332"/>
          </a:xfrm>
          <a:prstGeom prst="rect">
            <a:avLst/>
          </a:prstGeom>
          <a:noFill/>
        </p:spPr>
        <p:txBody>
          <a:bodyPr wrap="none" rtlCol="0">
            <a:spAutoFit/>
          </a:bodyPr>
          <a:lstStyle/>
          <a:p>
            <a:r>
              <a:rPr lang="en-US" dirty="0"/>
              <a:t>Thanks, compiler!</a:t>
            </a:r>
          </a:p>
        </p:txBody>
      </p:sp>
    </p:spTree>
    <p:extLst>
      <p:ext uri="{BB962C8B-B14F-4D97-AF65-F5344CB8AC3E}">
        <p14:creationId xmlns:p14="http://schemas.microsoft.com/office/powerpoint/2010/main" val="3311894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4DF2D-DF25-0447-B7A9-F7E802C5EB50}"/>
              </a:ext>
            </a:extLst>
          </p:cNvPr>
          <p:cNvSpPr>
            <a:spLocks noGrp="1"/>
          </p:cNvSpPr>
          <p:nvPr>
            <p:ph type="title"/>
          </p:nvPr>
        </p:nvSpPr>
        <p:spPr/>
        <p:txBody>
          <a:bodyPr/>
          <a:lstStyle/>
          <a:p>
            <a:r>
              <a:rPr lang="en-US" dirty="0"/>
              <a:t>Points to Ponder</a:t>
            </a:r>
          </a:p>
        </p:txBody>
      </p:sp>
      <p:sp>
        <p:nvSpPr>
          <p:cNvPr id="3" name="Content Placeholder 2">
            <a:extLst>
              <a:ext uri="{FF2B5EF4-FFF2-40B4-BE49-F238E27FC236}">
                <a16:creationId xmlns:a16="http://schemas.microsoft.com/office/drawing/2014/main" id="{1AA3ADB6-50EC-CE4C-B821-0F11DA2D1ADF}"/>
              </a:ext>
            </a:extLst>
          </p:cNvPr>
          <p:cNvSpPr>
            <a:spLocks noGrp="1"/>
          </p:cNvSpPr>
          <p:nvPr>
            <p:ph idx="1"/>
          </p:nvPr>
        </p:nvSpPr>
        <p:spPr>
          <a:xfrm>
            <a:off x="838200" y="1642065"/>
            <a:ext cx="10515600" cy="3295016"/>
          </a:xfrm>
        </p:spPr>
        <p:txBody>
          <a:bodyPr>
            <a:normAutofit/>
          </a:bodyPr>
          <a:lstStyle/>
          <a:p>
            <a:r>
              <a:rPr lang="en-US" dirty="0"/>
              <a:t>Lambdas eschew boilerplate code in favor of focusing on the functionality we care about</a:t>
            </a:r>
          </a:p>
          <a:p>
            <a:r>
              <a:rPr lang="en-US" dirty="0"/>
              <a:t>When you need to implement a functional interface, consider using a lambda</a:t>
            </a:r>
          </a:p>
          <a:p>
            <a:r>
              <a:rPr lang="en-US" dirty="0"/>
              <a:t>As we’ll see later, lambdas can be passed into and out of functions which enable powerful abstractions (key aspect of </a:t>
            </a:r>
            <a:r>
              <a:rPr lang="en-US"/>
              <a:t>functional programming)</a:t>
            </a:r>
            <a:endParaRPr lang="en-US" dirty="0"/>
          </a:p>
          <a:p>
            <a:endParaRPr lang="en-US" dirty="0"/>
          </a:p>
        </p:txBody>
      </p:sp>
      <p:sp>
        <p:nvSpPr>
          <p:cNvPr id="4" name="Footer Placeholder 3">
            <a:extLst>
              <a:ext uri="{FF2B5EF4-FFF2-40B4-BE49-F238E27FC236}">
                <a16:creationId xmlns:a16="http://schemas.microsoft.com/office/drawing/2014/main" id="{729C53B2-AE56-3044-92F8-9B254B6D5CA5}"/>
              </a:ext>
            </a:extLst>
          </p:cNvPr>
          <p:cNvSpPr>
            <a:spLocks noGrp="1"/>
          </p:cNvSpPr>
          <p:nvPr>
            <p:ph type="ftr" sz="quarter" idx="11"/>
          </p:nvPr>
        </p:nvSpPr>
        <p:spPr/>
        <p:txBody>
          <a:bodyPr/>
          <a:lstStyle/>
          <a:p>
            <a:r>
              <a:rPr lang="en-US"/>
              <a:t>COMP1050 | Fall 2020 | Puopolo</a:t>
            </a:r>
            <a:endParaRPr lang="en-US" dirty="0"/>
          </a:p>
        </p:txBody>
      </p:sp>
      <p:sp>
        <p:nvSpPr>
          <p:cNvPr id="5" name="Slide Number Placeholder 4">
            <a:extLst>
              <a:ext uri="{FF2B5EF4-FFF2-40B4-BE49-F238E27FC236}">
                <a16:creationId xmlns:a16="http://schemas.microsoft.com/office/drawing/2014/main" id="{F76CB549-3FD2-804E-8449-1D177CB63AD9}"/>
              </a:ext>
            </a:extLst>
          </p:cNvPr>
          <p:cNvSpPr>
            <a:spLocks noGrp="1"/>
          </p:cNvSpPr>
          <p:nvPr>
            <p:ph type="sldNum" sz="quarter" idx="12"/>
          </p:nvPr>
        </p:nvSpPr>
        <p:spPr/>
        <p:txBody>
          <a:bodyPr/>
          <a:lstStyle/>
          <a:p>
            <a:fld id="{D3DCE80F-F978-684E-BD81-5BA398573AD8}" type="slidenum">
              <a:rPr lang="en-US" smtClean="0"/>
              <a:t>7</a:t>
            </a:fld>
            <a:endParaRPr lang="en-US"/>
          </a:p>
        </p:txBody>
      </p:sp>
    </p:spTree>
    <p:extLst>
      <p:ext uri="{BB962C8B-B14F-4D97-AF65-F5344CB8AC3E}">
        <p14:creationId xmlns:p14="http://schemas.microsoft.com/office/powerpoint/2010/main" val="25051731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IT-Slides-Puopolo" id="{811DB770-7EF8-2340-92EB-B5A30FB114E0}" vid="{BB2DD84C-67F6-B743-A646-6EB28B0F7F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5592</TotalTime>
  <Words>451</Words>
  <Application>Microsoft Macintosh PowerPoint</Application>
  <PresentationFormat>Widescreen</PresentationFormat>
  <Paragraphs>62</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Consolas</vt:lpstr>
      <vt:lpstr>Office Theme</vt:lpstr>
      <vt:lpstr>Lambas</vt:lpstr>
      <vt:lpstr>Interface-Based Development</vt:lpstr>
      <vt:lpstr>Interface-Based Development</vt:lpstr>
      <vt:lpstr>@FunctionalInterface</vt:lpstr>
      <vt:lpstr>Common Functional Interfaces in Java</vt:lpstr>
      <vt:lpstr>Points to Ponder</vt:lpstr>
      <vt:lpstr>Points to Ponder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Lambas</dc:title>
  <dc:creator>John Puopolo</dc:creator>
  <cp:lastModifiedBy>John Puopolo</cp:lastModifiedBy>
  <cp:revision>15</cp:revision>
  <dcterms:created xsi:type="dcterms:W3CDTF">2020-08-01T14:35:27Z</dcterms:created>
  <dcterms:modified xsi:type="dcterms:W3CDTF">2020-08-10T18:20:36Z</dcterms:modified>
</cp:coreProperties>
</file>