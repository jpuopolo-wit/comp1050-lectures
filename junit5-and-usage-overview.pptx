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 varScale="1">
        <p:scale>
          <a:sx n="104" d="100"/>
          <a:sy n="104" d="100"/>
        </p:scale>
        <p:origin x="23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2880-50DD-F844-B4D6-036A9C841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A63EF-981A-BF43-82E7-C74C0C4E7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AAE15-F71C-FB41-97DA-B9D3292C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982B0-94CB-C347-B9CB-36B1A00C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8EBC7-1810-D94A-B75A-CC04B678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7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FE09-4FFC-4F41-AB20-8CAC6705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0F98D-5CC6-9445-A477-66F5A04CC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D15D-D5A7-8F43-B225-A94B893B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CDD5-32F9-C547-901C-470447DF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380B0-6AF7-E54C-84B8-E699B55E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7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A5E5-6840-824B-B69A-964E6E0A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2FD28-28EF-5C48-94C7-5AA72FBBF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6F11B-4D3B-B347-A085-73ABE2E3A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E9B65-2AEF-C449-A49E-84D86594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A5A67-CD5A-F24A-9454-3E3B5C0D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2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527E-E866-0A41-905B-F4E152D4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5BFF-A1A4-3B46-87E1-C79434930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DBD3F-7763-414B-8877-F9FE13109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4C525-B737-DD40-A05A-D808B9F0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4076E-5AED-E74A-8BF1-C70C47D7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6FE62-1208-9A4E-9D98-624F9C7D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7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A803-5710-7E4B-BCEA-75D44843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E1E79-DA13-AE4E-BA27-4EE83D211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10587-4031-734F-963D-CA4E5DAA9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391D4-8B95-894F-B21A-CE524E073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ABBBF-8542-9147-8A82-048D514E8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E953F2-F890-0B41-83D5-81A4EE2F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56594-C98C-794B-91A5-A212BF97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2511E-7A21-AB43-BA78-2123056F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9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243F-A93E-6F48-A55B-ADFA254E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4130F-63C5-E344-8168-F63CE475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63221-ECF5-FD4A-9124-FA438E47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88C36-DAB1-1545-8323-001D15FF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6697B-87E6-0446-9C38-ECBC6505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9F893-2903-8A43-B54A-412C128E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0E4D6-1691-B140-ADDB-811D7CEB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5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65BD-3C14-0442-9DFC-D638903C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6AD6-4864-3742-A088-97CA4FF89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63BA0-0B64-6342-8A4E-48B5BD37A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BEFB8-B41E-4049-84ED-48FF186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DE298-24DF-7D48-990D-5E706ABA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6B8EA-A9F4-4C41-85FE-1973CD7D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5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0450-D0CE-6F45-8DA7-4CB9946E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5C0E1-4DFE-1541-A129-0D505FF70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552FA-9E11-9F45-AA7C-7A70A7BD7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E030E-C097-5540-ABF8-A2EC885F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2524B-38AB-214F-9A3F-23C9CAE9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618EF-47F1-D745-A1AD-91C50F13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5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0F16-93D3-3E4A-B61C-4F563CA0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85748-9D44-DA4B-BD21-0062713EC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A2E32-D7C8-1146-A367-7D6A57F1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56918-7D9C-FE44-87C9-9F944FD1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0F085-620E-E048-A234-BC97F122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2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456AB-B755-4E4A-87D4-F40193861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09D2F-0DBE-9549-B017-8E2A0F08B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62BA2-79C7-A743-9515-5A7EDD2A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F81A9-3F54-824F-8FF0-3E58CC9E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E7B4E-7263-B441-87F3-E0DDA703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3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194B79-9695-134B-940E-4E75647C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DB188-9213-D74D-9F34-419C981C7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DB64-3915-E546-9010-F2A3813A8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20614-29F4-FA4D-AF20-855235E126C5}" type="datetimeFigureOut">
              <a:rPr lang="en-US" smtClean="0"/>
              <a:t>9/13/20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F5E0-13C7-1F40-AE8E-99E9AD044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7FC6-541A-154F-B630-855D8B007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6EC54-8146-3B41-AA78-351AB5EDF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6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unit.org/junit5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174E-4782-1D43-818A-3CB62CF3E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Testing &amp; JUnit5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C9C6C-A0B7-0E49-A39F-EFC7B99403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 COMP1050 FA20</a:t>
            </a:r>
          </a:p>
        </p:txBody>
      </p:sp>
    </p:spTree>
    <p:extLst>
      <p:ext uri="{BB962C8B-B14F-4D97-AF65-F5344CB8AC3E}">
        <p14:creationId xmlns:p14="http://schemas.microsoft.com/office/powerpoint/2010/main" val="387310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5759-A3AF-0746-B514-43EE537B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499F-078D-2E4B-8654-988492CC5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Unit Testing</a:t>
            </a:r>
          </a:p>
          <a:p>
            <a:r>
              <a:rPr lang="en-US" dirty="0"/>
              <a:t>How We Use Unit Testing for the Course</a:t>
            </a:r>
          </a:p>
          <a:p>
            <a:r>
              <a:rPr lang="en-US" dirty="0"/>
              <a:t>Overview of JUnit 5</a:t>
            </a:r>
          </a:p>
          <a:p>
            <a:r>
              <a:rPr lang="en-US" dirty="0"/>
              <a:t>Installing JUnit 5</a:t>
            </a:r>
          </a:p>
          <a:p>
            <a:r>
              <a:rPr lang="en-US" dirty="0"/>
              <a:t>Adding JUnit 5 to IntelliJ IDEA 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693-4838-3F48-BC35-FBF2E379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55267-090A-A94B-A931-47D20405C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build software, we need a way to check to see if it’s working correctly</a:t>
            </a:r>
          </a:p>
          <a:p>
            <a:r>
              <a:rPr lang="en-US" dirty="0"/>
              <a:t>To do this, we write all sorts of tests</a:t>
            </a:r>
          </a:p>
          <a:p>
            <a:pPr lvl="1"/>
            <a:r>
              <a:rPr lang="en-US" dirty="0"/>
              <a:t>unit tests</a:t>
            </a:r>
          </a:p>
          <a:p>
            <a:pPr lvl="1"/>
            <a:r>
              <a:rPr lang="en-US" dirty="0"/>
              <a:t>functional tests</a:t>
            </a:r>
          </a:p>
          <a:p>
            <a:pPr lvl="1"/>
            <a:r>
              <a:rPr lang="en-US" dirty="0"/>
              <a:t>integration tests</a:t>
            </a:r>
          </a:p>
          <a:p>
            <a:pPr lvl="1"/>
            <a:r>
              <a:rPr lang="en-US" dirty="0"/>
              <a:t>performance tests</a:t>
            </a:r>
          </a:p>
          <a:p>
            <a:r>
              <a:rPr lang="en-US" dirty="0"/>
              <a:t>In this class, we are only focusing on unit tests</a:t>
            </a:r>
          </a:p>
          <a:p>
            <a:r>
              <a:rPr lang="en-US" dirty="0"/>
              <a:t>A unit test makes sure your Java classes do what they’re supposed to do and behave correctly</a:t>
            </a:r>
          </a:p>
        </p:txBody>
      </p:sp>
    </p:spTree>
    <p:extLst>
      <p:ext uri="{BB962C8B-B14F-4D97-AF65-F5344CB8AC3E}">
        <p14:creationId xmlns:p14="http://schemas.microsoft.com/office/powerpoint/2010/main" val="45132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612D-637E-D64A-977F-6FA570B4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86" y="266272"/>
            <a:ext cx="5414319" cy="584776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 of Unit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47FEF-51BD-4548-81B5-5A593448CDC8}"/>
              </a:ext>
            </a:extLst>
          </p:cNvPr>
          <p:cNvSpPr/>
          <p:nvPr/>
        </p:nvSpPr>
        <p:spPr>
          <a:xfrm>
            <a:off x="1198466" y="2180368"/>
            <a:ext cx="1880170" cy="1952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Subject (Class) under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288BB-C920-6748-9288-9121868B9B64}"/>
              </a:ext>
            </a:extLst>
          </p:cNvPr>
          <p:cNvSpPr txBox="1"/>
          <p:nvPr/>
        </p:nvSpPr>
        <p:spPr>
          <a:xfrm>
            <a:off x="1126547" y="4266022"/>
            <a:ext cx="202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Java code </a:t>
            </a:r>
            <a:r>
              <a:rPr lang="en-US" i="1" dirty="0"/>
              <a:t>you</a:t>
            </a:r>
            <a:r>
              <a:rPr lang="en-US" dirty="0"/>
              <a:t> write that needs to be verified &amp; tested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254503-8E00-CA4E-8D95-E99C50B1029E}"/>
              </a:ext>
            </a:extLst>
          </p:cNvPr>
          <p:cNvSpPr/>
          <p:nvPr/>
        </p:nvSpPr>
        <p:spPr>
          <a:xfrm>
            <a:off x="8129774" y="2180368"/>
            <a:ext cx="1880169" cy="195209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E1998-7C13-8743-B319-EC97887A5907}"/>
              </a:ext>
            </a:extLst>
          </p:cNvPr>
          <p:cNvSpPr txBox="1"/>
          <p:nvPr/>
        </p:nvSpPr>
        <p:spPr>
          <a:xfrm>
            <a:off x="8129774" y="4266022"/>
            <a:ext cx="2158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unit test code that tests the “subject under test”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7ECD30-AC1C-CF4A-90E4-3409B58937F6}"/>
              </a:ext>
            </a:extLst>
          </p:cNvPr>
          <p:cNvCxnSpPr>
            <a:cxnSpLocks/>
          </p:cNvCxnSpPr>
          <p:nvPr/>
        </p:nvCxnSpPr>
        <p:spPr>
          <a:xfrm flipH="1">
            <a:off x="3078636" y="2847493"/>
            <a:ext cx="5051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52C4A4-9CFE-214F-AE80-8D658AF3AD7F}"/>
              </a:ext>
            </a:extLst>
          </p:cNvPr>
          <p:cNvSpPr txBox="1"/>
          <p:nvPr/>
        </p:nvSpPr>
        <p:spPr>
          <a:xfrm>
            <a:off x="3593757" y="2168551"/>
            <a:ext cx="3620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calls methods on the class to make sure it behaves correctly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2A4BD-D42B-2745-9369-FE2E9EBE40A0}"/>
              </a:ext>
            </a:extLst>
          </p:cNvPr>
          <p:cNvSpPr txBox="1"/>
          <p:nvPr/>
        </p:nvSpPr>
        <p:spPr>
          <a:xfrm>
            <a:off x="8129774" y="1428966"/>
            <a:ext cx="269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Testing Framework, e.g., JUnit 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3C5722-5579-1B40-87C9-78F8DF31C142}"/>
              </a:ext>
            </a:extLst>
          </p:cNvPr>
          <p:cNvCxnSpPr/>
          <p:nvPr/>
        </p:nvCxnSpPr>
        <p:spPr>
          <a:xfrm>
            <a:off x="3078636" y="3514619"/>
            <a:ext cx="5051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AB0598-3F0B-E24B-A3E1-F457280B5D38}"/>
              </a:ext>
            </a:extLst>
          </p:cNvPr>
          <p:cNvSpPr txBox="1"/>
          <p:nvPr/>
        </p:nvSpPr>
        <p:spPr>
          <a:xfrm>
            <a:off x="3593757" y="3581401"/>
            <a:ext cx="3620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it method returns something, verify what’s returned is what’s expected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0826E-4A83-7149-807B-982957C6BC81}"/>
              </a:ext>
            </a:extLst>
          </p:cNvPr>
          <p:cNvSpPr txBox="1"/>
          <p:nvPr/>
        </p:nvSpPr>
        <p:spPr>
          <a:xfrm>
            <a:off x="1636959" y="6128903"/>
            <a:ext cx="891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i="1" dirty="0"/>
              <a:t>framework</a:t>
            </a:r>
            <a:r>
              <a:rPr lang="en-US" dirty="0"/>
              <a:t> is a collection of pre-built files and libraries that provide significant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05731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CE8E-FB0E-AA45-9641-FDFEDFBA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Unit Testing for the Course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14951-2EEC-F04C-8054-A117218CE27D}"/>
              </a:ext>
            </a:extLst>
          </p:cNvPr>
          <p:cNvSpPr/>
          <p:nvPr/>
        </p:nvSpPr>
        <p:spPr>
          <a:xfrm>
            <a:off x="1569958" y="2032687"/>
            <a:ext cx="1643449" cy="16990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 Classroom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2C535-1DE4-7D4F-AB55-824534747093}"/>
              </a:ext>
            </a:extLst>
          </p:cNvPr>
          <p:cNvSpPr txBox="1"/>
          <p:nvPr/>
        </p:nvSpPr>
        <p:spPr>
          <a:xfrm>
            <a:off x="1761798" y="3787643"/>
            <a:ext cx="1668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Starter files</a:t>
            </a:r>
          </a:p>
          <a:p>
            <a:r>
              <a:rPr lang="en-US" dirty="0"/>
              <a:t>JUnit5 tests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E286F2-48B7-6846-8432-1F1D322B5409}"/>
              </a:ext>
            </a:extLst>
          </p:cNvPr>
          <p:cNvSpPr/>
          <p:nvPr/>
        </p:nvSpPr>
        <p:spPr>
          <a:xfrm>
            <a:off x="6622517" y="2032687"/>
            <a:ext cx="1643449" cy="16990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Copy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C7325-1595-C343-A24A-11FD9BFDA4E6}"/>
              </a:ext>
            </a:extLst>
          </p:cNvPr>
          <p:cNvSpPr txBox="1"/>
          <p:nvPr/>
        </p:nvSpPr>
        <p:spPr>
          <a:xfrm>
            <a:off x="6724907" y="3787643"/>
            <a:ext cx="1615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Starter files</a:t>
            </a:r>
          </a:p>
          <a:p>
            <a:r>
              <a:rPr lang="en-US" dirty="0"/>
              <a:t>JUnit5 tests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BACB4-0B63-EE42-B1BE-B9620D3CF979}"/>
              </a:ext>
            </a:extLst>
          </p:cNvPr>
          <p:cNvSpPr txBox="1"/>
          <p:nvPr/>
        </p:nvSpPr>
        <p:spPr>
          <a:xfrm>
            <a:off x="8561173" y="2392598"/>
            <a:ext cx="2940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adds code that will pass the tests provided in the JUnit 5 tests file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A83E1A-51D1-4E4A-8C98-571081915EA5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213407" y="2882214"/>
            <a:ext cx="3409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958C79-9872-4846-95A6-AAF35338FAE5}"/>
              </a:ext>
            </a:extLst>
          </p:cNvPr>
          <p:cNvSpPr txBox="1"/>
          <p:nvPr/>
        </p:nvSpPr>
        <p:spPr>
          <a:xfrm>
            <a:off x="3430588" y="2515709"/>
            <a:ext cx="214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invitation &amp; acceptance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7504E-ED0D-C545-AB66-2B253CF0F71B}"/>
              </a:ext>
            </a:extLst>
          </p:cNvPr>
          <p:cNvSpPr txBox="1"/>
          <p:nvPr/>
        </p:nvSpPr>
        <p:spPr>
          <a:xfrm>
            <a:off x="1297460" y="5165124"/>
            <a:ext cx="8019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JUnit 5 unit test file contains the tests that your code should pass before you commit/push the final copy of your project for grading</a:t>
            </a:r>
          </a:p>
        </p:txBody>
      </p:sp>
    </p:spTree>
    <p:extLst>
      <p:ext uri="{BB962C8B-B14F-4D97-AF65-F5344CB8AC3E}">
        <p14:creationId xmlns:p14="http://schemas.microsoft.com/office/powerpoint/2010/main" val="1478165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CE8E-FB0E-AA45-9641-FDFEDFBA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89" y="274557"/>
            <a:ext cx="10515600" cy="646330"/>
          </a:xfrm>
        </p:spPr>
        <p:txBody>
          <a:bodyPr>
            <a:normAutofit fontScale="90000"/>
          </a:bodyPr>
          <a:lstStyle/>
          <a:p>
            <a:r>
              <a:rPr lang="en-US" dirty="0"/>
              <a:t>How We Use Unit Testing for the Course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14951-2EEC-F04C-8054-A117218CE27D}"/>
              </a:ext>
            </a:extLst>
          </p:cNvPr>
          <p:cNvSpPr/>
          <p:nvPr/>
        </p:nvSpPr>
        <p:spPr>
          <a:xfrm>
            <a:off x="1213467" y="1590874"/>
            <a:ext cx="1643449" cy="16990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 Classroom Assignment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2C535-1DE4-7D4F-AB55-824534747093}"/>
              </a:ext>
            </a:extLst>
          </p:cNvPr>
          <p:cNvSpPr txBox="1"/>
          <p:nvPr/>
        </p:nvSpPr>
        <p:spPr>
          <a:xfrm>
            <a:off x="1188126" y="3346816"/>
            <a:ext cx="1668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Starter files</a:t>
            </a:r>
          </a:p>
          <a:p>
            <a:r>
              <a:rPr lang="en-US" dirty="0"/>
              <a:t>JUnit5 tests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E286F2-48B7-6846-8432-1F1D322B5409}"/>
              </a:ext>
            </a:extLst>
          </p:cNvPr>
          <p:cNvSpPr/>
          <p:nvPr/>
        </p:nvSpPr>
        <p:spPr>
          <a:xfrm>
            <a:off x="6474234" y="1578600"/>
            <a:ext cx="1643449" cy="16990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Copy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C7325-1595-C343-A24A-11FD9BFDA4E6}"/>
              </a:ext>
            </a:extLst>
          </p:cNvPr>
          <p:cNvSpPr txBox="1"/>
          <p:nvPr/>
        </p:nvSpPr>
        <p:spPr>
          <a:xfrm>
            <a:off x="5498326" y="3301948"/>
            <a:ext cx="1615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Starter files</a:t>
            </a:r>
          </a:p>
          <a:p>
            <a:r>
              <a:rPr lang="en-US" dirty="0"/>
              <a:t>JUnit5 tests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BACB4-0B63-EE42-B1BE-B9620D3CF979}"/>
              </a:ext>
            </a:extLst>
          </p:cNvPr>
          <p:cNvSpPr txBox="1"/>
          <p:nvPr/>
        </p:nvSpPr>
        <p:spPr>
          <a:xfrm>
            <a:off x="8391298" y="1082355"/>
            <a:ext cx="2940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 writes Java code in a new class that will pass the tests provided in the JUnit 5 tests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Eventually student pushes all files back to GitHub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Mr. P pulls (downloads) all the files and grades the assignment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A83E1A-51D1-4E4A-8C98-571081915EA5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856916" y="2428127"/>
            <a:ext cx="3617318" cy="12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958C79-9872-4846-95A6-AAF35338FAE5}"/>
              </a:ext>
            </a:extLst>
          </p:cNvPr>
          <p:cNvSpPr txBox="1"/>
          <p:nvPr/>
        </p:nvSpPr>
        <p:spPr>
          <a:xfrm>
            <a:off x="3282305" y="2061622"/>
            <a:ext cx="2510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 send invitation, you accept</a:t>
            </a: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58F10606-0218-B844-8C94-A4BCE69A4EC1}"/>
              </a:ext>
            </a:extLst>
          </p:cNvPr>
          <p:cNvSpPr/>
          <p:nvPr/>
        </p:nvSpPr>
        <p:spPr>
          <a:xfrm>
            <a:off x="8420683" y="5318445"/>
            <a:ext cx="914400" cy="914400"/>
          </a:xfrm>
          <a:prstGeom prst="smileyFac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794DED-B5BF-DC49-803B-0B62E590C4A3}"/>
              </a:ext>
            </a:extLst>
          </p:cNvPr>
          <p:cNvCxnSpPr>
            <a:cxnSpLocks/>
          </p:cNvCxnSpPr>
          <p:nvPr/>
        </p:nvCxnSpPr>
        <p:spPr>
          <a:xfrm>
            <a:off x="7300446" y="3264998"/>
            <a:ext cx="0" cy="1550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9E3CDDA-9FC5-0E4C-9334-0E010201B6E4}"/>
              </a:ext>
            </a:extLst>
          </p:cNvPr>
          <p:cNvSpPr txBox="1"/>
          <p:nvPr/>
        </p:nvSpPr>
        <p:spPr>
          <a:xfrm>
            <a:off x="6803515" y="4451960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pull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ADD7FF-4347-F84A-9DB2-6C0BE4A3C8C6}"/>
              </a:ext>
            </a:extLst>
          </p:cNvPr>
          <p:cNvSpPr/>
          <p:nvPr/>
        </p:nvSpPr>
        <p:spPr>
          <a:xfrm>
            <a:off x="6474234" y="4815771"/>
            <a:ext cx="1643449" cy="168639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Student’s Original Files + Added 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D8A119-74BD-D14D-AFBA-E47A1D7732D3}"/>
              </a:ext>
            </a:extLst>
          </p:cNvPr>
          <p:cNvSpPr txBox="1"/>
          <p:nvPr/>
        </p:nvSpPr>
        <p:spPr>
          <a:xfrm>
            <a:off x="8543881" y="4949113"/>
            <a:ext cx="66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Mr. 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D82E31-6394-1A44-BF6F-7AB25DD58B6E}"/>
              </a:ext>
            </a:extLst>
          </p:cNvPr>
          <p:cNvSpPr/>
          <p:nvPr/>
        </p:nvSpPr>
        <p:spPr>
          <a:xfrm>
            <a:off x="3795962" y="4815771"/>
            <a:ext cx="1643449" cy="16863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Mr. P’s JUnit 5 Tests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9271C1-D9B3-BB4C-89B1-3587875919ED}"/>
              </a:ext>
            </a:extLst>
          </p:cNvPr>
          <p:cNvCxnSpPr>
            <a:stCxn id="21" idx="1"/>
            <a:endCxn id="24" idx="3"/>
          </p:cNvCxnSpPr>
          <p:nvPr/>
        </p:nvCxnSpPr>
        <p:spPr>
          <a:xfrm flipH="1">
            <a:off x="5439411" y="5658970"/>
            <a:ext cx="10348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ED81458-8D2E-5E4B-B423-EA3AD340C3DA}"/>
              </a:ext>
            </a:extLst>
          </p:cNvPr>
          <p:cNvSpPr/>
          <p:nvPr/>
        </p:nvSpPr>
        <p:spPr>
          <a:xfrm>
            <a:off x="1213468" y="5261547"/>
            <a:ext cx="1643449" cy="7948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Assignment Grade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B06C13-32AF-1A44-BE24-74BFF6786A35}"/>
              </a:ext>
            </a:extLst>
          </p:cNvPr>
          <p:cNvCxnSpPr>
            <a:stCxn id="24" idx="1"/>
            <a:endCxn id="30" idx="3"/>
          </p:cNvCxnSpPr>
          <p:nvPr/>
        </p:nvCxnSpPr>
        <p:spPr>
          <a:xfrm flipH="1">
            <a:off x="2856917" y="5658970"/>
            <a:ext cx="9390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C07F46F-15D9-5B46-8604-54C6A35554E2}"/>
              </a:ext>
            </a:extLst>
          </p:cNvPr>
          <p:cNvSpPr txBox="1"/>
          <p:nvPr/>
        </p:nvSpPr>
        <p:spPr>
          <a:xfrm>
            <a:off x="3622926" y="2482739"/>
            <a:ext cx="2577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Classroom forks -&gt; your repo</a:t>
            </a:r>
          </a:p>
        </p:txBody>
      </p:sp>
    </p:spTree>
    <p:extLst>
      <p:ext uri="{BB962C8B-B14F-4D97-AF65-F5344CB8AC3E}">
        <p14:creationId xmlns:p14="http://schemas.microsoft.com/office/powerpoint/2010/main" val="166230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4C06-1AC1-D746-9BD6-DB24C539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JUnit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6244-5C64-2C43-A467-183D09E4E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https://junit.org/junit5/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Java-based unit testing framework</a:t>
            </a:r>
          </a:p>
          <a:p>
            <a:pPr lvl="1"/>
            <a:r>
              <a:rPr lang="en-US" dirty="0"/>
              <a:t>You write your tests in Java and they then exercise your “real” code</a:t>
            </a:r>
          </a:p>
          <a:p>
            <a:pPr lvl="1"/>
            <a:r>
              <a:rPr lang="en-US" dirty="0"/>
              <a:t>Provides a way to test your Java code to ensure it works correctly</a:t>
            </a:r>
          </a:p>
          <a:p>
            <a:pPr lvl="1"/>
            <a:r>
              <a:rPr lang="en-US" dirty="0"/>
              <a:t>Popular</a:t>
            </a:r>
          </a:p>
          <a:p>
            <a:pPr lvl="1"/>
            <a:r>
              <a:rPr lang="en-US" dirty="0"/>
              <a:t>Powerful</a:t>
            </a:r>
          </a:p>
          <a:p>
            <a:pPr lvl="1"/>
            <a:r>
              <a:rPr lang="en-US" dirty="0"/>
              <a:t>Most IDEs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25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5BEC-4556-3C44-9B31-3098ED40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JUnit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4B54C-BC31-F74B-A1B4-335FCE45C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“installer” for JUnit 5</a:t>
            </a:r>
          </a:p>
          <a:p>
            <a:r>
              <a:rPr lang="en-US" dirty="0"/>
              <a:t>All of the functionality we need is contained in JAR files</a:t>
            </a:r>
          </a:p>
          <a:p>
            <a:r>
              <a:rPr lang="en-US" dirty="0"/>
              <a:t>We download the JAR files and include them in our projects </a:t>
            </a:r>
          </a:p>
          <a:p>
            <a:pPr lvl="1"/>
            <a:r>
              <a:rPr lang="en-US" dirty="0"/>
              <a:t>Or we can use Maven (build &amp; dependency management tool)</a:t>
            </a:r>
          </a:p>
          <a:p>
            <a:r>
              <a:rPr lang="en-US" dirty="0"/>
              <a:t>IntelliJ “knows about” JUnit 5 and can help us</a:t>
            </a:r>
          </a:p>
          <a:p>
            <a:pPr lvl="1"/>
            <a:r>
              <a:rPr lang="en-US" dirty="0"/>
              <a:t>Let’s see a demo </a:t>
            </a:r>
          </a:p>
        </p:txBody>
      </p:sp>
    </p:spTree>
    <p:extLst>
      <p:ext uri="{BB962C8B-B14F-4D97-AF65-F5344CB8AC3E}">
        <p14:creationId xmlns:p14="http://schemas.microsoft.com/office/powerpoint/2010/main" val="1924955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458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Unit Testing &amp; JUnit5</vt:lpstr>
      <vt:lpstr>Agenda</vt:lpstr>
      <vt:lpstr>Overview of Unit Testing</vt:lpstr>
      <vt:lpstr>Overview of Unit Testing</vt:lpstr>
      <vt:lpstr>How We Use Unit Testing for the Course</vt:lpstr>
      <vt:lpstr>How We Use Unit Testing for the Course</vt:lpstr>
      <vt:lpstr>Overview of JUnit 5</vt:lpstr>
      <vt:lpstr>Installing JUnit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 &amp; JUnit5</dc:title>
  <dc:creator>John Puopolo</dc:creator>
  <cp:lastModifiedBy>John Puopolo</cp:lastModifiedBy>
  <cp:revision>11</cp:revision>
  <dcterms:created xsi:type="dcterms:W3CDTF">2020-09-13T14:30:31Z</dcterms:created>
  <dcterms:modified xsi:type="dcterms:W3CDTF">2020-09-14T13:01:02Z</dcterms:modified>
</cp:coreProperties>
</file>