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404" r:id="rId4"/>
    <p:sldId id="405" r:id="rId5"/>
    <p:sldId id="406" r:id="rId6"/>
    <p:sldId id="40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25"/>
    <p:restoredTop sz="96405"/>
  </p:normalViewPr>
  <p:slideViewPr>
    <p:cSldViewPr snapToGrid="0" snapToObjects="1">
      <p:cViewPr varScale="1">
        <p:scale>
          <a:sx n="128" d="100"/>
          <a:sy n="128" d="100"/>
        </p:scale>
        <p:origin x="5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948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685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4364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19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12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13253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108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517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2061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305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1686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85D6A2D-618F-AF49-A571-FAF1E94DAAE7}" type="datetimeFigureOut">
              <a:rPr lang="en-US" smtClean="0"/>
              <a:t>9/15/20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AF1C598-28E9-D546-A609-F4BA55A561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174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5.e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F445D-46E6-8940-9671-C3FF682862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exceptions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EC01F0-D310-5445-BC9D-E02976F78A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when things go wrong</a:t>
            </a:r>
          </a:p>
        </p:txBody>
      </p:sp>
    </p:spTree>
    <p:extLst>
      <p:ext uri="{BB962C8B-B14F-4D97-AF65-F5344CB8AC3E}">
        <p14:creationId xmlns:p14="http://schemas.microsoft.com/office/powerpoint/2010/main" val="2018716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EB0E6-0AE9-B242-ADBB-FCE50B81A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exception?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39C12-3E37-C94F-89AF-91731B200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An exception is an error that occurs in a program</a:t>
            </a:r>
          </a:p>
          <a:p>
            <a:r>
              <a:rPr lang="en-US" sz="2800" dirty="0"/>
              <a:t>Depending on the error…</a:t>
            </a:r>
          </a:p>
          <a:p>
            <a:pPr lvl="1"/>
            <a:r>
              <a:rPr lang="en-US" sz="2400" dirty="0"/>
              <a:t>Sometimes we can prevent the error from ever happening</a:t>
            </a:r>
          </a:p>
          <a:p>
            <a:pPr lvl="2"/>
            <a:r>
              <a:rPr lang="en-US" sz="2000" dirty="0"/>
              <a:t>By changing or improving our program</a:t>
            </a:r>
          </a:p>
          <a:p>
            <a:pPr lvl="1"/>
            <a:r>
              <a:rPr lang="en-US" sz="2400" dirty="0"/>
              <a:t>Sometimes we can recognize the error and recover from it</a:t>
            </a:r>
          </a:p>
          <a:p>
            <a:pPr lvl="2"/>
            <a:r>
              <a:rPr lang="en-US" sz="2000" dirty="0"/>
              <a:t>By ”handling” the exception gracefully</a:t>
            </a:r>
          </a:p>
          <a:p>
            <a:pPr lvl="1"/>
            <a:r>
              <a:rPr lang="en-US" sz="2400" dirty="0"/>
              <a:t>Sometimes we can’t do anything and the program terminates</a:t>
            </a:r>
          </a:p>
          <a:p>
            <a:pPr lvl="2"/>
            <a:r>
              <a:rPr lang="en-US" sz="2000" dirty="0"/>
              <a:t>and that’s just sad</a:t>
            </a:r>
          </a:p>
        </p:txBody>
      </p:sp>
    </p:spTree>
    <p:extLst>
      <p:ext uri="{BB962C8B-B14F-4D97-AF65-F5344CB8AC3E}">
        <p14:creationId xmlns:p14="http://schemas.microsoft.com/office/powerpoint/2010/main" val="38213499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E0615A36-FFD7-C042-BCF7-8C93A48D5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760" y="220091"/>
            <a:ext cx="7772400" cy="8191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Exception Types</a:t>
            </a:r>
            <a:endParaRPr lang="en-US" altLang="en-US" b="1"/>
          </a:p>
        </p:txBody>
      </p:sp>
      <p:sp>
        <p:nvSpPr>
          <p:cNvPr id="15364" name="Rectangle 10">
            <a:extLst>
              <a:ext uri="{FF2B5EF4-FFF2-40B4-BE49-F238E27FC236}">
                <a16:creationId xmlns:a16="http://schemas.microsoft.com/office/drawing/2014/main" id="{77D98DCB-1982-7C41-9CCF-E39F6C7AC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769419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15365" name="Object 9">
            <a:extLst>
              <a:ext uri="{FF2B5EF4-FFF2-40B4-BE49-F238E27FC236}">
                <a16:creationId xmlns:a16="http://schemas.microsoft.com/office/drawing/2014/main" id="{D7597B2D-AFAA-A843-A81F-43A20B490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059842"/>
              </p:ext>
            </p:extLst>
          </p:nvPr>
        </p:nvGraphicFramePr>
        <p:xfrm>
          <a:off x="1161995" y="1270958"/>
          <a:ext cx="8839200" cy="451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Picture" r:id="rId3" imgW="5613400" imgH="2857500" progId="Word.Picture.8">
                  <p:embed/>
                </p:oleObj>
              </mc:Choice>
              <mc:Fallback>
                <p:oleObj name="Picture" r:id="rId3" imgW="5613400" imgH="2857500" progId="Word.Picture.8">
                  <p:embed/>
                  <p:pic>
                    <p:nvPicPr>
                      <p:cNvPr id="15365" name="Object 9">
                        <a:extLst>
                          <a:ext uri="{FF2B5EF4-FFF2-40B4-BE49-F238E27FC236}">
                            <a16:creationId xmlns:a16="http://schemas.microsoft.com/office/drawing/2014/main" id="{D7597B2D-AFAA-A843-A81F-43A20B490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61995" y="1270958"/>
                        <a:ext cx="8839200" cy="451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FD4F50B-B894-B242-A730-91D7324474CD}"/>
              </a:ext>
            </a:extLst>
          </p:cNvPr>
          <p:cNvSpPr txBox="1"/>
          <p:nvPr/>
        </p:nvSpPr>
        <p:spPr>
          <a:xfrm>
            <a:off x="365760" y="1193297"/>
            <a:ext cx="379633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Exception are arranged in a class hierarchy (via </a:t>
            </a:r>
            <a:r>
              <a:rPr lang="en-US" sz="1400" i="1" dirty="0"/>
              <a:t>inheritance</a:t>
            </a:r>
            <a:r>
              <a:rPr lang="en-US" sz="1400" dirty="0"/>
              <a:t>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We’ll discuss class hierarchies and inheritance at length in a future class.</a:t>
            </a:r>
          </a:p>
        </p:txBody>
      </p:sp>
      <p:sp>
        <p:nvSpPr>
          <p:cNvPr id="3" name="Line Callout 1 (Border and Accent Bar) 2">
            <a:extLst>
              <a:ext uri="{FF2B5EF4-FFF2-40B4-BE49-F238E27FC236}">
                <a16:creationId xmlns:a16="http://schemas.microsoft.com/office/drawing/2014/main" id="{69EF8127-38CE-444D-888E-7F0BC232A48F}"/>
              </a:ext>
            </a:extLst>
          </p:cNvPr>
          <p:cNvSpPr/>
          <p:nvPr/>
        </p:nvSpPr>
        <p:spPr>
          <a:xfrm>
            <a:off x="735724" y="5407379"/>
            <a:ext cx="2297036" cy="750509"/>
          </a:xfrm>
          <a:prstGeom prst="accentBorderCallout1">
            <a:avLst>
              <a:gd name="adj1" fmla="val 66232"/>
              <a:gd name="adj2" fmla="val 106251"/>
              <a:gd name="adj3" fmla="val -25028"/>
              <a:gd name="adj4" fmla="val 142436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System error. Low-level issues that we can’t do anything about. Rarely happen.</a:t>
            </a:r>
          </a:p>
        </p:txBody>
      </p:sp>
      <p:sp>
        <p:nvSpPr>
          <p:cNvPr id="8" name="Line Callout 1 (Border and Accent Bar) 7">
            <a:extLst>
              <a:ext uri="{FF2B5EF4-FFF2-40B4-BE49-F238E27FC236}">
                <a16:creationId xmlns:a16="http://schemas.microsoft.com/office/drawing/2014/main" id="{F76CBDF7-4C96-D44C-8F3B-BAC6DA27DDED}"/>
              </a:ext>
            </a:extLst>
          </p:cNvPr>
          <p:cNvSpPr/>
          <p:nvPr/>
        </p:nvSpPr>
        <p:spPr>
          <a:xfrm>
            <a:off x="7940968" y="555392"/>
            <a:ext cx="2856462" cy="1114958"/>
          </a:xfrm>
          <a:prstGeom prst="accentBorderCallout1">
            <a:avLst>
              <a:gd name="adj1" fmla="val 58772"/>
              <a:gd name="adj2" fmla="val -4786"/>
              <a:gd name="adj3" fmla="val 188015"/>
              <a:gd name="adj4" fmla="val -45961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Problems that occur at runtime due to logic errors. Generally preventable via fixing your code.</a:t>
            </a:r>
          </a:p>
        </p:txBody>
      </p:sp>
    </p:spTree>
    <p:extLst>
      <p:ext uri="{BB962C8B-B14F-4D97-AF65-F5344CB8AC3E}">
        <p14:creationId xmlns:p14="http://schemas.microsoft.com/office/powerpoint/2010/main" val="35577763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E0615A36-FFD7-C042-BCF7-8C93A48D5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65760" y="220091"/>
            <a:ext cx="7772400" cy="819150"/>
          </a:xfrm>
        </p:spPr>
        <p:txBody>
          <a:bodyPr>
            <a:normAutofit fontScale="90000"/>
          </a:bodyPr>
          <a:lstStyle/>
          <a:p>
            <a:r>
              <a:rPr lang="en-US" altLang="en-US"/>
              <a:t>Exception Types</a:t>
            </a:r>
            <a:endParaRPr lang="en-US" altLang="en-US" b="1"/>
          </a:p>
        </p:txBody>
      </p:sp>
      <p:sp>
        <p:nvSpPr>
          <p:cNvPr id="15364" name="Rectangle 10">
            <a:extLst>
              <a:ext uri="{FF2B5EF4-FFF2-40B4-BE49-F238E27FC236}">
                <a16:creationId xmlns:a16="http://schemas.microsoft.com/office/drawing/2014/main" id="{77D98DCB-1982-7C41-9CCF-E39F6C7AC2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6773" y="2039464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F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SzPct val="65000"/>
              <a:buFont typeface="Monotype Sorts" pitchFamily="2" charset="2"/>
              <a:buChar char="u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/>
          </a:p>
        </p:txBody>
      </p:sp>
      <p:graphicFrame>
        <p:nvGraphicFramePr>
          <p:cNvPr id="15365" name="Object 9">
            <a:extLst>
              <a:ext uri="{FF2B5EF4-FFF2-40B4-BE49-F238E27FC236}">
                <a16:creationId xmlns:a16="http://schemas.microsoft.com/office/drawing/2014/main" id="{D7597B2D-AFAA-A843-A81F-43A20B490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13158"/>
              </p:ext>
            </p:extLst>
          </p:nvPr>
        </p:nvGraphicFramePr>
        <p:xfrm>
          <a:off x="2685995" y="2039464"/>
          <a:ext cx="8839200" cy="451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2" name="Picture" r:id="rId3" imgW="5613400" imgH="2857500" progId="Word.Picture.8">
                  <p:embed/>
                </p:oleObj>
              </mc:Choice>
              <mc:Fallback>
                <p:oleObj name="Picture" r:id="rId3" imgW="5613400" imgH="2857500" progId="Word.Picture.8">
                  <p:embed/>
                  <p:pic>
                    <p:nvPicPr>
                      <p:cNvPr id="15365" name="Object 9">
                        <a:extLst>
                          <a:ext uri="{FF2B5EF4-FFF2-40B4-BE49-F238E27FC236}">
                            <a16:creationId xmlns:a16="http://schemas.microsoft.com/office/drawing/2014/main" id="{D7597B2D-AFAA-A843-A81F-43A20B4909E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995" y="2039464"/>
                        <a:ext cx="8839200" cy="451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FD4F50B-B894-B242-A730-91D7324474CD}"/>
              </a:ext>
            </a:extLst>
          </p:cNvPr>
          <p:cNvSpPr txBox="1"/>
          <p:nvPr/>
        </p:nvSpPr>
        <p:spPr>
          <a:xfrm>
            <a:off x="666805" y="1439101"/>
            <a:ext cx="37963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checked exceptions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those that you must declare and/or handle in a method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unchecked exceptions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those that can occur but for which you don’t need to declare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/>
              <a:t>keeps the code less cluttered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D54DE71-8FC3-7D4B-8F3B-E2BB737C856F}"/>
              </a:ext>
            </a:extLst>
          </p:cNvPr>
          <p:cNvSpPr/>
          <p:nvPr/>
        </p:nvSpPr>
        <p:spPr>
          <a:xfrm>
            <a:off x="6843220" y="1797060"/>
            <a:ext cx="1701690" cy="28666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More classes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92E214-1A50-5D43-833D-6F1628BB27BB}"/>
              </a:ext>
            </a:extLst>
          </p:cNvPr>
          <p:cNvSpPr/>
          <p:nvPr/>
        </p:nvSpPr>
        <p:spPr>
          <a:xfrm>
            <a:off x="6648395" y="1578442"/>
            <a:ext cx="2064680" cy="167654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9A19C6-554A-D541-8AB6-B8E9C4A1F724}"/>
              </a:ext>
            </a:extLst>
          </p:cNvPr>
          <p:cNvSpPr txBox="1"/>
          <p:nvPr/>
        </p:nvSpPr>
        <p:spPr>
          <a:xfrm>
            <a:off x="6554340" y="1196896"/>
            <a:ext cx="23155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checked exceptions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09D3D0F-53D7-B945-88C4-D0C42E32C1F9}"/>
              </a:ext>
            </a:extLst>
          </p:cNvPr>
          <p:cNvSpPr/>
          <p:nvPr/>
        </p:nvSpPr>
        <p:spPr>
          <a:xfrm>
            <a:off x="8797157" y="2501129"/>
            <a:ext cx="2596055" cy="2614185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C712B2-2F59-274F-9D5C-97D05506F389}"/>
              </a:ext>
            </a:extLst>
          </p:cNvPr>
          <p:cNvSpPr txBox="1"/>
          <p:nvPr/>
        </p:nvSpPr>
        <p:spPr>
          <a:xfrm>
            <a:off x="8842351" y="2131797"/>
            <a:ext cx="25784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unchecked exceptions</a:t>
            </a:r>
          </a:p>
        </p:txBody>
      </p:sp>
    </p:spTree>
    <p:extLst>
      <p:ext uri="{BB962C8B-B14F-4D97-AF65-F5344CB8AC3E}">
        <p14:creationId xmlns:p14="http://schemas.microsoft.com/office/powerpoint/2010/main" val="930797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E6207-3EF2-B148-9986-C8BF677709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D5550-EDA8-1548-B870-9FB64584E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When an exception occurs, we say…</a:t>
            </a:r>
          </a:p>
          <a:p>
            <a:pPr lvl="1"/>
            <a:r>
              <a:rPr lang="en-US" sz="2000" dirty="0"/>
              <a:t>an exception was </a:t>
            </a:r>
            <a:r>
              <a:rPr lang="en-US" sz="2000" i="1" dirty="0"/>
              <a:t>thrown</a:t>
            </a:r>
            <a:r>
              <a:rPr lang="en-US" sz="2000" dirty="0"/>
              <a:t> or that the exception was </a:t>
            </a:r>
            <a:r>
              <a:rPr lang="en-US" sz="2000" i="1" dirty="0"/>
              <a:t>raised</a:t>
            </a:r>
          </a:p>
          <a:p>
            <a:r>
              <a:rPr lang="en-US" sz="2400" dirty="0"/>
              <a:t>If we handle the exception in a block of code, we say…</a:t>
            </a:r>
          </a:p>
          <a:p>
            <a:pPr lvl="1"/>
            <a:r>
              <a:rPr lang="en-US" sz="2000" dirty="0"/>
              <a:t>the exception was </a:t>
            </a:r>
            <a:r>
              <a:rPr lang="en-US" sz="2000" i="1" dirty="0"/>
              <a:t>caught</a:t>
            </a:r>
            <a:r>
              <a:rPr lang="en-US" sz="2000" dirty="0"/>
              <a:t> or that the exception was </a:t>
            </a:r>
            <a:r>
              <a:rPr lang="en-US" sz="2000" i="1" dirty="0"/>
              <a:t>handled</a:t>
            </a:r>
          </a:p>
          <a:p>
            <a:r>
              <a:rPr lang="en-US" sz="2400" dirty="0"/>
              <a:t>The JVM/Java program might cause an exception to be thrown </a:t>
            </a:r>
          </a:p>
          <a:p>
            <a:r>
              <a:rPr lang="en-US" sz="2400" dirty="0"/>
              <a:t>We as programmers can create and throw our own exceptions in response to program conditions as well</a:t>
            </a:r>
          </a:p>
        </p:txBody>
      </p:sp>
    </p:spTree>
    <p:extLst>
      <p:ext uri="{BB962C8B-B14F-4D97-AF65-F5344CB8AC3E}">
        <p14:creationId xmlns:p14="http://schemas.microsoft.com/office/powerpoint/2010/main" val="3232566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7038D-BF24-7448-A2AB-86B0B7ED1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java constructs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88ABE7-8054-B04D-8D5A-96E4811BE76E}"/>
              </a:ext>
            </a:extLst>
          </p:cNvPr>
          <p:cNvSpPr txBox="1"/>
          <p:nvPr/>
        </p:nvSpPr>
        <p:spPr>
          <a:xfrm>
            <a:off x="1534509" y="2093976"/>
            <a:ext cx="885050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try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// code (that could throw exception)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 catch (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ExceptionClass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// handle exception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 finally {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// runs whether or not exception occurs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// generally used to clean up resources, e.g.,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 //   close opened files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18313918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{3A9F6106-0FB2-D042-BF64-07698D0B280B}tf10001070</Template>
  <TotalTime>2924</TotalTime>
  <Words>294</Words>
  <Application>Microsoft Macintosh PowerPoint</Application>
  <PresentationFormat>Widescreen</PresentationFormat>
  <Paragraphs>43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7" baseType="lpstr">
      <vt:lpstr>Arial</vt:lpstr>
      <vt:lpstr>Calibri</vt:lpstr>
      <vt:lpstr>Consolas</vt:lpstr>
      <vt:lpstr>Rockwell</vt:lpstr>
      <vt:lpstr>Rockwell Condensed</vt:lpstr>
      <vt:lpstr>Rockwell Extra Bold</vt:lpstr>
      <vt:lpstr>Times New Roman</vt:lpstr>
      <vt:lpstr>Wingdings</vt:lpstr>
      <vt:lpstr>Wood Type</vt:lpstr>
      <vt:lpstr>Microsoft Word Picture</vt:lpstr>
      <vt:lpstr>Picture</vt:lpstr>
      <vt:lpstr>exceptions</vt:lpstr>
      <vt:lpstr>what is an exception?</vt:lpstr>
      <vt:lpstr>Exception Types</vt:lpstr>
      <vt:lpstr>Exception Types</vt:lpstr>
      <vt:lpstr>terminology</vt:lpstr>
      <vt:lpstr>java constructs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exceptions</dc:title>
  <dc:creator>John Puopolo</dc:creator>
  <cp:lastModifiedBy>John Puopolo</cp:lastModifiedBy>
  <cp:revision>7</cp:revision>
  <dcterms:created xsi:type="dcterms:W3CDTF">2020-09-15T15:37:34Z</dcterms:created>
  <dcterms:modified xsi:type="dcterms:W3CDTF">2020-09-17T16:22:08Z</dcterms:modified>
</cp:coreProperties>
</file>