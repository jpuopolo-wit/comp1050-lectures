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96"/>
    <p:restoredTop sz="94622"/>
  </p:normalViewPr>
  <p:slideViewPr>
    <p:cSldViewPr snapToGrid="0" snapToObjects="1">
      <p:cViewPr>
        <p:scale>
          <a:sx n="110" d="100"/>
          <a:sy n="110" d="100"/>
        </p:scale>
        <p:origin x="360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C711ED-D5F8-1C4E-8D89-75BED680E220}" type="datetimeFigureOut">
              <a:rPr lang="en-US" smtClean="0"/>
              <a:t>8/31/20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F9083A-A0E2-B14C-A206-F55EBB1E7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292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F9083A-A0E2-B14C-A206-F55EBB1E76F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7930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3F893-ECC9-1E49-83D6-73A62F6102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D9416C-4336-5E4B-BBA2-5DAEADFD14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E21CA-DAD1-E34D-A281-D7772902B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D526B-5E10-D349-99E1-A34351DA8329}" type="datetimeFigureOut">
              <a:rPr lang="en-US" smtClean="0"/>
              <a:t>8/31/20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9FF2B-31C9-474B-BC46-4BE68650A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06472-C43D-7042-9F56-B3FCE45F7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D7DB1-33DB-B149-9DDC-3CDAA5122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647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2923A-753E-C14E-9441-AA15633BF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49A27-6E1D-CB47-B7A5-B175C7AFF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175E9-D42A-0B45-9B8D-86EB3C30A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D526B-5E10-D349-99E1-A34351DA8329}" type="datetimeFigureOut">
              <a:rPr lang="en-US" smtClean="0"/>
              <a:t>8/31/20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FAE391-D7CC-3B49-A71F-E4A96676D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E3B3A-B332-844E-8A39-E48BE4232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D7DB1-33DB-B149-9DDC-3CDAA5122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0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D3918-4748-2741-8F89-5CF0B7BCB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5D4B9A-CCDE-4941-8F9E-D46FC85C9A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97C5E-5519-524A-8D94-36ECB49B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D526B-5E10-D349-99E1-A34351DA8329}" type="datetimeFigureOut">
              <a:rPr lang="en-US" smtClean="0"/>
              <a:t>8/31/20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55912-08D1-794E-9924-23B110E92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580906-47BA-0D4E-B5A5-622E8B784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D7DB1-33DB-B149-9DDC-3CDAA5122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172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390C1-72C1-1F44-9CE8-7F83DE2DC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5D2A5-07EE-554D-892A-FFF98096C6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4CF9D1-FF45-6241-A4B0-0B20416CE1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10BEAE-AA2E-AE4D-BB96-9039512D2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D526B-5E10-D349-99E1-A34351DA8329}" type="datetimeFigureOut">
              <a:rPr lang="en-US" smtClean="0"/>
              <a:t>8/31/20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3591E2-4B2A-1445-8141-9DFDE70CD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0EF1BD-D6F1-464A-BFE0-DA028F6AC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D7DB1-33DB-B149-9DDC-3CDAA5122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859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F873C-4A9E-E94E-B7E1-9AD1B1CA8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2E4405-7CA3-9041-8CAC-9F032223D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C82DDE-85A7-C147-9F34-034814CA7A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A898A7-2183-084C-ADA0-F8CA22E00C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E13207-C8E6-A64C-A999-23A7236688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7A7DFA-1B67-4E4C-B1FE-3F6FADA48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D526B-5E10-D349-99E1-A34351DA8329}" type="datetimeFigureOut">
              <a:rPr lang="en-US" smtClean="0"/>
              <a:t>8/31/20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42A4D9-364E-B541-82F0-D84972EF9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C7A36F-D937-1C4B-9AAF-70CD93B97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D7DB1-33DB-B149-9DDC-3CDAA5122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667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D363A-914F-4245-ACF2-CA1D8376F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B1E10E-7E3F-314D-BBFA-AA4EC8D19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D526B-5E10-D349-99E1-A34351DA8329}" type="datetimeFigureOut">
              <a:rPr lang="en-US" smtClean="0"/>
              <a:t>8/31/20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ED5BE5-7D52-5744-9E27-D5EDF81A8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0CA144-049B-8E4C-9CBC-C0694D8BD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D7DB1-33DB-B149-9DDC-3CDAA5122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427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BA613B-D164-A64C-BC55-0A12804EB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D526B-5E10-D349-99E1-A34351DA8329}" type="datetimeFigureOut">
              <a:rPr lang="en-US" smtClean="0"/>
              <a:t>8/31/20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76BAD1-BFB8-4C4D-91F6-762DCB692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0CEFE5-B1AC-2244-B8E5-052C635EA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D7DB1-33DB-B149-9DDC-3CDAA5122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347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25B92-C036-7844-A1C6-B01085E1E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36E7B-16B2-ED43-8F85-389B4F57A8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67F7CD-D2B1-5240-81CD-4CBA0FA518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45F242-30D3-1F45-9CFC-9D36B9636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D526B-5E10-D349-99E1-A34351DA8329}" type="datetimeFigureOut">
              <a:rPr lang="en-US" smtClean="0"/>
              <a:t>8/31/20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685213-64C1-8D4F-929D-26A22CDED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1AC2CB-B5E5-EF45-B1A1-88A4EB37C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D7DB1-33DB-B149-9DDC-3CDAA5122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387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C8D3-4173-6E42-A4A7-CAB14C53D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7F5453-B582-344A-A307-FA59912761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7F2289-4869-0D4A-A4A5-3E1AD4606C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7C2D40-81E3-4F42-B56F-906E574EC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D526B-5E10-D349-99E1-A34351DA8329}" type="datetimeFigureOut">
              <a:rPr lang="en-US" smtClean="0"/>
              <a:t>8/31/20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E581D9-BE37-FF4D-BDE1-217A0E944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EB311B-997C-2A40-94CB-87E598B41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D7DB1-33DB-B149-9DDC-3CDAA5122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708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EA64E-BD2A-0A4E-BED2-449F207B9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93A709-2EE4-E247-AFF5-90A9F59DCA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6E2250-4715-064B-B3E3-BBB8C082E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D526B-5E10-D349-99E1-A34351DA8329}" type="datetimeFigureOut">
              <a:rPr lang="en-US" smtClean="0"/>
              <a:t>8/31/20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BA3A9-4222-3D41-9BF7-540F374D0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A50DD9-9AC1-2C42-B59C-7C7CE0906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D7DB1-33DB-B149-9DDC-3CDAA5122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836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59610B-1305-E24F-B47A-C131F207C5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11C26A-AF40-C94E-BFEA-0A231266D7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4F1A4D-13B7-A545-B372-A9578963A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D526B-5E10-D349-99E1-A34351DA8329}" type="datetimeFigureOut">
              <a:rPr lang="en-US" smtClean="0"/>
              <a:t>8/31/20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AED2F-C68D-EE4F-A30E-5BC469094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09B3C-23D6-3748-BDE5-A9F082724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D7DB1-33DB-B149-9DDC-3CDAA5122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025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5336A1-6586-814A-A1D4-5E020C474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8708BA-25BD-E541-905D-7EE3D263C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50669B-1354-994C-8E3B-DDEE455AD6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CD526B-5E10-D349-99E1-A34351DA8329}" type="datetimeFigureOut">
              <a:rPr lang="en-US" smtClean="0"/>
              <a:t>8/31/20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4A82F8-081D-B044-83A1-6A7AD068F3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D1FC2-2547-E844-9C85-AF56CC3A7A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7D7DB1-33DB-B149-9DDC-3CDAA5122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521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javase/8/docs/api/java/util/Objects.html#requireNonNull-T-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F477C-488F-BF43-887A-43F812255B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Generics &amp; Wildcards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92CC26-F2E0-B942-9E65-05EE297923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Supplement</a:t>
            </a:r>
          </a:p>
        </p:txBody>
      </p:sp>
    </p:spTree>
    <p:extLst>
      <p:ext uri="{BB962C8B-B14F-4D97-AF65-F5344CB8AC3E}">
        <p14:creationId xmlns:p14="http://schemas.microsoft.com/office/powerpoint/2010/main" val="4166488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B0E3C-92EF-E24C-B603-169DD4581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Generics with Inheritance and Collections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50241-73AF-4449-A949-33E5C8AE1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As we know, Java enables us to have generic data structures and methods</a:t>
            </a:r>
          </a:p>
          <a:p>
            <a:r>
              <a:rPr lang="en-US" dirty="0"/>
              <a:t>This works well the majority of the time; however, we run into issues when we have collections of things in the face of inheritance</a:t>
            </a:r>
          </a:p>
          <a:p>
            <a:pPr lvl="1"/>
            <a:r>
              <a:rPr lang="en-US" dirty="0">
                <a:latin typeface="Andale Mono" panose="020B0509000000000004" pitchFamily="49" charset="0"/>
              </a:rPr>
              <a:t>Integer</a:t>
            </a:r>
            <a:r>
              <a:rPr lang="en-US" dirty="0"/>
              <a:t> is a subclass of </a:t>
            </a:r>
            <a:r>
              <a:rPr lang="en-US" dirty="0">
                <a:latin typeface="Andale Mono" panose="020B0509000000000004" pitchFamily="49" charset="0"/>
              </a:rPr>
              <a:t>Number</a:t>
            </a:r>
            <a:r>
              <a:rPr lang="en-US" dirty="0"/>
              <a:t>…but…</a:t>
            </a:r>
          </a:p>
          <a:p>
            <a:pPr lvl="1"/>
            <a:r>
              <a:rPr lang="en-US" dirty="0"/>
              <a:t>Just because </a:t>
            </a:r>
            <a:r>
              <a:rPr lang="en-US" dirty="0">
                <a:latin typeface="Andale Mono" panose="020B0509000000000004" pitchFamily="49" charset="0"/>
              </a:rPr>
              <a:t>Integer</a:t>
            </a:r>
            <a:r>
              <a:rPr lang="en-US" dirty="0"/>
              <a:t> is a subclass of </a:t>
            </a:r>
            <a:r>
              <a:rPr lang="en-US" dirty="0">
                <a:latin typeface="Andale Mono" panose="020B0509000000000004" pitchFamily="49" charset="0"/>
              </a:rPr>
              <a:t>Number</a:t>
            </a:r>
            <a:r>
              <a:rPr lang="en-US" dirty="0"/>
              <a:t>, a collection, e.g., List of Integer (</a:t>
            </a:r>
            <a:r>
              <a:rPr lang="en-US" dirty="0">
                <a:latin typeface="Andale Mono" panose="020B0509000000000004" pitchFamily="49" charset="0"/>
              </a:rPr>
              <a:t>List&lt;Integer&gt;)</a:t>
            </a:r>
            <a:r>
              <a:rPr lang="en-US" dirty="0"/>
              <a:t>is </a:t>
            </a:r>
            <a:r>
              <a:rPr lang="en-US" i="1" dirty="0"/>
              <a:t>not</a:t>
            </a:r>
            <a:r>
              <a:rPr lang="en-US" dirty="0"/>
              <a:t> a subclass of a List of Number (</a:t>
            </a:r>
            <a:r>
              <a:rPr lang="en-US" dirty="0">
                <a:latin typeface="Andale Mono" panose="020B0509000000000004" pitchFamily="49" charset="0"/>
              </a:rPr>
              <a:t>List&lt;Number&gt;)</a:t>
            </a:r>
          </a:p>
          <a:p>
            <a:pPr lvl="1"/>
            <a:r>
              <a:rPr lang="en-US" dirty="0"/>
              <a:t>We say these types are </a:t>
            </a:r>
            <a:r>
              <a:rPr lang="en-US" i="1" dirty="0"/>
              <a:t>contravariant</a:t>
            </a:r>
          </a:p>
          <a:p>
            <a:pPr lvl="1"/>
            <a:r>
              <a:rPr lang="en-US" dirty="0"/>
              <a:t>This feel counterintuitive, but it prevents certain types of compiler subversion and enables Java to remain internally consistent</a:t>
            </a:r>
          </a:p>
        </p:txBody>
      </p:sp>
    </p:spTree>
    <p:extLst>
      <p:ext uri="{BB962C8B-B14F-4D97-AF65-F5344CB8AC3E}">
        <p14:creationId xmlns:p14="http://schemas.microsoft.com/office/powerpoint/2010/main" val="3116571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D0BF6-85C6-AA4B-ACFB-7CDDDB3B9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Wildcards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5DAC8-D8F1-6D49-B2E5-386408D65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Contravariance prevents constructs that you’d assume would work</a:t>
            </a:r>
          </a:p>
          <a:p>
            <a:r>
              <a:rPr lang="en-US" dirty="0"/>
              <a:t>For example, declaring a method that takes a List&lt;Number&gt; and being able to pass in a list List&lt;Integer&gt;</a:t>
            </a:r>
          </a:p>
          <a:p>
            <a:r>
              <a:rPr lang="en-US" dirty="0"/>
              <a:t>In order to enable this type of thing in Java, we need to use </a:t>
            </a:r>
            <a:r>
              <a:rPr lang="en-US" i="1" dirty="0"/>
              <a:t>wildcard generics</a:t>
            </a:r>
          </a:p>
          <a:p>
            <a:r>
              <a:rPr lang="en-US" dirty="0"/>
              <a:t>The wildcard generic character is ?</a:t>
            </a:r>
          </a:p>
          <a:p>
            <a:r>
              <a:rPr lang="en-US" dirty="0"/>
              <a:t>Sometimes called the </a:t>
            </a:r>
            <a:r>
              <a:rPr lang="en-US" i="1" dirty="0"/>
              <a:t>unknown type </a:t>
            </a:r>
            <a:r>
              <a:rPr lang="en-US" dirty="0"/>
              <a:t>or</a:t>
            </a:r>
            <a:r>
              <a:rPr lang="en-US" i="1" dirty="0"/>
              <a:t> </a:t>
            </a:r>
            <a:r>
              <a:rPr lang="en-US" dirty="0"/>
              <a:t>the</a:t>
            </a:r>
            <a:r>
              <a:rPr lang="en-US" i="1" dirty="0"/>
              <a:t> unbounded wildcard</a:t>
            </a:r>
          </a:p>
        </p:txBody>
      </p:sp>
    </p:spTree>
    <p:extLst>
      <p:ext uri="{BB962C8B-B14F-4D97-AF65-F5344CB8AC3E}">
        <p14:creationId xmlns:p14="http://schemas.microsoft.com/office/powerpoint/2010/main" val="2840190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83BB7-1704-B141-907F-0D75160E8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Unbounded Wildcards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F2FDD-9D28-E146-BC7C-963A8BA85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dirty="0">
                <a:latin typeface="Andale Mono" panose="020B0509000000000004" pitchFamily="49" charset="0"/>
              </a:rPr>
              <a:t>List&lt;?&gt;</a:t>
            </a:r>
          </a:p>
          <a:p>
            <a:pPr lvl="1"/>
            <a:r>
              <a:rPr lang="en-US" dirty="0"/>
              <a:t>We are saying we have a </a:t>
            </a:r>
            <a:r>
              <a:rPr lang="en-US" dirty="0">
                <a:latin typeface="Andale Mono" panose="020B0509000000000004" pitchFamily="49" charset="0"/>
              </a:rPr>
              <a:t>List</a:t>
            </a:r>
            <a:r>
              <a:rPr lang="en-US" dirty="0"/>
              <a:t>, but that we have no clue what the underlying type of the elements are</a:t>
            </a:r>
          </a:p>
          <a:p>
            <a:pPr lvl="1"/>
            <a:r>
              <a:rPr lang="en-US" dirty="0"/>
              <a:t>Can only read from this list</a:t>
            </a:r>
          </a:p>
          <a:p>
            <a:pPr lvl="1"/>
            <a:r>
              <a:rPr lang="en-US" dirty="0"/>
              <a:t>Cannot write values into this list (once created)</a:t>
            </a:r>
          </a:p>
          <a:p>
            <a:pPr lvl="1"/>
            <a:r>
              <a:rPr lang="en-US" dirty="0"/>
              <a:t>Can only use methods on this list that have nothing to do with the element type, e.g., </a:t>
            </a:r>
            <a:r>
              <a:rPr lang="en-US" dirty="0">
                <a:latin typeface="Andale Mono" panose="020B0509000000000004" pitchFamily="49" charset="0"/>
              </a:rPr>
              <a:t>size()</a:t>
            </a:r>
          </a:p>
          <a:p>
            <a:pPr lvl="1"/>
            <a:r>
              <a:rPr lang="en-US" dirty="0"/>
              <a:t>Different from a </a:t>
            </a:r>
            <a:r>
              <a:rPr lang="en-US" dirty="0">
                <a:latin typeface="Andale Mono" panose="020B0509000000000004" pitchFamily="49" charset="0"/>
              </a:rPr>
              <a:t>List&lt;Object&gt; </a:t>
            </a:r>
            <a:r>
              <a:rPr lang="en-US" dirty="0"/>
              <a:t>when we talk about passing lists of types/subtypes into methods (we’ll see example shortly)</a:t>
            </a:r>
          </a:p>
          <a:p>
            <a:pPr lvl="1"/>
            <a:endParaRPr lang="en-US" dirty="0">
              <a:latin typeface="Andale Mono" panose="020B050900000000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6767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2D76B-0092-E248-9601-B2624C03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Upper Bounded Wildcard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9448E-7603-1345-B78D-3392F8EF32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When we need to pass collection of subtypes into methods that take collection of more general type</a:t>
            </a:r>
          </a:p>
          <a:p>
            <a:r>
              <a:rPr lang="en-US" dirty="0"/>
              <a:t>The passed-in collection is used as a producer of values</a:t>
            </a:r>
          </a:p>
          <a:p>
            <a:pPr lvl="1"/>
            <a:r>
              <a:rPr lang="en-US" dirty="0"/>
              <a:t>In other words, it’s simply read-from but not written to</a:t>
            </a:r>
          </a:p>
          <a:p>
            <a:r>
              <a:rPr lang="en-US" dirty="0"/>
              <a:t>The upper bounded wildcard turns what was contravariant into something that is covariant</a:t>
            </a:r>
          </a:p>
        </p:txBody>
      </p:sp>
    </p:spTree>
    <p:extLst>
      <p:ext uri="{BB962C8B-B14F-4D97-AF65-F5344CB8AC3E}">
        <p14:creationId xmlns:p14="http://schemas.microsoft.com/office/powerpoint/2010/main" val="3393123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2D76B-0092-E248-9601-B2624C03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Upper Bounded Wildcard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9448E-7603-1345-B78D-3392F8EF32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Uses </a:t>
            </a:r>
            <a:r>
              <a:rPr lang="en-US" dirty="0">
                <a:latin typeface="Andale Mono" panose="020B0509000000000004" pitchFamily="49" charset="0"/>
              </a:rPr>
              <a:t>extends</a:t>
            </a:r>
            <a:br>
              <a:rPr lang="en-US" dirty="0"/>
            </a:br>
            <a:endParaRPr lang="en-US" dirty="0"/>
          </a:p>
          <a:p>
            <a:pPr marL="457200" lvl="1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void </a:t>
            </a:r>
            <a:r>
              <a:rPr lang="en-US" sz="1800" dirty="0" err="1">
                <a:latin typeface="Andale Mono" panose="020B0509000000000004" pitchFamily="49" charset="0"/>
              </a:rPr>
              <a:t>myMethod</a:t>
            </a:r>
            <a:r>
              <a:rPr lang="en-US" sz="1800" dirty="0">
                <a:latin typeface="Andale Mono" panose="020B0509000000000004" pitchFamily="49" charset="0"/>
              </a:rPr>
              <a:t>(List&lt;? extends Number&gt; </a:t>
            </a:r>
            <a:r>
              <a:rPr lang="en-US" sz="1800" dirty="0" err="1">
                <a:latin typeface="Andale Mono" panose="020B0509000000000004" pitchFamily="49" charset="0"/>
              </a:rPr>
              <a:t>dataProducer</a:t>
            </a:r>
            <a:r>
              <a:rPr lang="en-US" sz="1800" dirty="0">
                <a:latin typeface="Andale Mono" panose="020B0509000000000004" pitchFamily="49" charset="0"/>
              </a:rPr>
              <a:t>) { … }</a:t>
            </a:r>
          </a:p>
          <a:p>
            <a:pPr marL="457200" lvl="1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	// this method will accept List&lt;Integer&gt;, List&lt;Double&gt;, etc.</a:t>
            </a:r>
          </a:p>
          <a:p>
            <a:pPr marL="457200" lvl="1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	// and we’ll be able to read from it and use Number methods</a:t>
            </a:r>
          </a:p>
        </p:txBody>
      </p:sp>
    </p:spTree>
    <p:extLst>
      <p:ext uri="{BB962C8B-B14F-4D97-AF65-F5344CB8AC3E}">
        <p14:creationId xmlns:p14="http://schemas.microsoft.com/office/powerpoint/2010/main" val="2995394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2D76B-0092-E248-9601-B2624C03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Lower Bounded Wildcard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9448E-7603-1345-B78D-3392F8EF32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when we need to pass collection of subtypes into methods that take collection of more general type</a:t>
            </a:r>
          </a:p>
          <a:p>
            <a:r>
              <a:rPr lang="en-US" dirty="0"/>
              <a:t>The passed-in collection is used as a consumer of values</a:t>
            </a:r>
          </a:p>
          <a:p>
            <a:pPr lvl="1"/>
            <a:r>
              <a:rPr lang="en-US" dirty="0"/>
              <a:t>In other words, it’s written-to but not read-from</a:t>
            </a:r>
          </a:p>
          <a:p>
            <a:r>
              <a:rPr lang="en-US" dirty="0"/>
              <a:t>The lower bounded wildcard turns what was contravariant into something that is covariant</a:t>
            </a:r>
          </a:p>
        </p:txBody>
      </p:sp>
    </p:spTree>
    <p:extLst>
      <p:ext uri="{BB962C8B-B14F-4D97-AF65-F5344CB8AC3E}">
        <p14:creationId xmlns:p14="http://schemas.microsoft.com/office/powerpoint/2010/main" val="2371259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2D76B-0092-E248-9601-B2624C03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Lower Bounded Wildcard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9448E-7603-1345-B78D-3392F8EF32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Uses </a:t>
            </a:r>
            <a:r>
              <a:rPr lang="en-US" dirty="0">
                <a:latin typeface="Andale Mono" panose="020B0509000000000004" pitchFamily="49" charset="0"/>
              </a:rPr>
              <a:t>super</a:t>
            </a:r>
            <a:br>
              <a:rPr lang="en-US" dirty="0"/>
            </a:br>
            <a:endParaRPr lang="en-US" dirty="0"/>
          </a:p>
          <a:p>
            <a:pPr marL="457200" lvl="1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void </a:t>
            </a:r>
            <a:r>
              <a:rPr lang="en-US" sz="1800" dirty="0" err="1">
                <a:latin typeface="Andale Mono" panose="020B0509000000000004" pitchFamily="49" charset="0"/>
              </a:rPr>
              <a:t>myMethod</a:t>
            </a:r>
            <a:r>
              <a:rPr lang="en-US" sz="1800" dirty="0">
                <a:latin typeface="Andale Mono" panose="020B0509000000000004" pitchFamily="49" charset="0"/>
              </a:rPr>
              <a:t>(List&lt;? super Number&gt; </a:t>
            </a:r>
            <a:r>
              <a:rPr lang="en-US" sz="1800" dirty="0" err="1">
                <a:latin typeface="Andale Mono" panose="020B0509000000000004" pitchFamily="49" charset="0"/>
              </a:rPr>
              <a:t>dataConsumer</a:t>
            </a:r>
            <a:r>
              <a:rPr lang="en-US" sz="1800" dirty="0">
                <a:latin typeface="Andale Mono" panose="020B0509000000000004" pitchFamily="49" charset="0"/>
              </a:rPr>
              <a:t>) { … }</a:t>
            </a:r>
          </a:p>
          <a:p>
            <a:pPr marL="457200" lvl="1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	// this method will accept List&lt;Integer&gt;, List&lt;Double&gt;, etc.</a:t>
            </a:r>
          </a:p>
          <a:p>
            <a:pPr marL="457200" lvl="1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	// and we’ll be able to write to it and use Number method or</a:t>
            </a:r>
          </a:p>
          <a:p>
            <a:pPr marL="457200" lvl="1" indent="0">
              <a:buNone/>
            </a:pPr>
            <a:r>
              <a:rPr lang="en-US" sz="1800" dirty="0">
                <a:latin typeface="Andale Mono" panose="020B0509000000000004" pitchFamily="49" charset="0"/>
              </a:rPr>
              <a:t>	// methods from ancestors of Number</a:t>
            </a:r>
          </a:p>
        </p:txBody>
      </p:sp>
    </p:spTree>
    <p:extLst>
      <p:ext uri="{BB962C8B-B14F-4D97-AF65-F5344CB8AC3E}">
        <p14:creationId xmlns:p14="http://schemas.microsoft.com/office/powerpoint/2010/main" val="2885893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EED8E-50B5-224E-95A7-36A245EF2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and Writing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DEA1F-1AC9-E145-B3EE-8DAF1FCB44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you both read and write a data structure in the same method, you cannot reliable use </a:t>
            </a:r>
            <a:r>
              <a:rPr lang="en-US" dirty="0">
                <a:latin typeface="Andale Mono" panose="020B0509000000000004" pitchFamily="49" charset="0"/>
              </a:rPr>
              <a:t>extends</a:t>
            </a:r>
            <a:r>
              <a:rPr lang="en-US" dirty="0"/>
              <a:t> or </a:t>
            </a:r>
            <a:r>
              <a:rPr lang="en-US" dirty="0">
                <a:latin typeface="Andale Mono" panose="020B0509000000000004" pitchFamily="49" charset="0"/>
              </a:rPr>
              <a:t>super</a:t>
            </a:r>
            <a:endParaRPr lang="en-US" dirty="0"/>
          </a:p>
          <a:p>
            <a:r>
              <a:rPr lang="en-US" dirty="0"/>
              <a:t>You need to use a specific type instead</a:t>
            </a:r>
          </a:p>
        </p:txBody>
      </p:sp>
    </p:spTree>
    <p:extLst>
      <p:ext uri="{BB962C8B-B14F-4D97-AF65-F5344CB8AC3E}">
        <p14:creationId xmlns:p14="http://schemas.microsoft.com/office/powerpoint/2010/main" val="3667018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25532-C46A-B447-B68B-808551952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Bounded Wildcards &lt;T&gt;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59FA0-D68F-DA40-ACE4-73DFE28E92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Bounded wildcard also work with generic parameters, e.g., &lt;T&gt;</a:t>
            </a:r>
          </a:p>
          <a:p>
            <a:r>
              <a:rPr lang="en-US" dirty="0"/>
              <a:t>Reading these can be a little confusing, but seek the intent of what the code conveys</a:t>
            </a:r>
          </a:p>
          <a:p>
            <a:r>
              <a:rPr lang="en-US" dirty="0"/>
              <a:t>Let’s take a look at some concrete examples in the sample code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59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4B587-312D-B74C-941C-044CF4F70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Supplement: </a:t>
            </a:r>
            <a:r>
              <a:rPr lang="en-US" dirty="0">
                <a:latin typeface="Andale Mono" panose="020B0509000000000004" pitchFamily="49" charset="0"/>
              </a:rPr>
              <a:t>Objects</a:t>
            </a:r>
            <a:r>
              <a:rPr lang="en-US" dirty="0"/>
              <a:t>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FB602-FAFB-B74C-B7A3-20C6A3828A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While not related to the current topic, the Java implementations of some of this stuff references a relatively new class: </a:t>
            </a:r>
            <a:r>
              <a:rPr lang="en-US" dirty="0">
                <a:latin typeface="Andale Mono" panose="020B0509000000000004" pitchFamily="49" charset="0"/>
              </a:rPr>
              <a:t>Objects</a:t>
            </a:r>
            <a:r>
              <a:rPr lang="en-US" dirty="0"/>
              <a:t> </a:t>
            </a:r>
          </a:p>
          <a:p>
            <a:r>
              <a:rPr lang="en-US" dirty="0"/>
              <a:t>(note the “s” on the end)</a:t>
            </a:r>
          </a:p>
          <a:p>
            <a:r>
              <a:rPr lang="en-US" dirty="0"/>
              <a:t>The </a:t>
            </a:r>
            <a:r>
              <a:rPr lang="en-US" dirty="0">
                <a:latin typeface="Andale Mono" panose="020B0509000000000004" pitchFamily="49" charset="0"/>
              </a:rPr>
              <a:t>Objects</a:t>
            </a:r>
            <a:r>
              <a:rPr lang="en-US" dirty="0"/>
              <a:t> class implements utility methods for operating on objects </a:t>
            </a:r>
          </a:p>
          <a:p>
            <a:r>
              <a:rPr lang="en-US" dirty="0"/>
              <a:t>These utilities include null-safe or null-tolerant methods for computing the hash code of an object, returning a string for an object, and comparing two objects</a:t>
            </a:r>
          </a:p>
          <a:p>
            <a:r>
              <a:rPr lang="en-US" dirty="0"/>
              <a:t>Example: </a:t>
            </a:r>
            <a:r>
              <a:rPr lang="en-US" dirty="0">
                <a:hlinkClick r:id="rId2"/>
              </a:rPr>
              <a:t>https://docs.oracle.com/javase/8/docs/api/java/util/Objects.html#requireNonNull-T</a:t>
            </a:r>
            <a:r>
              <a:rPr lang="en-US">
                <a:hlinkClick r:id="rId2"/>
              </a:rPr>
              <a:t>-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729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1181</TotalTime>
  <Words>677</Words>
  <Application>Microsoft Macintosh PowerPoint</Application>
  <PresentationFormat>Widescreen</PresentationFormat>
  <Paragraphs>57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Andale Mono</vt:lpstr>
      <vt:lpstr>Arial</vt:lpstr>
      <vt:lpstr>Calibri</vt:lpstr>
      <vt:lpstr>Calibri Light</vt:lpstr>
      <vt:lpstr>Office Theme</vt:lpstr>
      <vt:lpstr>Generics &amp; Wildcards</vt:lpstr>
      <vt:lpstr>Generics with Inheritance and Collections</vt:lpstr>
      <vt:lpstr>Wildcards</vt:lpstr>
      <vt:lpstr>Unbounded Wildcards</vt:lpstr>
      <vt:lpstr>Upper Bounded Wildcard</vt:lpstr>
      <vt:lpstr>Upper Bounded Wildcard</vt:lpstr>
      <vt:lpstr>Lower Bounded Wildcard</vt:lpstr>
      <vt:lpstr>Lower Bounded Wildcard</vt:lpstr>
      <vt:lpstr>Reading and Writing </vt:lpstr>
      <vt:lpstr>Bounded Wildcards &lt;T&gt;</vt:lpstr>
      <vt:lpstr>Supplement: Objects Class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Generics &amp; Wildcards</dc:title>
  <dc:creator>John Puopolo</dc:creator>
  <cp:lastModifiedBy>John Puopolo</cp:lastModifiedBy>
  <cp:revision>13</cp:revision>
  <dcterms:created xsi:type="dcterms:W3CDTF">2020-08-30T21:34:04Z</dcterms:created>
  <dcterms:modified xsi:type="dcterms:W3CDTF">2020-08-31T18:12:34Z</dcterms:modified>
</cp:coreProperties>
</file>