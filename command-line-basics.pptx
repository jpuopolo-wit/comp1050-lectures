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61"/>
    <p:restoredTop sz="96405"/>
  </p:normalViewPr>
  <p:slideViewPr>
    <p:cSldViewPr snapToGrid="0" snapToObjects="1">
      <p:cViewPr varScale="1">
        <p:scale>
          <a:sx n="80" d="100"/>
          <a:sy n="80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D46C-A7C7-7243-995E-D04C02DEB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B3E86-070D-694F-9473-0CD58BF1F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D5352-D3EA-C84E-9DB0-5BACD84F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41387-F09D-C34D-94F4-B1BBB68C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E9843-3884-2748-B6F2-004EA8C6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5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4BEA-A489-8946-AB4C-CCEBC48B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F54B0-4D58-944C-94C0-7869F315F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25A79-C2E3-CB42-AEB7-627A2D22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3699E-AB47-5640-85B2-85B9D93C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8811D-3CB4-3342-8CC8-C753F521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7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74AD-22F9-2742-A74F-50FCC67D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0974E-D326-2E4B-9656-BB8E55F8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2883-DCA7-5A49-8A0F-1C1F3063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6749A-B7C9-C945-9EF8-A4C559FF4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E526E-29FE-DD46-8968-4C84F8EA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36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C3CC-6B18-C143-8202-B59F1F90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450A-1F5D-4745-81CB-A4EED5BA9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3CCD-CBB5-4E4C-91A7-10E8917E5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5C9E6-73AB-4346-8466-13ABBE71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919C5-8116-604F-8B64-703A7699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54F6-CA4F-1444-BBB6-72A18318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9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2ECC-044D-3343-8F05-D84E5865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1D2E1-2556-CF4F-A109-E7F0D3476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68695-628D-0F48-8350-20C0661DB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31401-BCD0-DC42-BC22-7D4663320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FC945-BE91-4843-9790-BF2969521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68629-2691-E041-9C35-7CE1C385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B26A9-91D4-6243-BA72-8DC6AEDB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6EE2F-37E3-9542-BF20-CB54C30D1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23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2DC8-5CED-874A-8194-C98A89C7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D8290-37C9-CE4F-AB05-0FB156D2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7DB38-6809-F147-B6DD-91814FE1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DB6AE-BA28-F942-AE82-AFE81B65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2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6A274-F210-2648-B14B-A3810B0A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E5A7D-A956-FA43-B2A9-D85E6DA2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CB43F-E1F4-2B4D-96EE-3B4E2CC3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8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AAB5-4D2D-5742-AEB5-F2E8B758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18C2-94CB-5C4A-B06B-DFA91986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5CFA1-203F-4347-921A-ACEC64EC1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5B41B-6283-F54E-9919-E1F2274A9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1A281-BB85-5547-9033-A26B5087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54EFE-DC45-CD47-9B24-C5069345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84AF-F9B3-2F44-BDDF-18CB36CE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2140B-E51A-EB48-A88F-4C2EDB96C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D809A-C286-594E-837C-98272BD91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3BFA9-5EAE-8F4F-8D1D-25661EBA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1B92C-DA8C-FB4A-A108-2356DA39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9C90-8FC2-2346-BDA6-49C0B25A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5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E23C-BDB6-D043-BA86-EFED6303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526BB-BA0F-1340-83A4-1320BDE7E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E387C-E55C-9F4D-B356-512E8D1B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DD12A-3368-0245-B7B4-AC8B11FF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E1D0-DEAF-5749-B91A-31609E42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0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20969-7720-7141-8C38-E7A3100DF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26B0F-B374-FD4C-BE3D-F71458EC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2768A-6F16-C149-A956-71495053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DF9C-8EDD-CD49-A89D-22838B94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3547-6BFC-304D-8226-F2C8511E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33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32CC4-AD8D-9A47-A2D9-A7702B61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431B8-8B45-A047-B0EB-A082E56B5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0C059-F6B6-D343-8EE8-B27B014A7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10292-40A9-D44F-8584-B1E59A59A059}" type="datetimeFigureOut">
              <a:rPr lang="en-US" smtClean="0"/>
              <a:t>9/14/20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DB80-AA6E-3B43-8546-48A5B7EEC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1CFD0-BA28-2845-A743-6348BE867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EA87C-1C79-4047-8F4A-E5AFBCBAA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.redd.it/z48z7vrkimt21.p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3D94-5AED-C74B-8868-F7C941CAE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Command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83716-9305-5E48-9714-4CD8F42D39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Secrets of the CLI</a:t>
            </a:r>
          </a:p>
          <a:p>
            <a:r>
              <a:rPr lang="en-US" dirty="0">
                <a:solidFill>
                  <a:srgbClr val="C00000"/>
                </a:solidFill>
              </a:rPr>
              <a:t>C</a:t>
            </a:r>
            <a:r>
              <a:rPr lang="en-US" dirty="0"/>
              <a:t>ommand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/>
              <a:t>ine </a:t>
            </a:r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dirty="0"/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2942204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2C05-D952-E943-9415-6D6F517F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7" y="189232"/>
            <a:ext cx="10515600" cy="613669"/>
          </a:xfrm>
        </p:spPr>
        <p:txBody>
          <a:bodyPr>
            <a:normAutofit fontScale="90000"/>
          </a:bodyPr>
          <a:lstStyle/>
          <a:p>
            <a:r>
              <a:rPr lang="en-US" dirty="0"/>
              <a:t>Fundamentals - CLI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056B0-C423-0F4C-B5A7-287E7EF90C2E}"/>
              </a:ext>
            </a:extLst>
          </p:cNvPr>
          <p:cNvSpPr/>
          <p:nvPr/>
        </p:nvSpPr>
        <p:spPr>
          <a:xfrm>
            <a:off x="2608588" y="4695046"/>
            <a:ext cx="4202349" cy="705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Hardware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DBF84F-3E21-DC42-B6AB-56043771C9AC}"/>
              </a:ext>
            </a:extLst>
          </p:cNvPr>
          <p:cNvSpPr/>
          <p:nvPr/>
        </p:nvSpPr>
        <p:spPr>
          <a:xfrm>
            <a:off x="6057693" y="4979675"/>
            <a:ext cx="654996" cy="3243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9F2F8-0FFB-1B49-AF3C-1839F74E49F7}"/>
              </a:ext>
            </a:extLst>
          </p:cNvPr>
          <p:cNvSpPr/>
          <p:nvPr/>
        </p:nvSpPr>
        <p:spPr>
          <a:xfrm>
            <a:off x="2608588" y="3905483"/>
            <a:ext cx="4202349" cy="7895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Operating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90A21-294B-DB4A-8E13-A39C7E2FAAE9}"/>
              </a:ext>
            </a:extLst>
          </p:cNvPr>
          <p:cNvSpPr/>
          <p:nvPr/>
        </p:nvSpPr>
        <p:spPr>
          <a:xfrm>
            <a:off x="2608588" y="3114299"/>
            <a:ext cx="4202349" cy="7895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Applications</a:t>
            </a:r>
          </a:p>
        </p:txBody>
      </p:sp>
      <p:pic>
        <p:nvPicPr>
          <p:cNvPr id="1026" name="Picture 2" descr="Image result for windows explorer icon">
            <a:extLst>
              <a:ext uri="{FF2B5EF4-FFF2-40B4-BE49-F238E27FC236}">
                <a16:creationId xmlns:a16="http://schemas.microsoft.com/office/drawing/2014/main" id="{35DFC180-8893-9342-B6E7-ABB1E8E85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258" y="2101714"/>
            <a:ext cx="712842" cy="40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windows calculator icon">
            <a:extLst>
              <a:ext uri="{FF2B5EF4-FFF2-40B4-BE49-F238E27FC236}">
                <a16:creationId xmlns:a16="http://schemas.microsoft.com/office/drawing/2014/main" id="{6B2A90B2-C26A-364B-9FF3-83E4DEECB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194" y="2048612"/>
            <a:ext cx="401601" cy="40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intellij idea icon">
            <a:extLst>
              <a:ext uri="{FF2B5EF4-FFF2-40B4-BE49-F238E27FC236}">
                <a16:creationId xmlns:a16="http://schemas.microsoft.com/office/drawing/2014/main" id="{F88044F1-0D72-664A-8367-032E36DB5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053" y="2503315"/>
            <a:ext cx="557881" cy="55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md icon">
            <a:extLst>
              <a:ext uri="{FF2B5EF4-FFF2-40B4-BE49-F238E27FC236}">
                <a16:creationId xmlns:a16="http://schemas.microsoft.com/office/drawing/2014/main" id="{E36BFB83-40A2-424A-B86A-C3D8EA63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983" y="2174981"/>
            <a:ext cx="712842" cy="71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36FAD5-40F7-EB46-8D8B-E6A19FD6C718}"/>
              </a:ext>
            </a:extLst>
          </p:cNvPr>
          <p:cNvSpPr txBox="1"/>
          <p:nvPr/>
        </p:nvSpPr>
        <p:spPr>
          <a:xfrm>
            <a:off x="5501401" y="2174981"/>
            <a:ext cx="2483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Windows: CMD or PowerShell</a:t>
            </a:r>
          </a:p>
          <a:p>
            <a:r>
              <a:rPr lang="en-US" sz="1400" dirty="0"/>
              <a:t>MacOS: Terminal</a:t>
            </a:r>
          </a:p>
          <a:p>
            <a:r>
              <a:rPr lang="en-US" sz="1400" dirty="0"/>
              <a:t>Linux: Terminal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2D8DE7-BF70-574A-B8BC-14BABEC2EBCE}"/>
              </a:ext>
            </a:extLst>
          </p:cNvPr>
          <p:cNvSpPr/>
          <p:nvPr/>
        </p:nvSpPr>
        <p:spPr>
          <a:xfrm>
            <a:off x="7892100" y="3108610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File System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9E1C6C-4E91-2A46-B71D-02ABC6325E5F}"/>
              </a:ext>
            </a:extLst>
          </p:cNvPr>
          <p:cNvSpPr/>
          <p:nvPr/>
        </p:nvSpPr>
        <p:spPr>
          <a:xfrm>
            <a:off x="7892100" y="3503586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Networking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A835DBE-7519-004C-8127-8CE7E1EB219A}"/>
              </a:ext>
            </a:extLst>
          </p:cNvPr>
          <p:cNvSpPr/>
          <p:nvPr/>
        </p:nvSpPr>
        <p:spPr>
          <a:xfrm>
            <a:off x="7892100" y="3898562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 </a:t>
            </a:r>
            <a:r>
              <a:rPr lang="en-US" sz="1200" dirty="0" err="1"/>
              <a:t>Mgmt</a:t>
            </a:r>
            <a:endParaRPr lang="en-US" sz="1200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CBD973A-581C-1E48-BEDA-0F1037815CFF}"/>
              </a:ext>
            </a:extLst>
          </p:cNvPr>
          <p:cNvSpPr/>
          <p:nvPr/>
        </p:nvSpPr>
        <p:spPr>
          <a:xfrm>
            <a:off x="7892100" y="4293538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IPC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229A2E0-BB1B-7B40-AB48-FD3EE10DE39C}"/>
              </a:ext>
            </a:extLst>
          </p:cNvPr>
          <p:cNvSpPr/>
          <p:nvPr/>
        </p:nvSpPr>
        <p:spPr>
          <a:xfrm>
            <a:off x="7892100" y="4701274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…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23C03266-6B74-C444-82DD-E328C1663385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6810937" y="3286664"/>
            <a:ext cx="1081163" cy="1013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593EC61C-EACE-6642-8BB1-10D0B676FECD}"/>
              </a:ext>
            </a:extLst>
          </p:cNvPr>
          <p:cNvCxnSpPr>
            <a:stCxn id="6" idx="3"/>
            <a:endCxn id="17" idx="1"/>
          </p:cNvCxnSpPr>
          <p:nvPr/>
        </p:nvCxnSpPr>
        <p:spPr>
          <a:xfrm flipV="1">
            <a:off x="6810937" y="3681640"/>
            <a:ext cx="1081163" cy="6186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DF14D00F-E2F3-4F48-9B11-4993CD89C8D6}"/>
              </a:ext>
            </a:extLst>
          </p:cNvPr>
          <p:cNvCxnSpPr>
            <a:stCxn id="6" idx="3"/>
            <a:endCxn id="18" idx="1"/>
          </p:cNvCxnSpPr>
          <p:nvPr/>
        </p:nvCxnSpPr>
        <p:spPr>
          <a:xfrm flipV="1">
            <a:off x="6810937" y="4076616"/>
            <a:ext cx="1081163" cy="2236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62CBB0C-1647-3A4F-B2C2-AB4253E4C8F6}"/>
              </a:ext>
            </a:extLst>
          </p:cNvPr>
          <p:cNvCxnSpPr>
            <a:stCxn id="6" idx="3"/>
            <a:endCxn id="19" idx="1"/>
          </p:cNvCxnSpPr>
          <p:nvPr/>
        </p:nvCxnSpPr>
        <p:spPr>
          <a:xfrm>
            <a:off x="6810937" y="4300264"/>
            <a:ext cx="1081163" cy="1713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8EAF6411-0B14-2B40-A790-785748BE9458}"/>
              </a:ext>
            </a:extLst>
          </p:cNvPr>
          <p:cNvCxnSpPr>
            <a:stCxn id="6" idx="3"/>
            <a:endCxn id="20" idx="1"/>
          </p:cNvCxnSpPr>
          <p:nvPr/>
        </p:nvCxnSpPr>
        <p:spPr>
          <a:xfrm>
            <a:off x="6810937" y="4300264"/>
            <a:ext cx="1081163" cy="5790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0110953-704D-CF4C-A801-B32DE91794C0}"/>
              </a:ext>
            </a:extLst>
          </p:cNvPr>
          <p:cNvSpPr/>
          <p:nvPr/>
        </p:nvSpPr>
        <p:spPr>
          <a:xfrm>
            <a:off x="7892099" y="5109010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Etc.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1E0EBD1-8115-074B-88D1-EAAA6A8F9AA3}"/>
              </a:ext>
            </a:extLst>
          </p:cNvPr>
          <p:cNvCxnSpPr>
            <a:stCxn id="6" idx="3"/>
            <a:endCxn id="31" idx="1"/>
          </p:cNvCxnSpPr>
          <p:nvPr/>
        </p:nvCxnSpPr>
        <p:spPr>
          <a:xfrm>
            <a:off x="6810937" y="4300264"/>
            <a:ext cx="1081162" cy="986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02226A-32C3-1840-8B3E-A9B0071153C1}"/>
              </a:ext>
            </a:extLst>
          </p:cNvPr>
          <p:cNvCxnSpPr>
            <a:cxnSpLocks/>
          </p:cNvCxnSpPr>
          <p:nvPr/>
        </p:nvCxnSpPr>
        <p:spPr>
          <a:xfrm>
            <a:off x="3158679" y="2544313"/>
            <a:ext cx="0" cy="153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94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2C05-D952-E943-9415-6D6F517F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7" y="189232"/>
            <a:ext cx="10515600" cy="613669"/>
          </a:xfrm>
        </p:spPr>
        <p:txBody>
          <a:bodyPr>
            <a:normAutofit fontScale="90000"/>
          </a:bodyPr>
          <a:lstStyle/>
          <a:p>
            <a:r>
              <a:rPr lang="en-US" dirty="0"/>
              <a:t>Fundamentals - Shell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056B0-C423-0F4C-B5A7-287E7EF90C2E}"/>
              </a:ext>
            </a:extLst>
          </p:cNvPr>
          <p:cNvSpPr/>
          <p:nvPr/>
        </p:nvSpPr>
        <p:spPr>
          <a:xfrm>
            <a:off x="3021413" y="5501165"/>
            <a:ext cx="4202349" cy="705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Hardware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DBF84F-3E21-DC42-B6AB-56043771C9AC}"/>
              </a:ext>
            </a:extLst>
          </p:cNvPr>
          <p:cNvSpPr/>
          <p:nvPr/>
        </p:nvSpPr>
        <p:spPr>
          <a:xfrm>
            <a:off x="6470518" y="5785794"/>
            <a:ext cx="654996" cy="3243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9F2F8-0FFB-1B49-AF3C-1839F74E49F7}"/>
              </a:ext>
            </a:extLst>
          </p:cNvPr>
          <p:cNvSpPr/>
          <p:nvPr/>
        </p:nvSpPr>
        <p:spPr>
          <a:xfrm>
            <a:off x="3021413" y="4711602"/>
            <a:ext cx="4202349" cy="7895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Operating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90A21-294B-DB4A-8E13-A39C7E2FAAE9}"/>
              </a:ext>
            </a:extLst>
          </p:cNvPr>
          <p:cNvSpPr/>
          <p:nvPr/>
        </p:nvSpPr>
        <p:spPr>
          <a:xfrm>
            <a:off x="3021413" y="4203882"/>
            <a:ext cx="4202349" cy="50609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Applications</a:t>
            </a:r>
          </a:p>
        </p:txBody>
      </p:sp>
      <p:pic>
        <p:nvPicPr>
          <p:cNvPr id="1034" name="Picture 10" descr="Image result for cmd icon">
            <a:extLst>
              <a:ext uri="{FF2B5EF4-FFF2-40B4-BE49-F238E27FC236}">
                <a16:creationId xmlns:a16="http://schemas.microsoft.com/office/drawing/2014/main" id="{E36BFB83-40A2-424A-B86A-C3D8EA63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316" y="1372760"/>
            <a:ext cx="2688808" cy="268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36FAD5-40F7-EB46-8D8B-E6A19FD6C718}"/>
              </a:ext>
            </a:extLst>
          </p:cNvPr>
          <p:cNvSpPr txBox="1"/>
          <p:nvPr/>
        </p:nvSpPr>
        <p:spPr>
          <a:xfrm>
            <a:off x="592776" y="1212429"/>
            <a:ext cx="2428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Windows: CMD or PowerShell</a:t>
            </a:r>
          </a:p>
          <a:p>
            <a:r>
              <a:rPr lang="en-US" sz="1400" dirty="0"/>
              <a:t>MacOS: Terminal</a:t>
            </a:r>
          </a:p>
          <a:p>
            <a:r>
              <a:rPr lang="en-US" sz="1400" dirty="0"/>
              <a:t>Linux: Terminal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023391-7FED-3548-BDBF-1D4ACD245793}"/>
              </a:ext>
            </a:extLst>
          </p:cNvPr>
          <p:cNvSpPr txBox="1"/>
          <p:nvPr/>
        </p:nvSpPr>
        <p:spPr>
          <a:xfrm>
            <a:off x="4098855" y="1346536"/>
            <a:ext cx="58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6F1859-15DF-EA43-988D-9D1FE289311F}"/>
              </a:ext>
            </a:extLst>
          </p:cNvPr>
          <p:cNvSpPr/>
          <p:nvPr/>
        </p:nvSpPr>
        <p:spPr>
          <a:xfrm>
            <a:off x="5224396" y="2398887"/>
            <a:ext cx="1165771" cy="11116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Shell</a:t>
            </a:r>
          </a:p>
        </p:txBody>
      </p:sp>
      <p:sp>
        <p:nvSpPr>
          <p:cNvPr id="25" name="Line Callout 2 24">
            <a:extLst>
              <a:ext uri="{FF2B5EF4-FFF2-40B4-BE49-F238E27FC236}">
                <a16:creationId xmlns:a16="http://schemas.microsoft.com/office/drawing/2014/main" id="{8A74C421-6936-CF49-BC58-EFAFCDC05DEE}"/>
              </a:ext>
            </a:extLst>
          </p:cNvPr>
          <p:cNvSpPr/>
          <p:nvPr/>
        </p:nvSpPr>
        <p:spPr>
          <a:xfrm>
            <a:off x="7594247" y="1905337"/>
            <a:ext cx="2688807" cy="96651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2178"/>
              <a:gd name="adj6" fmla="val -43481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</a:t>
            </a:r>
            <a:r>
              <a:rPr lang="en-US" sz="1400" i="1" dirty="0"/>
              <a:t>shell</a:t>
            </a:r>
            <a:r>
              <a:rPr lang="en-US" sz="1400" dirty="0"/>
              <a:t> is a command interpreter. It recognizes and runs commands.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E51B775D-3CAD-E84C-9E83-F092DE201466}"/>
              </a:ext>
            </a:extLst>
          </p:cNvPr>
          <p:cNvSpPr/>
          <p:nvPr/>
        </p:nvSpPr>
        <p:spPr>
          <a:xfrm rot="5400000">
            <a:off x="5327527" y="3840755"/>
            <a:ext cx="1511607" cy="613669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3A30D2-FD17-1948-AC03-922D6D2048DD}"/>
              </a:ext>
            </a:extLst>
          </p:cNvPr>
          <p:cNvSpPr txBox="1"/>
          <p:nvPr/>
        </p:nvSpPr>
        <p:spPr>
          <a:xfrm>
            <a:off x="8222665" y="3131926"/>
            <a:ext cx="15484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POSIX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zsh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lots more</a:t>
            </a:r>
          </a:p>
        </p:txBody>
      </p:sp>
    </p:spTree>
    <p:extLst>
      <p:ext uri="{BB962C8B-B14F-4D97-AF65-F5344CB8AC3E}">
        <p14:creationId xmlns:p14="http://schemas.microsoft.com/office/powerpoint/2010/main" val="269400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2C05-D952-E943-9415-6D6F517F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77" y="189232"/>
            <a:ext cx="10515600" cy="613669"/>
          </a:xfrm>
        </p:spPr>
        <p:txBody>
          <a:bodyPr>
            <a:normAutofit fontScale="90000"/>
          </a:bodyPr>
          <a:lstStyle/>
          <a:p>
            <a:r>
              <a:rPr lang="en-US" dirty="0"/>
              <a:t>Fundamentals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056B0-C423-0F4C-B5A7-287E7EF90C2E}"/>
              </a:ext>
            </a:extLst>
          </p:cNvPr>
          <p:cNvSpPr/>
          <p:nvPr/>
        </p:nvSpPr>
        <p:spPr>
          <a:xfrm>
            <a:off x="1692344" y="4616879"/>
            <a:ext cx="4202349" cy="705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Hardware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DBF84F-3E21-DC42-B6AB-56043771C9AC}"/>
              </a:ext>
            </a:extLst>
          </p:cNvPr>
          <p:cNvSpPr/>
          <p:nvPr/>
        </p:nvSpPr>
        <p:spPr>
          <a:xfrm>
            <a:off x="5141449" y="4901508"/>
            <a:ext cx="654996" cy="3243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CPU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9F2F8-0FFB-1B49-AF3C-1839F74E49F7}"/>
              </a:ext>
            </a:extLst>
          </p:cNvPr>
          <p:cNvSpPr/>
          <p:nvPr/>
        </p:nvSpPr>
        <p:spPr>
          <a:xfrm>
            <a:off x="1692344" y="3827316"/>
            <a:ext cx="4202349" cy="7895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Operating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490A21-294B-DB4A-8E13-A39C7E2FAAE9}"/>
              </a:ext>
            </a:extLst>
          </p:cNvPr>
          <p:cNvSpPr/>
          <p:nvPr/>
        </p:nvSpPr>
        <p:spPr>
          <a:xfrm>
            <a:off x="1692344" y="3319596"/>
            <a:ext cx="4202349" cy="50609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Applications</a:t>
            </a:r>
          </a:p>
        </p:txBody>
      </p:sp>
      <p:pic>
        <p:nvPicPr>
          <p:cNvPr id="1034" name="Picture 10" descr="Image result for cmd icon">
            <a:extLst>
              <a:ext uri="{FF2B5EF4-FFF2-40B4-BE49-F238E27FC236}">
                <a16:creationId xmlns:a16="http://schemas.microsoft.com/office/drawing/2014/main" id="{E36BFB83-40A2-424A-B86A-C3D8EA634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954" y="1310878"/>
            <a:ext cx="1764965" cy="176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36FAD5-40F7-EB46-8D8B-E6A19FD6C718}"/>
              </a:ext>
            </a:extLst>
          </p:cNvPr>
          <p:cNvSpPr txBox="1"/>
          <p:nvPr/>
        </p:nvSpPr>
        <p:spPr>
          <a:xfrm>
            <a:off x="1148317" y="1871789"/>
            <a:ext cx="2428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Windows: CMD or PowerShell</a:t>
            </a:r>
          </a:p>
          <a:p>
            <a:r>
              <a:rPr lang="en-US" sz="1400" dirty="0"/>
              <a:t>MacOS: Terminal</a:t>
            </a:r>
          </a:p>
          <a:p>
            <a:r>
              <a:rPr lang="en-US" sz="1400" dirty="0"/>
              <a:t>Linux: Terminal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00FE6B-2DB3-2F48-8243-9809B111BA17}"/>
              </a:ext>
            </a:extLst>
          </p:cNvPr>
          <p:cNvSpPr/>
          <p:nvPr/>
        </p:nvSpPr>
        <p:spPr>
          <a:xfrm>
            <a:off x="6975856" y="1780753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File System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00861EB-9EF3-0540-B1E9-E64DA1F6608C}"/>
              </a:ext>
            </a:extLst>
          </p:cNvPr>
          <p:cNvSpPr/>
          <p:nvPr/>
        </p:nvSpPr>
        <p:spPr>
          <a:xfrm>
            <a:off x="6975856" y="3470819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Networking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EF7833-A33D-834B-88F2-569323C3DD96}"/>
              </a:ext>
            </a:extLst>
          </p:cNvPr>
          <p:cNvSpPr/>
          <p:nvPr/>
        </p:nvSpPr>
        <p:spPr>
          <a:xfrm>
            <a:off x="6975856" y="3865795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 </a:t>
            </a:r>
            <a:r>
              <a:rPr lang="en-US" sz="1200" dirty="0" err="1"/>
              <a:t>Mgmt</a:t>
            </a:r>
            <a:endParaRPr lang="en-US" sz="12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800B21-908F-5049-A49C-AFE22DBE8A9C}"/>
              </a:ext>
            </a:extLst>
          </p:cNvPr>
          <p:cNvSpPr/>
          <p:nvPr/>
        </p:nvSpPr>
        <p:spPr>
          <a:xfrm>
            <a:off x="6975856" y="4260771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IPC</a:t>
            </a: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894F17A-0022-AE42-A0CF-88B83E02D1FB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5894693" y="1958807"/>
            <a:ext cx="1081163" cy="22632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A21C3283-1043-2E45-8AEF-7F7BC8AA28D4}"/>
              </a:ext>
            </a:extLst>
          </p:cNvPr>
          <p:cNvCxnSpPr>
            <a:endCxn id="13" idx="1"/>
          </p:cNvCxnSpPr>
          <p:nvPr/>
        </p:nvCxnSpPr>
        <p:spPr>
          <a:xfrm flipV="1">
            <a:off x="5894693" y="3648873"/>
            <a:ext cx="1081163" cy="6186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BF3CFBD-FE4C-DC42-BDD1-03E159DB4154}"/>
              </a:ext>
            </a:extLst>
          </p:cNvPr>
          <p:cNvCxnSpPr>
            <a:endCxn id="14" idx="1"/>
          </p:cNvCxnSpPr>
          <p:nvPr/>
        </p:nvCxnSpPr>
        <p:spPr>
          <a:xfrm flipV="1">
            <a:off x="5894693" y="4043849"/>
            <a:ext cx="1081163" cy="2236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0F7C9F2-334C-A849-94DC-AEBBCCDB8923}"/>
              </a:ext>
            </a:extLst>
          </p:cNvPr>
          <p:cNvCxnSpPr>
            <a:endCxn id="15" idx="1"/>
          </p:cNvCxnSpPr>
          <p:nvPr/>
        </p:nvCxnSpPr>
        <p:spPr>
          <a:xfrm>
            <a:off x="5894693" y="4267497"/>
            <a:ext cx="1081163" cy="17132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6AA874F-8335-964F-B9C5-F32B86BC6FC7}"/>
              </a:ext>
            </a:extLst>
          </p:cNvPr>
          <p:cNvCxnSpPr>
            <a:cxnSpLocks/>
          </p:cNvCxnSpPr>
          <p:nvPr/>
        </p:nvCxnSpPr>
        <p:spPr>
          <a:xfrm>
            <a:off x="5894693" y="4267497"/>
            <a:ext cx="1081163" cy="5790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B46792-3FFD-7040-8DE3-40FA66F78AEE}"/>
              </a:ext>
            </a:extLst>
          </p:cNvPr>
          <p:cNvSpPr/>
          <p:nvPr/>
        </p:nvSpPr>
        <p:spPr>
          <a:xfrm>
            <a:off x="6975855" y="5076243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Etc.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B982657-C378-1F40-82C1-9031716E54D0}"/>
              </a:ext>
            </a:extLst>
          </p:cNvPr>
          <p:cNvCxnSpPr>
            <a:endCxn id="22" idx="1"/>
          </p:cNvCxnSpPr>
          <p:nvPr/>
        </p:nvCxnSpPr>
        <p:spPr>
          <a:xfrm>
            <a:off x="5894693" y="4267497"/>
            <a:ext cx="1081162" cy="986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Arrow 7">
            <a:extLst>
              <a:ext uri="{FF2B5EF4-FFF2-40B4-BE49-F238E27FC236}">
                <a16:creationId xmlns:a16="http://schemas.microsoft.com/office/drawing/2014/main" id="{E51B775D-3CAD-E84C-9E83-F092DE201466}"/>
              </a:ext>
            </a:extLst>
          </p:cNvPr>
          <p:cNvSpPr/>
          <p:nvPr/>
        </p:nvSpPr>
        <p:spPr>
          <a:xfrm rot="5400000">
            <a:off x="4206375" y="3029958"/>
            <a:ext cx="1256477" cy="613669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28B6A-04EA-F245-9CFF-D1341093D9F1}"/>
              </a:ext>
            </a:extLst>
          </p:cNvPr>
          <p:cNvSpPr txBox="1"/>
          <p:nvPr/>
        </p:nvSpPr>
        <p:spPr>
          <a:xfrm>
            <a:off x="8203900" y="1744390"/>
            <a:ext cx="234872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creating, changing, deleting </a:t>
            </a:r>
            <a:r>
              <a:rPr lang="en-US" sz="1100" dirty="0" err="1"/>
              <a:t>dirs</a:t>
            </a:r>
            <a:r>
              <a:rPr lang="en-US" sz="1100" dirty="0"/>
              <a:t>/trees</a:t>
            </a:r>
          </a:p>
          <a:p>
            <a:r>
              <a:rPr lang="en-US" sz="1100" dirty="0"/>
              <a:t>creating &amp; managing files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A2F0CD-B179-5543-B8A5-BB0876FAAC69}"/>
              </a:ext>
            </a:extLst>
          </p:cNvPr>
          <p:cNvSpPr txBox="1"/>
          <p:nvPr/>
        </p:nvSpPr>
        <p:spPr>
          <a:xfrm>
            <a:off x="8342560" y="3536762"/>
            <a:ext cx="9284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TCP/IP, HTTP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6E4EC5-EBCC-5044-97FB-E0FB2CAD6E5F}"/>
              </a:ext>
            </a:extLst>
          </p:cNvPr>
          <p:cNvSpPr txBox="1"/>
          <p:nvPr/>
        </p:nvSpPr>
        <p:spPr>
          <a:xfrm>
            <a:off x="8342560" y="3874716"/>
            <a:ext cx="2813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running processes/programs, killing processes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9196FD-FF43-F844-A36A-E55273CBB9AB}"/>
              </a:ext>
            </a:extLst>
          </p:cNvPr>
          <p:cNvSpPr txBox="1"/>
          <p:nvPr/>
        </p:nvSpPr>
        <p:spPr>
          <a:xfrm>
            <a:off x="8342560" y="4258440"/>
            <a:ext cx="20714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having 2 processes communicate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1A1BB24-1529-1746-AC30-C2ABB4B3DCA5}"/>
              </a:ext>
            </a:extLst>
          </p:cNvPr>
          <p:cNvSpPr/>
          <p:nvPr/>
        </p:nvSpPr>
        <p:spPr>
          <a:xfrm>
            <a:off x="6975854" y="4662473"/>
            <a:ext cx="1209369" cy="35610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023391-7FED-3548-BDBF-1D4ACD245793}"/>
              </a:ext>
            </a:extLst>
          </p:cNvPr>
          <p:cNvSpPr txBox="1"/>
          <p:nvPr/>
        </p:nvSpPr>
        <p:spPr>
          <a:xfrm>
            <a:off x="4234178" y="1250248"/>
            <a:ext cx="587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6CA8E8-2EAB-DA4D-BA69-2CEC4CD7A888}"/>
              </a:ext>
            </a:extLst>
          </p:cNvPr>
          <p:cNvSpPr txBox="1"/>
          <p:nvPr/>
        </p:nvSpPr>
        <p:spPr>
          <a:xfrm>
            <a:off x="7168200" y="2301799"/>
            <a:ext cx="18020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. = current directory</a:t>
            </a:r>
          </a:p>
          <a:p>
            <a:r>
              <a:rPr lang="en-US" sz="1100" dirty="0"/>
              <a:t>.. = parent directory</a:t>
            </a:r>
          </a:p>
          <a:p>
            <a:r>
              <a:rPr lang="en-US" sz="1100" dirty="0"/>
              <a:t>Windows \ is path separator</a:t>
            </a:r>
          </a:p>
          <a:p>
            <a:r>
              <a:rPr lang="en-US" sz="1100" dirty="0"/>
              <a:t>POSIX / is path separator</a:t>
            </a:r>
          </a:p>
        </p:txBody>
      </p:sp>
    </p:spTree>
    <p:extLst>
      <p:ext uri="{BB962C8B-B14F-4D97-AF65-F5344CB8AC3E}">
        <p14:creationId xmlns:p14="http://schemas.microsoft.com/office/powerpoint/2010/main" val="296413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C660B-0E34-0445-817C-B7CEEEB1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One-Pager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D1164-2705-BA42-869A-EF7F4D2E2C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Help</a:t>
            </a:r>
          </a:p>
          <a:p>
            <a:pPr lvl="1"/>
            <a:r>
              <a:rPr lang="en-US" dirty="0"/>
              <a:t>help or /? or –help</a:t>
            </a:r>
          </a:p>
          <a:p>
            <a:pPr lvl="1"/>
            <a:r>
              <a:rPr lang="en-US" dirty="0"/>
              <a:t>apropos &lt;keyword&gt;, man &lt;</a:t>
            </a:r>
            <a:r>
              <a:rPr lang="en-US" dirty="0" err="1"/>
              <a:t>cmd</a:t>
            </a:r>
            <a:r>
              <a:rPr lang="en-US" dirty="0"/>
              <a:t>&gt; (POSIX)</a:t>
            </a:r>
          </a:p>
          <a:p>
            <a:r>
              <a:rPr lang="en-US" dirty="0"/>
              <a:t>Screen</a:t>
            </a:r>
          </a:p>
          <a:p>
            <a:pPr lvl="1"/>
            <a:r>
              <a:rPr lang="en-US" dirty="0" err="1"/>
              <a:t>cls</a:t>
            </a:r>
            <a:r>
              <a:rPr lang="en-US" dirty="0"/>
              <a:t> (Windows), clear (POSIX)</a:t>
            </a:r>
          </a:p>
          <a:p>
            <a:r>
              <a:rPr lang="en-US" dirty="0"/>
              <a:t>Directories</a:t>
            </a:r>
          </a:p>
          <a:p>
            <a:pPr lvl="1"/>
            <a:r>
              <a:rPr lang="en-US" dirty="0" err="1"/>
              <a:t>dir</a:t>
            </a:r>
            <a:r>
              <a:rPr lang="en-US" dirty="0"/>
              <a:t> (/w /a) (Windows), ls (POSIX)</a:t>
            </a:r>
          </a:p>
          <a:p>
            <a:pPr lvl="1"/>
            <a:r>
              <a:rPr lang="en-US" dirty="0"/>
              <a:t>tree</a:t>
            </a:r>
          </a:p>
          <a:p>
            <a:pPr lvl="1"/>
            <a:r>
              <a:rPr lang="en-US" dirty="0" err="1"/>
              <a:t>pwd</a:t>
            </a:r>
            <a:endParaRPr lang="en-US" dirty="0"/>
          </a:p>
          <a:p>
            <a:pPr lvl="1"/>
            <a:r>
              <a:rPr lang="en-US" dirty="0" err="1"/>
              <a:t>mkdir</a:t>
            </a:r>
            <a:endParaRPr lang="en-US" dirty="0"/>
          </a:p>
          <a:p>
            <a:pPr lvl="1"/>
            <a:r>
              <a:rPr lang="en-US" dirty="0"/>
              <a:t>cd</a:t>
            </a:r>
          </a:p>
          <a:p>
            <a:pPr lvl="1"/>
            <a:r>
              <a:rPr lang="en-US" dirty="0" err="1"/>
              <a:t>rmdir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Home:</a:t>
            </a:r>
          </a:p>
          <a:p>
            <a:pPr lvl="2"/>
            <a:r>
              <a:rPr lang="en-US" dirty="0"/>
              <a:t>C:\Users\&lt;</a:t>
            </a:r>
            <a:r>
              <a:rPr lang="en-US" dirty="0" err="1"/>
              <a:t>yourname</a:t>
            </a:r>
            <a:r>
              <a:rPr lang="en-US" dirty="0"/>
              <a:t>&gt;</a:t>
            </a:r>
          </a:p>
          <a:p>
            <a:pPr lvl="2"/>
            <a:r>
              <a:rPr lang="en-US" dirty="0"/>
              <a:t>/Users/&lt;login&gt;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Shortcuts can be useful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605C1-0BF9-C94A-9131-608BE0C6CB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Files</a:t>
            </a:r>
          </a:p>
          <a:p>
            <a:pPr lvl="1"/>
            <a:r>
              <a:rPr lang="en-US" dirty="0"/>
              <a:t>touch (POSIX)</a:t>
            </a:r>
          </a:p>
          <a:p>
            <a:pPr lvl="1"/>
            <a:r>
              <a:rPr lang="en-US" dirty="0"/>
              <a:t>type (Windows), cat (POSIX)</a:t>
            </a:r>
          </a:p>
          <a:p>
            <a:pPr lvl="1"/>
            <a:r>
              <a:rPr lang="en-US" dirty="0"/>
              <a:t>head, tail (POSIX)</a:t>
            </a:r>
          </a:p>
          <a:p>
            <a:pPr lvl="1"/>
            <a:r>
              <a:rPr lang="en-US" dirty="0"/>
              <a:t>find (Windows), grep (POSIX)</a:t>
            </a:r>
          </a:p>
          <a:p>
            <a:pPr lvl="1"/>
            <a:r>
              <a:rPr lang="en-US" dirty="0"/>
              <a:t>del (Windows), rm (POSIX)</a:t>
            </a:r>
          </a:p>
          <a:p>
            <a:r>
              <a:rPr lang="en-US" dirty="0"/>
              <a:t>Misc.</a:t>
            </a:r>
          </a:p>
          <a:p>
            <a:pPr lvl="1"/>
            <a:r>
              <a:rPr lang="en-US" dirty="0"/>
              <a:t>&gt; - direct output </a:t>
            </a:r>
          </a:p>
          <a:p>
            <a:pPr lvl="1"/>
            <a:r>
              <a:rPr lang="en-US" dirty="0"/>
              <a:t>&gt;&gt; - append output</a:t>
            </a:r>
          </a:p>
          <a:p>
            <a:pPr lvl="1"/>
            <a:r>
              <a:rPr lang="en-US" dirty="0"/>
              <a:t>set (Windows), env (POSIX)</a:t>
            </a:r>
          </a:p>
          <a:p>
            <a:pPr lvl="1"/>
            <a:r>
              <a:rPr lang="en-US" dirty="0"/>
              <a:t>echo</a:t>
            </a:r>
          </a:p>
          <a:p>
            <a:pPr lvl="1"/>
            <a:r>
              <a:rPr lang="en-US" dirty="0"/>
              <a:t>Files that start with “.” are “hidden”</a:t>
            </a:r>
          </a:p>
          <a:p>
            <a:pPr lvl="1"/>
            <a:r>
              <a:rPr lang="en-US" dirty="0"/>
              <a:t>Wildcards: *, ?</a:t>
            </a:r>
          </a:p>
          <a:p>
            <a:pPr lvl="1"/>
            <a:r>
              <a:rPr lang="en-US" dirty="0"/>
              <a:t>TAB key/up/down arrows and scroll through history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3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D8306-9592-134F-9F0C-53CF65F6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the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35CA4-7898-EC4C-84D3-BF406F80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Separates casual users from “real” software people</a:t>
            </a:r>
          </a:p>
          <a:p>
            <a:r>
              <a:rPr lang="en-US" dirty="0"/>
              <a:t>Much more efficient, in general, then clicking around</a:t>
            </a:r>
          </a:p>
          <a:p>
            <a:r>
              <a:rPr lang="en-US" dirty="0"/>
              <a:t>Provides a better understanding of what’s actually going on and how stuff works</a:t>
            </a:r>
          </a:p>
          <a:p>
            <a:r>
              <a:rPr lang="en-US" dirty="0"/>
              <a:t>Link to one of many, many summary references for Windows CMD</a:t>
            </a:r>
          </a:p>
          <a:p>
            <a:pPr lvl="1"/>
            <a:r>
              <a:rPr lang="en-US" dirty="0">
                <a:hlinkClick r:id="rId2"/>
              </a:rPr>
              <a:t>https://i.redd.it/z48z7vrkimt21.png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01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3118</TotalTime>
  <Words>357</Words>
  <Application>Microsoft Macintosh PowerPoint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The Command Line</vt:lpstr>
      <vt:lpstr>Fundamentals - CLI</vt:lpstr>
      <vt:lpstr>Fundamentals - Shell</vt:lpstr>
      <vt:lpstr>Fundamentals</vt:lpstr>
      <vt:lpstr>One-Pager Basics</vt:lpstr>
      <vt:lpstr>Learn the CLI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Command Line</dc:title>
  <dc:creator>John Puopolo</dc:creator>
  <cp:lastModifiedBy>John Puopolo</cp:lastModifiedBy>
  <cp:revision>14</cp:revision>
  <dcterms:created xsi:type="dcterms:W3CDTF">2020-09-14T14:56:53Z</dcterms:created>
  <dcterms:modified xsi:type="dcterms:W3CDTF">2020-09-16T18:55:35Z</dcterms:modified>
</cp:coreProperties>
</file>