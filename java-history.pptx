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5"/>
  </p:notesMasterIdLst>
  <p:sldIdLst>
    <p:sldId id="256" r:id="rId2"/>
    <p:sldId id="265" r:id="rId3"/>
    <p:sldId id="259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40B53-28EA-5940-9FEB-094FB962BA8F}" type="datetimeFigureOut">
              <a:rPr lang="en-US" smtClean="0"/>
              <a:t>4/27/20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7328B1-2D0B-6E43-A331-ED00ADA83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54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328B1-2D0B-6E43-A331-ED00ADA832F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82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328B1-2D0B-6E43-A331-ED00ADA832F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48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F3EFC-4EFB-ED4C-9AB1-ECCC1C804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003D0-0028-E14F-885E-433F6B452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023FA-4536-8349-9CD6-7D0ECF5C0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AF519-2FB5-CD49-BA27-CDBD0E824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812C5-3A87-B54B-A31A-6905F0C7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83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E608D-164B-4B4B-810F-D27F0DD64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C9AE1-3049-254D-8E8A-C6A78CA8F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195D2-CC82-6449-9CF4-2455A5B45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7BBE5-7B7E-A544-89BE-F2090AE67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F3849-0BDB-6947-8500-DDD1A8E3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7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5B13-D2EC-7D49-92D6-8EA5D33F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F389B-DF65-EA48-B108-2CED4E5C6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C3E22-27BD-0246-A55B-E8E995656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C05B4-0BF8-B447-80BC-B5E8496A4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449B2-A47F-D142-B29E-3FE2332DE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114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36B8A-4C5A-1843-8B49-0650103C6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4BAE7-BF7B-8541-8756-5E5F998D68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A5053-FA29-4E44-9B93-2003E4A48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AD082-B47F-C148-83B0-0E694D1FA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8878A-ECFD-984E-9C9B-6241359BF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8B8F3-868F-AD4D-B4D2-641608695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22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AD953-3A1B-C54A-9BBB-ED45A1EB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A3DAE-8528-3F44-B0E9-177F6B8AB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1A4F8-12B7-1C42-B17A-0EE614599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C5D591-0742-354D-AEAF-856F2B700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4EEE4-6255-E849-8890-144962FC9C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79D83C-DE16-CC45-820E-85648904D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6529D5-5F1F-1C49-BF1F-12838CFA5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5AB654-BA07-5D45-AAAE-34140DAD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584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A33CA-2884-1748-9DC9-0978C5C2F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3A3C6B-1049-3141-9049-5204B3AAE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03E5E7-2463-0844-A7C6-83670F484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A2A3A-376A-1142-98F4-835FB56BF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38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01B944-1CD0-DB49-824E-C237F2E71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F9724E-24A4-7945-8734-99E164BAF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D8940-E99E-F941-B338-E1BADE186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204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1A4AB-50E5-9D47-90F7-34FCA9B0A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06C09-5464-1641-9C99-791990BB5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ABA0A-AE15-BA46-8652-051E6E325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54945-57C4-1E45-93F0-42CFF02E2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0FF0D-4E0B-E34C-87BF-8B9B5885B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394FB-B54A-C64A-B762-A23B77EE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326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75EE6-FC5A-7344-9EB8-17FB7F1B7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068C4F-710E-4E40-B6DF-B91C6CF45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B0975-0943-3646-A8B3-13C9338B8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939C1-150E-7941-BF4A-7AB9887F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F8A3A-B77E-A948-BECB-AA5A2325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0FF2F-21C0-5647-A1D1-D3E14CAF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324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3B546-B6C6-3A4C-B5B7-49B7498EF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1F01C-05AC-E743-938C-7A245F349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02267-CD8A-D44D-8BFB-8A9D23CA7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7009E-F90A-D643-814F-3ED7B5A24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36CA0-D02E-8B45-AD42-2782591A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27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ADB2C0-42DD-EC41-9FE1-7A4044E49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6AA9C2-0B2C-A34A-91F3-E2D184B3A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52B91-82A9-F14F-A728-F786B1782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1EFFA-BAAF-C04C-981A-6C35EEF8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8B8CB-4D18-0B4E-B587-C5991B104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621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16A04F-1CC7-9C4E-A991-C3966611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2F9FB-BCEF-6F44-BF45-DB08E1420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B2F4F-04B4-2641-9B44-B980CF1DCE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4/27/20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EBC1C-ACF5-BB4C-B743-583ADC3E5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FB46E-A103-B349-AA11-6671DBF53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56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OpenJDK#OpenJDK_build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zone.com/articles/a-guide-to-java-versions-and-feature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Java_version_history" TargetMode="External"/><Relationship Id="rId4" Type="http://schemas.openxmlformats.org/officeDocument/2006/relationships/hyperlink" Target="https://howtodoinjava.com/java-version-wise-features-history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owtodoinjava.com/java-version-wise-features-history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howtodoinjava.com/java8/date-and-time-api-changes-in-java-8-lambda/" TargetMode="External"/><Relationship Id="rId3" Type="http://schemas.openxmlformats.org/officeDocument/2006/relationships/hyperlink" Target="https://howtodoinjava.com/java8/java-streams-by-examples/" TargetMode="External"/><Relationship Id="rId7" Type="http://schemas.openxmlformats.org/officeDocument/2006/relationships/hyperlink" Target="https://howtodoinjava.com/java8/java-8-exact-airthmetic-operations-supported-in-math-class/" TargetMode="External"/><Relationship Id="rId2" Type="http://schemas.openxmlformats.org/officeDocument/2006/relationships/hyperlink" Target="https://howtodoinjava.com/java8/complete-lambda-expressions-tutorial-in-java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owtodoinjava.com/java8/java-8-optionals-complete-reference/" TargetMode="External"/><Relationship Id="rId5" Type="http://schemas.openxmlformats.org/officeDocument/2006/relationships/hyperlink" Target="https://howtodoinjava.com/java8/default-methods-in-java-8/" TargetMode="External"/><Relationship Id="rId4" Type="http://schemas.openxmlformats.org/officeDocument/2006/relationships/hyperlink" Target="https://howtodoinjava.com/java8/functional-interface-tutorial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owtodoinjava.com/java9/java9-private-interface-methods/" TargetMode="External"/><Relationship Id="rId2" Type="http://schemas.openxmlformats.org/officeDocument/2006/relationships/hyperlink" Target="https://howtodoinjava.com/java9/java-9-modules-tutorial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owtodoinjava.com/java9/stream-api-improvements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howtodoinjava.com/java10/var-local-variable-type-inference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jdk.java.net/jeps/350" TargetMode="External"/><Relationship Id="rId7" Type="http://schemas.openxmlformats.org/officeDocument/2006/relationships/hyperlink" Target="https://openjdk.java.net/jeps/35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jdk.java.net/jeps/354" TargetMode="External"/><Relationship Id="rId5" Type="http://schemas.openxmlformats.org/officeDocument/2006/relationships/hyperlink" Target="https://openjdk.java.net/jeps/353" TargetMode="External"/><Relationship Id="rId4" Type="http://schemas.openxmlformats.org/officeDocument/2006/relationships/hyperlink" Target="https://openjdk.java.net/jeps/351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41AFE-AE6C-764F-8551-E7198B3DDF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Release Timeline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56ABA-FFFC-FF44-8CB0-034B535D45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Java 8 – 11 and Beyond</a:t>
            </a:r>
          </a:p>
        </p:txBody>
      </p:sp>
    </p:spTree>
    <p:extLst>
      <p:ext uri="{BB962C8B-B14F-4D97-AF65-F5344CB8AC3E}">
        <p14:creationId xmlns:p14="http://schemas.microsoft.com/office/powerpoint/2010/main" val="224709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A5BB-7FC4-6848-AAD0-4A952797A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Ecosystem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29B3B-A610-7F47-8ED0-53883CF04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Oracle</a:t>
            </a:r>
          </a:p>
          <a:p>
            <a:pPr lvl="1"/>
            <a:r>
              <a:rPr lang="en-US" dirty="0"/>
              <a:t>Oracle JDK</a:t>
            </a:r>
          </a:p>
          <a:p>
            <a:pPr lvl="1"/>
            <a:r>
              <a:rPr lang="en-US" dirty="0"/>
              <a:t>OpenJDK</a:t>
            </a:r>
          </a:p>
          <a:p>
            <a:r>
              <a:rPr lang="en-US" dirty="0" err="1"/>
              <a:t>AdoptOpen</a:t>
            </a:r>
            <a:r>
              <a:rPr lang="en-US" dirty="0"/>
              <a:t> JDK</a:t>
            </a:r>
          </a:p>
          <a:p>
            <a:pPr lvl="1"/>
            <a:r>
              <a:rPr lang="en-US" dirty="0"/>
              <a:t>Certified implementation of OpenJDK</a:t>
            </a:r>
          </a:p>
          <a:p>
            <a:r>
              <a:rPr lang="en-US" dirty="0"/>
              <a:t>Lots of other implementations as well</a:t>
            </a:r>
          </a:p>
          <a:p>
            <a:pPr lvl="1"/>
            <a:endParaRPr lang="en-US" dirty="0"/>
          </a:p>
          <a:p>
            <a:r>
              <a:rPr lang="en-US" dirty="0">
                <a:hlinkClick r:id="rId2"/>
              </a:rPr>
              <a:t>https://en.wikipedia.org/wiki/OpenJDK#OpenJDK_builds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21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0945E-5F2D-5748-9E25-903201425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86" y="233465"/>
            <a:ext cx="10515600" cy="646552"/>
          </a:xfrm>
        </p:spPr>
        <p:txBody>
          <a:bodyPr>
            <a:normAutofit fontScale="90000"/>
          </a:bodyPr>
          <a:lstStyle/>
          <a:p>
            <a:r>
              <a:rPr lang="en-US" dirty="0"/>
              <a:t>Java 8 and Beyond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97920F-9CE1-7745-8970-62A0FCCF4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87" y="1085808"/>
            <a:ext cx="7984844" cy="46863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2A95D9B-E59A-6944-BB22-B0958944E3D7}"/>
              </a:ext>
            </a:extLst>
          </p:cNvPr>
          <p:cNvSpPr/>
          <p:nvPr/>
        </p:nvSpPr>
        <p:spPr>
          <a:xfrm>
            <a:off x="8667343" y="2052953"/>
            <a:ext cx="27626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https://dzone.com/articles/a-guide-to-java-versions-and-features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D6A5DD-1B9D-354C-8C45-6D559A2A687B}"/>
              </a:ext>
            </a:extLst>
          </p:cNvPr>
          <p:cNvSpPr txBox="1"/>
          <p:nvPr/>
        </p:nvSpPr>
        <p:spPr>
          <a:xfrm>
            <a:off x="8844367" y="1532461"/>
            <a:ext cx="2408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What’s In the Releases?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88962C-3CC5-D24D-9FC7-F871A9557410}"/>
              </a:ext>
            </a:extLst>
          </p:cNvPr>
          <p:cNvSpPr txBox="1"/>
          <p:nvPr/>
        </p:nvSpPr>
        <p:spPr>
          <a:xfrm>
            <a:off x="8667343" y="3310903"/>
            <a:ext cx="3213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https://howtodoinjava.com/java-version-wise-features-history/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81F6A1-C2A9-6F4E-AB81-D5A3656C4E7C}"/>
              </a:ext>
            </a:extLst>
          </p:cNvPr>
          <p:cNvSpPr txBox="1"/>
          <p:nvPr/>
        </p:nvSpPr>
        <p:spPr>
          <a:xfrm>
            <a:off x="8667343" y="4370802"/>
            <a:ext cx="2804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https://en.wikipedia.org/wiki/Java_version_history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587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1810A-FD88-4845-8DF0-9F3B58CA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Changes by Release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957A9-836E-1049-8BAE-3554E6E49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new in </a:t>
            </a:r>
          </a:p>
          <a:p>
            <a:pPr lvl="1"/>
            <a:r>
              <a:rPr lang="en-US" dirty="0"/>
              <a:t>Java 8</a:t>
            </a:r>
          </a:p>
          <a:p>
            <a:pPr lvl="1"/>
            <a:r>
              <a:rPr lang="en-US" dirty="0"/>
              <a:t>Java 9</a:t>
            </a:r>
          </a:p>
          <a:p>
            <a:pPr lvl="1"/>
            <a:r>
              <a:rPr lang="en-US" dirty="0"/>
              <a:t>Java 10</a:t>
            </a:r>
          </a:p>
          <a:p>
            <a:pPr lvl="1"/>
            <a:r>
              <a:rPr lang="en-US" dirty="0"/>
              <a:t>Java 11 (LTS) </a:t>
            </a:r>
          </a:p>
          <a:p>
            <a:pPr lvl="1"/>
            <a:r>
              <a:rPr lang="en-US" dirty="0"/>
              <a:t>As of this writing, Java 14 is available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following feature slides were taken from How To Do In Java</a:t>
            </a:r>
            <a:br>
              <a:rPr lang="en-US" dirty="0"/>
            </a:br>
            <a:r>
              <a:rPr lang="en-US" dirty="0">
                <a:hlinkClick r:id="rId2"/>
              </a:rPr>
              <a:t>https://howtodoinjava.com/java-version-wise-features-history/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358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705F-367E-4544-BEEE-7C1C8FD91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8</a:t>
            </a:r>
            <a:br>
              <a:rPr lang="en-US" dirty="0"/>
            </a:br>
            <a:r>
              <a:rPr lang="en-US" sz="2400" dirty="0"/>
              <a:t>March 2014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D53BD-1781-0948-9C80-BE0388D9A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hlinkClick r:id="rId2"/>
              </a:rPr>
              <a:t>Lambda expression</a:t>
            </a:r>
            <a:r>
              <a:rPr lang="en-US" dirty="0"/>
              <a:t> support in APIs</a:t>
            </a:r>
          </a:p>
          <a:p>
            <a:r>
              <a:rPr lang="en-US" dirty="0">
                <a:hlinkClick r:id="rId3"/>
              </a:rPr>
              <a:t>Stream API</a:t>
            </a:r>
            <a:endParaRPr lang="en-US" dirty="0"/>
          </a:p>
          <a:p>
            <a:r>
              <a:rPr lang="en-US" dirty="0">
                <a:hlinkClick r:id="rId4"/>
              </a:rPr>
              <a:t>Functional interface</a:t>
            </a:r>
            <a:r>
              <a:rPr lang="en-US" dirty="0"/>
              <a:t> and </a:t>
            </a:r>
            <a:r>
              <a:rPr lang="en-US" dirty="0">
                <a:hlinkClick r:id="rId5"/>
              </a:rPr>
              <a:t>default methods</a:t>
            </a:r>
            <a:endParaRPr lang="en-US" dirty="0"/>
          </a:p>
          <a:p>
            <a:r>
              <a:rPr lang="en-US" dirty="0">
                <a:hlinkClick r:id="rId6"/>
              </a:rPr>
              <a:t>Optionals</a:t>
            </a:r>
            <a:endParaRPr lang="en-US" dirty="0"/>
          </a:p>
          <a:p>
            <a:r>
              <a:rPr lang="en-US" dirty="0" err="1"/>
              <a:t>Nashorn</a:t>
            </a:r>
            <a:r>
              <a:rPr lang="en-US" dirty="0"/>
              <a:t> – JavaScript runtime which allows developers to embed JavaScript code within applications</a:t>
            </a:r>
          </a:p>
          <a:p>
            <a:r>
              <a:rPr lang="en-US" dirty="0"/>
              <a:t>Annotation on Java Types</a:t>
            </a:r>
          </a:p>
          <a:p>
            <a:r>
              <a:rPr lang="en-US" dirty="0">
                <a:hlinkClick r:id="rId7"/>
              </a:rPr>
              <a:t>Unsigned Integer Arithmetic</a:t>
            </a:r>
            <a:endParaRPr lang="en-US" dirty="0"/>
          </a:p>
          <a:p>
            <a:r>
              <a:rPr lang="en-US" dirty="0"/>
              <a:t>Repeating annotations</a:t>
            </a:r>
          </a:p>
          <a:p>
            <a:r>
              <a:rPr lang="en-US" dirty="0">
                <a:hlinkClick r:id="rId8"/>
              </a:rPr>
              <a:t>New Date and Time API</a:t>
            </a:r>
            <a:endParaRPr lang="en-US" dirty="0"/>
          </a:p>
          <a:p>
            <a:r>
              <a:rPr lang="en-US" dirty="0"/>
              <a:t>Statically-linked JNI libraries</a:t>
            </a:r>
          </a:p>
          <a:p>
            <a:r>
              <a:rPr lang="en-US" dirty="0"/>
              <a:t>Launch JavaFX applications from jar files</a:t>
            </a:r>
          </a:p>
          <a:p>
            <a:r>
              <a:rPr lang="en-US" dirty="0"/>
              <a:t>Remove the permanent generation from GC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221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705F-367E-4544-BEEE-7C1C8FD91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9</a:t>
            </a:r>
            <a:br>
              <a:rPr lang="en-US" dirty="0"/>
            </a:br>
            <a:r>
              <a:rPr lang="en-US" sz="2400" dirty="0"/>
              <a:t>September 2017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D53BD-1781-0948-9C80-BE0388D9A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hlinkClick r:id="rId2"/>
              </a:rPr>
              <a:t>Java platform module system</a:t>
            </a:r>
            <a:endParaRPr lang="en-US" dirty="0"/>
          </a:p>
          <a:p>
            <a:r>
              <a:rPr lang="en-US" dirty="0">
                <a:hlinkClick r:id="rId3"/>
              </a:rPr>
              <a:t>Interface Private Methods</a:t>
            </a:r>
            <a:endParaRPr lang="en-US" dirty="0"/>
          </a:p>
          <a:p>
            <a:r>
              <a:rPr lang="en-US" dirty="0"/>
              <a:t>HTTP 2 Client</a:t>
            </a:r>
          </a:p>
          <a:p>
            <a:r>
              <a:rPr lang="en-US" dirty="0" err="1"/>
              <a:t>JShell</a:t>
            </a:r>
            <a:r>
              <a:rPr lang="en-US" dirty="0"/>
              <a:t> – REPL Tool</a:t>
            </a:r>
          </a:p>
          <a:p>
            <a:r>
              <a:rPr lang="en-US" dirty="0"/>
              <a:t>Platform and JVM Logging</a:t>
            </a:r>
          </a:p>
          <a:p>
            <a:r>
              <a:rPr lang="en-US" dirty="0"/>
              <a:t>Process API Updates</a:t>
            </a:r>
          </a:p>
          <a:p>
            <a:r>
              <a:rPr lang="en-US" dirty="0"/>
              <a:t>Collection API Updates</a:t>
            </a:r>
          </a:p>
          <a:p>
            <a:r>
              <a:rPr lang="en-US" dirty="0">
                <a:hlinkClick r:id="rId4"/>
              </a:rPr>
              <a:t>Improvements in Stream API</a:t>
            </a:r>
            <a:endParaRPr lang="en-US" dirty="0"/>
          </a:p>
          <a:p>
            <a:r>
              <a:rPr lang="en-US" dirty="0"/>
              <a:t>Multi-Release JAR Files</a:t>
            </a:r>
          </a:p>
          <a:p>
            <a:r>
              <a:rPr lang="en-US" dirty="0"/>
              <a:t>@Deprecated Tag Changes</a:t>
            </a:r>
          </a:p>
          <a:p>
            <a:r>
              <a:rPr lang="en-US" dirty="0"/>
              <a:t>Stack Walking</a:t>
            </a:r>
          </a:p>
          <a:p>
            <a:r>
              <a:rPr lang="en-US" dirty="0"/>
              <a:t>Java Docs Updates</a:t>
            </a:r>
          </a:p>
          <a:p>
            <a:r>
              <a:rPr lang="en-US" dirty="0"/>
              <a:t>Miscellaneous Other Features</a:t>
            </a:r>
          </a:p>
        </p:txBody>
      </p:sp>
    </p:spTree>
    <p:extLst>
      <p:ext uri="{BB962C8B-B14F-4D97-AF65-F5344CB8AC3E}">
        <p14:creationId xmlns:p14="http://schemas.microsoft.com/office/powerpoint/2010/main" val="107409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705F-367E-4544-BEEE-7C1C8FD91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10</a:t>
            </a:r>
            <a:br>
              <a:rPr lang="en-US" dirty="0"/>
            </a:br>
            <a:r>
              <a:rPr lang="en-US" sz="2400" dirty="0"/>
              <a:t>March 2018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D53BD-1781-0948-9C80-BE0388D9A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>
                <a:hlinkClick r:id="rId2"/>
              </a:rPr>
              <a:t>JEP 286: Local Variable Type Inference</a:t>
            </a:r>
            <a:endParaRPr lang="en-US" dirty="0"/>
          </a:p>
          <a:p>
            <a:r>
              <a:rPr lang="en-US" dirty="0"/>
              <a:t>JEP 322: Time-Based Release Versioning</a:t>
            </a:r>
          </a:p>
          <a:p>
            <a:r>
              <a:rPr lang="en-US" dirty="0"/>
              <a:t>JEP 304: Garbage-Collector Interface</a:t>
            </a:r>
          </a:p>
          <a:p>
            <a:r>
              <a:rPr lang="en-US" dirty="0"/>
              <a:t>JEP 307: Parallel Full GC for G1</a:t>
            </a:r>
          </a:p>
          <a:p>
            <a:r>
              <a:rPr lang="en-US" dirty="0"/>
              <a:t>JEP 316: Heap Allocation on Alternative Memory Devices</a:t>
            </a:r>
          </a:p>
          <a:p>
            <a:r>
              <a:rPr lang="en-US" dirty="0"/>
              <a:t>JEP 296: Consolidate the JDK Forest into a Single Repository</a:t>
            </a:r>
          </a:p>
          <a:p>
            <a:r>
              <a:rPr lang="en-US" dirty="0"/>
              <a:t>JEP 310: Application Class-Data Sharing</a:t>
            </a:r>
          </a:p>
          <a:p>
            <a:r>
              <a:rPr lang="en-US" dirty="0"/>
              <a:t>JEP 314: Additional Unicode Language-Tag Extensions</a:t>
            </a:r>
          </a:p>
          <a:p>
            <a:r>
              <a:rPr lang="en-US" dirty="0"/>
              <a:t>JEP 319: Root Certificates</a:t>
            </a:r>
          </a:p>
          <a:p>
            <a:r>
              <a:rPr lang="en-US" dirty="0"/>
              <a:t>JEP 317: Experimental Java-Based JIT Compiler</a:t>
            </a:r>
          </a:p>
          <a:p>
            <a:r>
              <a:rPr lang="en-US" dirty="0"/>
              <a:t>JEP 312: Thread-Local Handshakes</a:t>
            </a:r>
          </a:p>
          <a:p>
            <a:r>
              <a:rPr lang="en-US" dirty="0"/>
              <a:t>JEP 313: Remove the Native-Header Generation Tool</a:t>
            </a:r>
          </a:p>
          <a:p>
            <a:r>
              <a:rPr lang="en-US" dirty="0"/>
              <a:t>New Added APIs and Options</a:t>
            </a:r>
          </a:p>
          <a:p>
            <a:r>
              <a:rPr lang="en-US" dirty="0"/>
              <a:t>Removed APIs and Options</a:t>
            </a:r>
          </a:p>
        </p:txBody>
      </p:sp>
    </p:spTree>
    <p:extLst>
      <p:ext uri="{BB962C8B-B14F-4D97-AF65-F5344CB8AC3E}">
        <p14:creationId xmlns:p14="http://schemas.microsoft.com/office/powerpoint/2010/main" val="2738721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705F-367E-4544-BEEE-7C1C8FD91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11</a:t>
            </a:r>
            <a:br>
              <a:rPr lang="en-US" dirty="0"/>
            </a:br>
            <a:r>
              <a:rPr lang="en-US" sz="2400" dirty="0"/>
              <a:t>September 2018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D53BD-1781-0948-9C80-BE0388D9A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Client API</a:t>
            </a:r>
          </a:p>
          <a:p>
            <a:r>
              <a:rPr lang="en-US" dirty="0"/>
              <a:t>Launch Single-File Programs Without Compilation</a:t>
            </a:r>
          </a:p>
          <a:p>
            <a:r>
              <a:rPr lang="en-US" dirty="0"/>
              <a:t>String API Changes</a:t>
            </a:r>
          </a:p>
          <a:p>
            <a:r>
              <a:rPr lang="en-US" dirty="0" err="1"/>
              <a:t>Collection.toArray</a:t>
            </a:r>
            <a:r>
              <a:rPr lang="en-US" dirty="0"/>
              <a:t>(</a:t>
            </a:r>
            <a:r>
              <a:rPr lang="en-US" dirty="0" err="1"/>
              <a:t>IntFunction</a:t>
            </a:r>
            <a:r>
              <a:rPr lang="en-US" dirty="0"/>
              <a:t>)</a:t>
            </a:r>
          </a:p>
          <a:p>
            <a:r>
              <a:rPr lang="en-US" dirty="0" err="1"/>
              <a:t>Files.readString</a:t>
            </a:r>
            <a:r>
              <a:rPr lang="en-US" dirty="0"/>
              <a:t>() and </a:t>
            </a:r>
            <a:r>
              <a:rPr lang="en-US" dirty="0" err="1"/>
              <a:t>Files.writeString</a:t>
            </a:r>
            <a:r>
              <a:rPr lang="en-US" dirty="0"/>
              <a:t>()</a:t>
            </a:r>
          </a:p>
          <a:p>
            <a:r>
              <a:rPr lang="en-US" dirty="0" err="1"/>
              <a:t>Optional.isEmpty</a:t>
            </a:r>
            <a:r>
              <a:rPr lang="en-US" dirty="0"/>
              <a:t>()</a:t>
            </a:r>
          </a:p>
        </p:txBody>
      </p:sp>
      <p:sp>
        <p:nvSpPr>
          <p:cNvPr id="4" name="Explosion 1 3">
            <a:extLst>
              <a:ext uri="{FF2B5EF4-FFF2-40B4-BE49-F238E27FC236}">
                <a16:creationId xmlns:a16="http://schemas.microsoft.com/office/drawing/2014/main" id="{E8FE705B-8DD3-074C-A1B4-F5AAA917C408}"/>
              </a:ext>
            </a:extLst>
          </p:cNvPr>
          <p:cNvSpPr/>
          <p:nvPr/>
        </p:nvSpPr>
        <p:spPr>
          <a:xfrm>
            <a:off x="9105089" y="681037"/>
            <a:ext cx="1964987" cy="1653703"/>
          </a:xfrm>
          <a:prstGeom prst="irregularSeal1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FF0BD-74C3-DC4A-AE2F-DC8F0F10113D}"/>
              </a:ext>
            </a:extLst>
          </p:cNvPr>
          <p:cNvSpPr txBox="1"/>
          <p:nvPr/>
        </p:nvSpPr>
        <p:spPr>
          <a:xfrm>
            <a:off x="9519976" y="2364025"/>
            <a:ext cx="1271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version</a:t>
            </a:r>
          </a:p>
        </p:txBody>
      </p:sp>
    </p:spTree>
    <p:extLst>
      <p:ext uri="{BB962C8B-B14F-4D97-AF65-F5344CB8AC3E}">
        <p14:creationId xmlns:p14="http://schemas.microsoft.com/office/powerpoint/2010/main" val="2706439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705F-367E-4544-BEEE-7C1C8FD91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12</a:t>
            </a:r>
            <a:br>
              <a:rPr lang="en-US" dirty="0"/>
            </a:br>
            <a:r>
              <a:rPr lang="en-US" sz="2400" dirty="0"/>
              <a:t>March 2019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D53BD-1781-0948-9C80-BE0388D9A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Collectors.teeing</a:t>
            </a:r>
            <a:r>
              <a:rPr lang="en-US" dirty="0"/>
              <a:t>() in Stream API</a:t>
            </a:r>
          </a:p>
          <a:p>
            <a:r>
              <a:rPr lang="en-US" dirty="0"/>
              <a:t>String API Changes</a:t>
            </a:r>
          </a:p>
          <a:p>
            <a:r>
              <a:rPr lang="en-US" dirty="0" err="1"/>
              <a:t>Files.mismatch</a:t>
            </a:r>
            <a:r>
              <a:rPr lang="en-US" dirty="0"/>
              <a:t>(Path, Path)</a:t>
            </a:r>
          </a:p>
          <a:p>
            <a:r>
              <a:rPr lang="en-US" dirty="0"/>
              <a:t>Compact Number Formatting</a:t>
            </a:r>
          </a:p>
          <a:p>
            <a:r>
              <a:rPr lang="en-US" dirty="0"/>
              <a:t>Support for Unicode 11</a:t>
            </a:r>
          </a:p>
          <a:p>
            <a:r>
              <a:rPr lang="en-US" dirty="0"/>
              <a:t>Switch Expressions (Preview)</a:t>
            </a:r>
          </a:p>
        </p:txBody>
      </p:sp>
    </p:spTree>
    <p:extLst>
      <p:ext uri="{BB962C8B-B14F-4D97-AF65-F5344CB8AC3E}">
        <p14:creationId xmlns:p14="http://schemas.microsoft.com/office/powerpoint/2010/main" val="1924310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705F-367E-4544-BEEE-7C1C8FD91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13</a:t>
            </a:r>
            <a:br>
              <a:rPr lang="en-US" dirty="0"/>
            </a:br>
            <a:r>
              <a:rPr lang="en-US" sz="2400" dirty="0"/>
              <a:t>September 2019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D53BD-1781-0948-9C80-BE0388D9A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JEP-350: Dynamic CDS Archives</a:t>
            </a:r>
            <a:endParaRPr lang="en-US" dirty="0"/>
          </a:p>
          <a:p>
            <a:r>
              <a:rPr lang="en-US" dirty="0">
                <a:hlinkClick r:id="rId4"/>
              </a:rPr>
              <a:t>JEP-351: ZGC: Uncommit Unused Memory</a:t>
            </a:r>
            <a:endParaRPr lang="en-US" dirty="0"/>
          </a:p>
          <a:p>
            <a:r>
              <a:rPr lang="en-US" dirty="0">
                <a:hlinkClick r:id="rId5"/>
              </a:rPr>
              <a:t>JEP-353: Reimplement the Legacy Socket API</a:t>
            </a:r>
            <a:endParaRPr lang="en-US" dirty="0"/>
          </a:p>
          <a:p>
            <a:r>
              <a:rPr lang="en-US" dirty="0">
                <a:hlinkClick r:id="rId6"/>
              </a:rPr>
              <a:t>JEP-354: Switch Expressions (Preview)</a:t>
            </a:r>
            <a:endParaRPr lang="en-US" dirty="0"/>
          </a:p>
          <a:p>
            <a:r>
              <a:rPr lang="en-US" dirty="0">
                <a:hlinkClick r:id="rId7"/>
              </a:rPr>
              <a:t>JEP-355: Text Blocks (Preview)</a:t>
            </a:r>
            <a:endParaRPr lang="en-US" dirty="0"/>
          </a:p>
          <a:p>
            <a:endParaRPr lang="en-US" dirty="0"/>
          </a:p>
          <a:p>
            <a:r>
              <a:rPr lang="en-US" dirty="0"/>
              <a:t>A “JEP” is a Java Enhancement Proposal and it’s what defines proposed changes to the language</a:t>
            </a:r>
          </a:p>
        </p:txBody>
      </p:sp>
    </p:spTree>
    <p:extLst>
      <p:ext uri="{BB962C8B-B14F-4D97-AF65-F5344CB8AC3E}">
        <p14:creationId xmlns:p14="http://schemas.microsoft.com/office/powerpoint/2010/main" val="2258128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74235-C2D5-FD4B-9D3A-815FE61B2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14 (Mar 2020)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1EF87-23C8-4347-9252-8747A510E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Helpful </a:t>
            </a:r>
            <a:r>
              <a:rPr lang="en-US" dirty="0" err="1">
                <a:solidFill>
                  <a:schemeClr val="accent2"/>
                </a:solidFill>
              </a:rPr>
              <a:t>NullPointerExceptions</a:t>
            </a:r>
            <a:r>
              <a:rPr lang="en-US" dirty="0">
                <a:solidFill>
                  <a:schemeClr val="accent2"/>
                </a:solidFill>
              </a:rPr>
              <a:t> (better messages)</a:t>
            </a:r>
          </a:p>
          <a:p>
            <a:r>
              <a:rPr lang="en-US" dirty="0">
                <a:solidFill>
                  <a:schemeClr val="accent2"/>
                </a:solidFill>
              </a:rPr>
              <a:t>Switch Expressions (Standard)</a:t>
            </a:r>
          </a:p>
          <a:p>
            <a:r>
              <a:rPr lang="en-US" dirty="0">
                <a:solidFill>
                  <a:srgbClr val="00B0F0"/>
                </a:solidFill>
              </a:rPr>
              <a:t>JFR (Java Flight Recorder) Event Streaming</a:t>
            </a:r>
          </a:p>
          <a:p>
            <a:r>
              <a:rPr lang="en-US" dirty="0"/>
              <a:t>Pattern Matching for </a:t>
            </a:r>
            <a:r>
              <a:rPr lang="en-US" i="1" dirty="0" err="1"/>
              <a:t>instanceof</a:t>
            </a:r>
            <a:r>
              <a:rPr lang="en-US" dirty="0"/>
              <a:t> (Preview)</a:t>
            </a:r>
          </a:p>
          <a:p>
            <a:r>
              <a:rPr lang="en-US" dirty="0"/>
              <a:t>Non-Volatile Mapped Byte Buffers (Incubator)</a:t>
            </a:r>
          </a:p>
          <a:p>
            <a:r>
              <a:rPr lang="en-US" dirty="0"/>
              <a:t>Packaging Tool (Incubator)</a:t>
            </a:r>
          </a:p>
          <a:p>
            <a:r>
              <a:rPr lang="en-US" dirty="0"/>
              <a:t>NUMA-Aware Memory Allocation for G1</a:t>
            </a:r>
          </a:p>
          <a:p>
            <a:endParaRPr lang="en-US" dirty="0"/>
          </a:p>
          <a:p>
            <a:r>
              <a:rPr lang="en-US" sz="2200" dirty="0">
                <a:solidFill>
                  <a:schemeClr val="accent2"/>
                </a:solidFill>
              </a:rPr>
              <a:t>Likely Most useful to you</a:t>
            </a:r>
          </a:p>
          <a:p>
            <a:r>
              <a:rPr lang="en-US" sz="2200" dirty="0">
                <a:solidFill>
                  <a:srgbClr val="00B0F0"/>
                </a:solidFill>
              </a:rPr>
              <a:t>Could be useful to you</a:t>
            </a:r>
          </a:p>
        </p:txBody>
      </p:sp>
    </p:spTree>
    <p:extLst>
      <p:ext uri="{BB962C8B-B14F-4D97-AF65-F5344CB8AC3E}">
        <p14:creationId xmlns:p14="http://schemas.microsoft.com/office/powerpoint/2010/main" val="1953053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74235-C2D5-FD4B-9D3A-815FE61B2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14,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1EF87-23C8-4347-9252-8747A510E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Records (Preview)</a:t>
            </a:r>
          </a:p>
          <a:p>
            <a:r>
              <a:rPr lang="en-US" dirty="0">
                <a:solidFill>
                  <a:schemeClr val="accent2"/>
                </a:solidFill>
              </a:rPr>
              <a:t>Text Blocks (Second Preview) – multi-line string literals</a:t>
            </a:r>
          </a:p>
          <a:p>
            <a:r>
              <a:rPr lang="en-US" dirty="0"/>
              <a:t>Deprecate the Solaris and SPARC Ports</a:t>
            </a:r>
          </a:p>
          <a:p>
            <a:r>
              <a:rPr lang="en-US" dirty="0"/>
              <a:t>Remove the Concurrent Mark Sweep (CMS) Garbage Collector</a:t>
            </a:r>
          </a:p>
          <a:p>
            <a:r>
              <a:rPr lang="en-US" dirty="0"/>
              <a:t>ZGC on macOS (experimental)</a:t>
            </a:r>
          </a:p>
          <a:p>
            <a:r>
              <a:rPr lang="en-US" dirty="0"/>
              <a:t>ZGC on Windows (experimental)</a:t>
            </a:r>
          </a:p>
          <a:p>
            <a:r>
              <a:rPr lang="en-US" dirty="0"/>
              <a:t>Deprecate the </a:t>
            </a:r>
            <a:r>
              <a:rPr lang="en-US" dirty="0" err="1"/>
              <a:t>ParallelScavenge</a:t>
            </a:r>
            <a:r>
              <a:rPr lang="en-US" dirty="0"/>
              <a:t> + </a:t>
            </a:r>
            <a:r>
              <a:rPr lang="en-US" dirty="0" err="1"/>
              <a:t>SerialOld</a:t>
            </a:r>
            <a:r>
              <a:rPr lang="en-US" dirty="0"/>
              <a:t> GC Combination</a:t>
            </a:r>
          </a:p>
          <a:p>
            <a:r>
              <a:rPr lang="en-US" dirty="0"/>
              <a:t>Remove the Pack200 Tools and API</a:t>
            </a:r>
          </a:p>
          <a:p>
            <a:r>
              <a:rPr lang="en-US" dirty="0"/>
              <a:t>Foreign-Memory Access API (Incubator)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911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DE809-3E72-524E-B964-62C00110E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15 (Sep 2020)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E965A-F4B1-9344-A00A-03EA3CD55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may be able to explore this towards the end of </a:t>
            </a:r>
            <a:r>
              <a:rPr lang="en-US"/>
              <a:t>this class</a:t>
            </a:r>
          </a:p>
        </p:txBody>
      </p:sp>
    </p:spTree>
    <p:extLst>
      <p:ext uri="{BB962C8B-B14F-4D97-AF65-F5344CB8AC3E}">
        <p14:creationId xmlns:p14="http://schemas.microsoft.com/office/powerpoint/2010/main" val="1246555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631</TotalTime>
  <Words>611</Words>
  <Application>Microsoft Macintosh PowerPoint</Application>
  <PresentationFormat>Widescreen</PresentationFormat>
  <Paragraphs>116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Java Release Timeline</vt:lpstr>
      <vt:lpstr>Java Ecosystem</vt:lpstr>
      <vt:lpstr>Java 8 and Beyond</vt:lpstr>
      <vt:lpstr>Major Changes by Release</vt:lpstr>
      <vt:lpstr>Java 8 March 2014</vt:lpstr>
      <vt:lpstr>Java 9 September 2017</vt:lpstr>
      <vt:lpstr>Java 10 March 2018</vt:lpstr>
      <vt:lpstr>Java 11 September 2018</vt:lpstr>
      <vt:lpstr>Java 12 March 2019</vt:lpstr>
      <vt:lpstr>Java 13 September 2019</vt:lpstr>
      <vt:lpstr>Java 14 (Mar 2020)</vt:lpstr>
      <vt:lpstr>Java 14, cont’d</vt:lpstr>
      <vt:lpstr>Java 15 (Sep 2020)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history</dc:title>
  <dc:creator>John Puopolo</dc:creator>
  <cp:lastModifiedBy>John Puopolo</cp:lastModifiedBy>
  <cp:revision>12</cp:revision>
  <dcterms:created xsi:type="dcterms:W3CDTF">2020-02-16T04:01:10Z</dcterms:created>
  <dcterms:modified xsi:type="dcterms:W3CDTF">2020-04-27T12:45:06Z</dcterms:modified>
</cp:coreProperties>
</file>