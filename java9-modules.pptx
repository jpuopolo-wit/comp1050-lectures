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4" r:id="rId4"/>
    <p:sldId id="270" r:id="rId5"/>
    <p:sldId id="258" r:id="rId6"/>
    <p:sldId id="265" r:id="rId7"/>
    <p:sldId id="272" r:id="rId8"/>
    <p:sldId id="275" r:id="rId9"/>
    <p:sldId id="259" r:id="rId10"/>
    <p:sldId id="260" r:id="rId11"/>
    <p:sldId id="271" r:id="rId12"/>
    <p:sldId id="266" r:id="rId13"/>
    <p:sldId id="261" r:id="rId14"/>
    <p:sldId id="273" r:id="rId15"/>
    <p:sldId id="274" r:id="rId16"/>
    <p:sldId id="267" r:id="rId17"/>
    <p:sldId id="262" r:id="rId18"/>
    <p:sldId id="276" r:id="rId19"/>
    <p:sldId id="263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4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/>
    <p:restoredTop sz="94730"/>
  </p:normalViewPr>
  <p:slideViewPr>
    <p:cSldViewPr snapToGrid="0" snapToObjects="1">
      <p:cViewPr varScale="1">
        <p:scale>
          <a:sx n="86" d="100"/>
          <a:sy n="86" d="100"/>
        </p:scale>
        <p:origin x="216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7FD4D-34C5-7F40-971C-E4D68F77F8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82A31-B027-E540-B928-A699742E6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77736-B2E8-FF48-9457-B01696E5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3C7B6-57F0-674E-91C8-425008B6C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92E22-F6DE-0B45-878A-0FA5595DF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4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47F5C-358D-FB44-81CE-EC55DDE2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8ECFB-9C0C-6E4A-85BF-FC544230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00769-C657-414A-A06D-F7C8F5A4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283B-1405-0842-975E-39BB0FD4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E292-8F68-9045-A636-AF3C4A6E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8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E2E7-3F79-8A42-93A4-AF069D265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3ECC7-1B8D-3642-92A3-9B061E4E4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7BDF9B-DE2D-704A-BC0E-F2AC0AB7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52977-F256-1248-B196-CFBD4D2D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9B9BC-46EE-2B4E-B3E9-FF1DA797A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162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DF30-2333-424A-A580-1A0F8958F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8BDBA-13F2-704C-BE55-E7D9BC31C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2973E-4A54-804E-80CE-48DDE32B1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CB7C8-DF1A-E14C-9C29-96A02791E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706E9-50A3-5C44-BED5-6D7BB5E54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74A44-0120-3D40-B78F-CFA55D9D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77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8A30-ABF1-0D4E-88AE-90CD6F9A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899EE5-95DD-244C-9125-6DE9AAD76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4A4BA9-6E43-8548-84C1-4626DA9DD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E5848-9FAB-9A46-AEE7-50DD9A3115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21712-CA1E-3044-B22F-394F0BFA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2C48C-8251-914A-961C-45391A20F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510B5-BE38-5040-9191-0C3D233E5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3A360-D5E1-C74F-B1B6-3AF17F69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40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968E-560F-7347-8F10-0EC8AC10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5C41A4-9EFE-9046-9058-FB2A89D7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F86DD9-A723-9241-8CEB-DDA2AF7E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250DE5-8163-3A41-B464-B45E3E48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851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47C00A-9528-E949-8E3A-F2F7C28A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687112-271A-5140-961E-41ECA9EB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4D7A0-BA49-B54A-B631-7ED7BA87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6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259D3-C676-D642-82F8-F70B70890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010E7-634A-A14F-91C1-DD678B6AE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F0DB55-54BB-8942-89A2-EB95D140C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D5F2D-BA44-594E-AD59-C6531AF19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7CAFE1-B411-924B-9F4F-77639F871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5DBB2-D7F1-FD47-A68F-893D4D4F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94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EB6D6-16F3-6744-B891-153FE7745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DA4C1-0438-F943-A2BD-DFA6BAA00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C22F3-C085-ED42-81A1-32DC63281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F9292-B751-6D4A-931D-3E3A39B7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8BAEA-4C2A-474C-A40C-64D5D10A3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9D435-5222-1A4A-AD9F-4F1E52838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43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99965-7CB5-BC4A-B313-2722B190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19DD81-BBFF-DB46-BEBD-4BBA28563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CFB55-AA1D-7743-B2AA-003903C6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E9BC-3B55-9641-9B76-577A62D2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BAFC0-7011-9647-A3CC-169A1B6F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9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D5417F-A131-EB4D-9EC5-0906BA09AA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72512-A21A-BB46-BE55-5FFA70CA0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121AB-B867-6242-BF52-0EEC6891F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A298-0060-8B41-806B-0B78A057E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236E-F6AA-3B41-B6F6-AC3F6524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36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010CE-33CA-C843-B3E4-2EE144B67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E10ED-E53D-9A47-B084-EF96436E9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2114-FBB8-7C4F-A384-9B75E0367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60209-3BD7-E64D-B6F5-A6D624F01F7E}" type="datetimeFigureOut">
              <a:rPr lang="en-US" smtClean="0"/>
              <a:t>8/28/20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C3403-DAC0-7B4A-9D97-B75F3B1CA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0989E-8D2D-0343-99E8-3A96F7B0C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E59CA-FF95-374F-98B5-EE827722AD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063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91AD3-E2A7-BE41-8999-7E3E447D51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9’s Module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0CC39-7BD6-8F4E-B274-591A14BC95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Useful Overview</a:t>
            </a:r>
          </a:p>
        </p:txBody>
      </p:sp>
    </p:spTree>
    <p:extLst>
      <p:ext uri="{BB962C8B-B14F-4D97-AF65-F5344CB8AC3E}">
        <p14:creationId xmlns:p14="http://schemas.microsoft.com/office/powerpoint/2010/main" val="225842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A025-610D-A34B-B886-9BFFDA764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64E8-34E4-CF48-94E6-162404835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Java Platform Module System (JPMS)</a:t>
            </a:r>
          </a:p>
          <a:p>
            <a:pPr lvl="1"/>
            <a:r>
              <a:rPr lang="en-US" dirty="0"/>
              <a:t>A way to assemble and distribute Java code, cleanly and securely</a:t>
            </a:r>
          </a:p>
          <a:p>
            <a:pPr lvl="1"/>
            <a:r>
              <a:rPr lang="en-US" dirty="0"/>
              <a:t>Specifies </a:t>
            </a:r>
          </a:p>
          <a:p>
            <a:pPr lvl="2"/>
            <a:r>
              <a:rPr lang="en-US" dirty="0"/>
              <a:t>A distribution format for collections of Java code and associated resources </a:t>
            </a:r>
          </a:p>
          <a:p>
            <a:pPr lvl="2"/>
            <a:r>
              <a:rPr lang="en-US" dirty="0"/>
              <a:t>A repository for storing these collections, or modules, and identifies how they can be discovered, loaded and checked for integrity.</a:t>
            </a:r>
          </a:p>
          <a:p>
            <a:pPr lvl="1"/>
            <a:r>
              <a:rPr lang="en-US" dirty="0"/>
              <a:t>Introduced to refactor (reorganize and clean up) the Java APIs, enabling innovation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6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1D94D-48A3-1D4A-A4EF-7BC93EC3F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97AFC-0AF6-B34F-A9E1-3DCEDD61A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  <a:p>
            <a:pPr lvl="1"/>
            <a:r>
              <a:rPr lang="en-US" dirty="0"/>
              <a:t>Are collections of packages</a:t>
            </a:r>
          </a:p>
          <a:p>
            <a:pPr lvl="1"/>
            <a:r>
              <a:rPr lang="en-US" dirty="0"/>
              <a:t>State what other modules they depend </a:t>
            </a:r>
          </a:p>
          <a:p>
            <a:pPr lvl="1"/>
            <a:r>
              <a:rPr lang="en-US" dirty="0"/>
              <a:t>State what they expose to consumers/clients/rest of world</a:t>
            </a:r>
          </a:p>
          <a:p>
            <a:r>
              <a:rPr lang="en-US" dirty="0"/>
              <a:t>We can choose to modularize our applications, or not</a:t>
            </a:r>
          </a:p>
          <a:p>
            <a:pPr lvl="1"/>
            <a:r>
              <a:rPr lang="en-US" dirty="0"/>
              <a:t>If we choose to do so, we need to create a module descriptor file</a:t>
            </a:r>
          </a:p>
          <a:p>
            <a:pPr lvl="1"/>
            <a:r>
              <a:rPr lang="en-US" dirty="0"/>
              <a:t>By convention, called </a:t>
            </a:r>
            <a:r>
              <a:rPr lang="en-US" dirty="0">
                <a:latin typeface="Andale Mono" panose="020B0509000000000004" pitchFamily="49" charset="0"/>
              </a:rPr>
              <a:t>module-</a:t>
            </a:r>
            <a:r>
              <a:rPr lang="en-US" dirty="0" err="1">
                <a:latin typeface="Andale Mono" panose="020B0509000000000004" pitchFamily="49" charset="0"/>
              </a:rPr>
              <a:t>info.java</a:t>
            </a:r>
            <a:endParaRPr lang="en-US" dirty="0">
              <a:latin typeface="Andale Mono" panose="020B05090000000000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9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4B58FF9-1E5A-9C43-9DCC-E22707301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73" y="272136"/>
            <a:ext cx="4322736" cy="688760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Diagram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05A0B0-1634-B941-AE4F-0CAB5DBDF0B5}"/>
              </a:ext>
            </a:extLst>
          </p:cNvPr>
          <p:cNvGrpSpPr/>
          <p:nvPr/>
        </p:nvGrpSpPr>
        <p:grpSpPr>
          <a:xfrm>
            <a:off x="1100381" y="2237878"/>
            <a:ext cx="3053166" cy="3357010"/>
            <a:chOff x="5579390" y="2144888"/>
            <a:chExt cx="3053166" cy="335701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70B785A-D9EB-1845-8A9F-FA1856648C54}"/>
                </a:ext>
              </a:extLst>
            </p:cNvPr>
            <p:cNvSpPr/>
            <p:nvPr/>
          </p:nvSpPr>
          <p:spPr>
            <a:xfrm>
              <a:off x="5579390" y="2144888"/>
              <a:ext cx="3053166" cy="3357010"/>
            </a:xfrm>
            <a:prstGeom prst="rect">
              <a:avLst/>
            </a:prstGeom>
            <a:solidFill>
              <a:schemeClr val="bg1">
                <a:lumMod val="65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package p1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58806F-85C7-0743-AA3D-BA184AF5548C}"/>
                </a:ext>
              </a:extLst>
            </p:cNvPr>
            <p:cNvSpPr/>
            <p:nvPr/>
          </p:nvSpPr>
          <p:spPr>
            <a:xfrm>
              <a:off x="6646332" y="2914805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p1.A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3FDD0C-7565-484D-BE42-1FC87CA93CF0}"/>
                </a:ext>
              </a:extLst>
            </p:cNvPr>
            <p:cNvSpPr/>
            <p:nvPr/>
          </p:nvSpPr>
          <p:spPr>
            <a:xfrm>
              <a:off x="602664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p1.B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8B83F4E-8AF4-3A47-9F0A-8EEC7FD8FB0E}"/>
                </a:ext>
              </a:extLst>
            </p:cNvPr>
            <p:cNvSpPr/>
            <p:nvPr/>
          </p:nvSpPr>
          <p:spPr>
            <a:xfrm>
              <a:off x="729207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p1.C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B501F62-9B08-CF4D-9933-52DA76900355}"/>
              </a:ext>
            </a:extLst>
          </p:cNvPr>
          <p:cNvGrpSpPr/>
          <p:nvPr/>
        </p:nvGrpSpPr>
        <p:grpSpPr>
          <a:xfrm>
            <a:off x="4504577" y="2237878"/>
            <a:ext cx="3053166" cy="3357010"/>
            <a:chOff x="5579390" y="2144888"/>
            <a:chExt cx="3053166" cy="3357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EA8122-74D4-DF41-ACA4-90D729A6B515}"/>
                </a:ext>
              </a:extLst>
            </p:cNvPr>
            <p:cNvSpPr/>
            <p:nvPr/>
          </p:nvSpPr>
          <p:spPr>
            <a:xfrm>
              <a:off x="5579390" y="2144888"/>
              <a:ext cx="3053166" cy="3357010"/>
            </a:xfrm>
            <a:prstGeom prst="rect">
              <a:avLst/>
            </a:prstGeom>
            <a:solidFill>
              <a:schemeClr val="bg1">
                <a:lumMod val="65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package p2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CD04CF0-7C72-244E-9F7C-26A85F89CBB6}"/>
                </a:ext>
              </a:extLst>
            </p:cNvPr>
            <p:cNvSpPr/>
            <p:nvPr/>
          </p:nvSpPr>
          <p:spPr>
            <a:xfrm>
              <a:off x="6646332" y="2914805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p2.A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58F4CA-B735-2740-8151-8674715FF356}"/>
                </a:ext>
              </a:extLst>
            </p:cNvPr>
            <p:cNvSpPr/>
            <p:nvPr/>
          </p:nvSpPr>
          <p:spPr>
            <a:xfrm>
              <a:off x="602664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p2.D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EBEB7A-E87B-5A40-A094-74079400E609}"/>
                </a:ext>
              </a:extLst>
            </p:cNvPr>
            <p:cNvSpPr/>
            <p:nvPr/>
          </p:nvSpPr>
          <p:spPr>
            <a:xfrm>
              <a:off x="729207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p2.E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B3E3E5F-4867-9A4C-9B09-976B703542F3}"/>
              </a:ext>
            </a:extLst>
          </p:cNvPr>
          <p:cNvGrpSpPr/>
          <p:nvPr/>
        </p:nvGrpSpPr>
        <p:grpSpPr>
          <a:xfrm>
            <a:off x="7908773" y="2237878"/>
            <a:ext cx="3053166" cy="3357010"/>
            <a:chOff x="5579390" y="2144888"/>
            <a:chExt cx="3053166" cy="335701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4BBEC89-E9F2-CE47-B8D9-8EA1B5AA107C}"/>
                </a:ext>
              </a:extLst>
            </p:cNvPr>
            <p:cNvSpPr/>
            <p:nvPr/>
          </p:nvSpPr>
          <p:spPr>
            <a:xfrm>
              <a:off x="5579390" y="2144888"/>
              <a:ext cx="3053166" cy="3357010"/>
            </a:xfrm>
            <a:prstGeom prst="rect">
              <a:avLst/>
            </a:prstGeom>
            <a:solidFill>
              <a:schemeClr val="bg1">
                <a:lumMod val="65000"/>
                <a:alpha val="5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package p3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23E164-56A9-FA44-AF1D-59B0410F6990}"/>
                </a:ext>
              </a:extLst>
            </p:cNvPr>
            <p:cNvSpPr/>
            <p:nvPr/>
          </p:nvSpPr>
          <p:spPr>
            <a:xfrm>
              <a:off x="6646332" y="2914805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p3.X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8D26904-9AE8-C442-9F90-00D3C66C52F7}"/>
                </a:ext>
              </a:extLst>
            </p:cNvPr>
            <p:cNvSpPr/>
            <p:nvPr/>
          </p:nvSpPr>
          <p:spPr>
            <a:xfrm>
              <a:off x="602664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p3.Y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909538F-8AE4-B549-B5FA-3E3803C7CB7A}"/>
                </a:ext>
              </a:extLst>
            </p:cNvPr>
            <p:cNvSpPr/>
            <p:nvPr/>
          </p:nvSpPr>
          <p:spPr>
            <a:xfrm>
              <a:off x="7292072" y="4141922"/>
              <a:ext cx="914400" cy="914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class</a:t>
              </a:r>
            </a:p>
            <a:p>
              <a:pPr algn="ctr"/>
              <a:r>
                <a:rPr lang="en-US" dirty="0"/>
                <a:t>p3.Z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D579AEDF-A034-794C-B247-BDA0E5F279FD}"/>
              </a:ext>
            </a:extLst>
          </p:cNvPr>
          <p:cNvSpPr/>
          <p:nvPr/>
        </p:nvSpPr>
        <p:spPr>
          <a:xfrm>
            <a:off x="749350" y="1441342"/>
            <a:ext cx="10610907" cy="454100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m1</a:t>
            </a:r>
          </a:p>
        </p:txBody>
      </p:sp>
    </p:spTree>
    <p:extLst>
      <p:ext uri="{BB962C8B-B14F-4D97-AF65-F5344CB8AC3E}">
        <p14:creationId xmlns:p14="http://schemas.microsoft.com/office/powerpoint/2010/main" val="3238465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3F87F-E29E-C841-AD95-AE94C0104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9148"/>
          </a:xfrm>
        </p:spPr>
        <p:txBody>
          <a:bodyPr/>
          <a:lstStyle/>
          <a:p>
            <a:r>
              <a:rPr lang="en-US" dirty="0"/>
              <a:t>Java Platform Module System (JPMS)</a:t>
            </a:r>
          </a:p>
        </p:txBody>
      </p:sp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2720D333-0F3A-3D44-A2D1-3F735F502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221" y="1350487"/>
            <a:ext cx="9656579" cy="4674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E2E4387-F343-EB4C-940F-9D3CEEABEA1E}"/>
              </a:ext>
            </a:extLst>
          </p:cNvPr>
          <p:cNvSpPr txBox="1">
            <a:spLocks/>
          </p:cNvSpPr>
          <p:nvPr/>
        </p:nvSpPr>
        <p:spPr>
          <a:xfrm>
            <a:off x="7715826" y="5901951"/>
            <a:ext cx="4476174" cy="9291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Organizes 20+ years of the JDK development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2F5869-DE58-9A4B-9748-C03E54D40233}"/>
              </a:ext>
            </a:extLst>
          </p:cNvPr>
          <p:cNvSpPr txBox="1">
            <a:spLocks/>
          </p:cNvSpPr>
          <p:nvPr/>
        </p:nvSpPr>
        <p:spPr>
          <a:xfrm>
            <a:off x="292176" y="6071062"/>
            <a:ext cx="3699317" cy="590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JPMS modules has no intrinsic version</a:t>
            </a:r>
          </a:p>
        </p:txBody>
      </p:sp>
    </p:spTree>
    <p:extLst>
      <p:ext uri="{BB962C8B-B14F-4D97-AF65-F5344CB8AC3E}">
        <p14:creationId xmlns:p14="http://schemas.microsoft.com/office/powerpoint/2010/main" val="80937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BDD6-E0CE-2948-BD26-8BE32AC5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74" y="210142"/>
            <a:ext cx="10515600" cy="626767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64E6-852E-C54F-B34D-0A2FD3F173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7237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b="1" dirty="0">
                <a:latin typeface="+mj-lt"/>
              </a:rPr>
              <a:t>System Modules</a:t>
            </a:r>
            <a:endParaRPr lang="en-US" b="1" i="1" dirty="0">
              <a:latin typeface="+mj-lt"/>
            </a:endParaRPr>
          </a:p>
          <a:p>
            <a:pPr lvl="1"/>
            <a:r>
              <a:rPr lang="en-US" sz="2800" dirty="0">
                <a:latin typeface="+mj-lt"/>
              </a:rPr>
              <a:t>Include the Java SE and JDK modules</a:t>
            </a:r>
          </a:p>
          <a:p>
            <a:pPr lvl="1"/>
            <a:r>
              <a:rPr lang="en-US" sz="2800" dirty="0">
                <a:latin typeface="+mj-lt"/>
              </a:rPr>
              <a:t>View via java -–list-modules</a:t>
            </a:r>
            <a:br>
              <a:rPr lang="en-US" sz="2800" dirty="0">
                <a:latin typeface="+mj-lt"/>
              </a:rPr>
            </a:br>
            <a:endParaRPr lang="en-US" sz="2800" dirty="0">
              <a:latin typeface="+mj-lt"/>
            </a:endParaRPr>
          </a:p>
          <a:p>
            <a:r>
              <a:rPr lang="en-US" b="1" dirty="0">
                <a:latin typeface="+mj-lt"/>
              </a:rPr>
              <a:t>Application Modules</a:t>
            </a:r>
          </a:p>
          <a:p>
            <a:pPr lvl="1"/>
            <a:r>
              <a:rPr lang="en-US" sz="2800" dirty="0">
                <a:latin typeface="+mj-lt"/>
              </a:rPr>
              <a:t>What we usually want to build when we decide to use modules. </a:t>
            </a:r>
          </a:p>
          <a:p>
            <a:pPr lvl="1"/>
            <a:r>
              <a:rPr lang="en-US" sz="2800" dirty="0">
                <a:latin typeface="+mj-lt"/>
              </a:rPr>
              <a:t>Named and defined in the compiled </a:t>
            </a:r>
            <a:r>
              <a:rPr lang="en-US" sz="2800" i="1" dirty="0">
                <a:latin typeface="+mj-lt"/>
              </a:rPr>
              <a:t>module-</a:t>
            </a:r>
            <a:r>
              <a:rPr lang="en-US" sz="2800" i="1" dirty="0" err="1">
                <a:latin typeface="+mj-lt"/>
              </a:rPr>
              <a:t>info.class</a:t>
            </a:r>
            <a:r>
              <a:rPr lang="en-US" sz="2800" i="1" dirty="0">
                <a:latin typeface="+mj-lt"/>
              </a:rPr>
              <a:t> </a:t>
            </a:r>
            <a:r>
              <a:rPr lang="en-US" sz="2800" dirty="0">
                <a:latin typeface="+mj-lt"/>
              </a:rPr>
              <a:t>file included in the assembled JAR</a:t>
            </a:r>
          </a:p>
          <a:p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61356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BDD6-E0CE-2948-BD26-8BE32AC5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74" y="210142"/>
            <a:ext cx="10515600" cy="626767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 Types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30EB677-D239-E242-A40B-5D09AF5B5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6778" y="1129345"/>
            <a:ext cx="11263393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latin typeface="+mj-lt"/>
              </a:rPr>
              <a:t>Automatic Modules</a:t>
            </a:r>
          </a:p>
          <a:p>
            <a:pPr lvl="1"/>
            <a:r>
              <a:rPr lang="en-US" sz="2800" dirty="0"/>
              <a:t>We can include unofficial modules by adding existing JAR files to the module path</a:t>
            </a:r>
          </a:p>
          <a:p>
            <a:pPr lvl="1"/>
            <a:r>
              <a:rPr lang="en-US" sz="2800" dirty="0"/>
              <a:t>The name of the module will be derived from the name of the JAR </a:t>
            </a:r>
          </a:p>
          <a:p>
            <a:pPr lvl="1"/>
            <a:r>
              <a:rPr lang="en-US" sz="2800" dirty="0"/>
              <a:t>Automatic modules will have full read access to every other module loaded by the path</a:t>
            </a:r>
            <a:br>
              <a:rPr lang="en-US" sz="2800" dirty="0"/>
            </a:br>
            <a:endParaRPr lang="en-US" sz="2800" dirty="0"/>
          </a:p>
          <a:p>
            <a:r>
              <a:rPr lang="en-US" b="1" dirty="0"/>
              <a:t>Unnamed Module</a:t>
            </a:r>
          </a:p>
          <a:p>
            <a:pPr lvl="1"/>
            <a:r>
              <a:rPr lang="en-US" sz="2800" dirty="0"/>
              <a:t>When a class or JAR is loaded onto the </a:t>
            </a:r>
            <a:r>
              <a:rPr lang="en-US" sz="2800" dirty="0" err="1"/>
              <a:t>classpath</a:t>
            </a:r>
            <a:r>
              <a:rPr lang="en-US" sz="2800" dirty="0"/>
              <a:t>, but </a:t>
            </a:r>
            <a:r>
              <a:rPr lang="en-US" sz="2800" i="1" dirty="0"/>
              <a:t>not</a:t>
            </a:r>
            <a:r>
              <a:rPr lang="en-US" sz="2800" dirty="0"/>
              <a:t> the module path, it's automatically added to the </a:t>
            </a:r>
            <a:r>
              <a:rPr lang="en-US" sz="2800" i="1" dirty="0"/>
              <a:t>unnamed module</a:t>
            </a:r>
            <a:endParaRPr lang="en-US" sz="2800" dirty="0"/>
          </a:p>
          <a:p>
            <a:pPr lvl="1"/>
            <a:r>
              <a:rPr lang="en-US" sz="2800" dirty="0"/>
              <a:t>Catch-all module to maintain backward compatibility with previously-written Java code</a:t>
            </a:r>
          </a:p>
          <a:p>
            <a:pPr lvl="1"/>
            <a:r>
              <a:rPr lang="en-US" sz="2800" dirty="0"/>
              <a:t>By default, everything is exported and open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689E-0ED6-4148-8356-65BDF762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05" y="164319"/>
            <a:ext cx="4539712" cy="463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BD19-522A-7848-BDF9-42F1395D5EAC}"/>
              </a:ext>
            </a:extLst>
          </p:cNvPr>
          <p:cNvSpPr/>
          <p:nvPr/>
        </p:nvSpPr>
        <p:spPr>
          <a:xfrm>
            <a:off x="724841" y="1708688"/>
            <a:ext cx="2898183" cy="38435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5E75A-8214-9946-9D3F-5A71A53A5586}"/>
              </a:ext>
            </a:extLst>
          </p:cNvPr>
          <p:cNvSpPr/>
          <p:nvPr/>
        </p:nvSpPr>
        <p:spPr>
          <a:xfrm>
            <a:off x="875687" y="2133266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FA867-8A51-924F-9340-47958CDC5C9C}"/>
              </a:ext>
            </a:extLst>
          </p:cNvPr>
          <p:cNvSpPr/>
          <p:nvPr/>
        </p:nvSpPr>
        <p:spPr>
          <a:xfrm>
            <a:off x="1188766" y="25223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473A7-7B78-B541-96F6-C1C8D56CE2E3}"/>
              </a:ext>
            </a:extLst>
          </p:cNvPr>
          <p:cNvSpPr/>
          <p:nvPr/>
        </p:nvSpPr>
        <p:spPr>
          <a:xfrm>
            <a:off x="2219910" y="25223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2DC0A-ECD1-D24E-BC10-104808DE84BB}"/>
              </a:ext>
            </a:extLst>
          </p:cNvPr>
          <p:cNvSpPr/>
          <p:nvPr/>
        </p:nvSpPr>
        <p:spPr>
          <a:xfrm>
            <a:off x="875687" y="3838750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6945B5-426B-3F40-988B-72F49E9637AC}"/>
              </a:ext>
            </a:extLst>
          </p:cNvPr>
          <p:cNvSpPr/>
          <p:nvPr/>
        </p:nvSpPr>
        <p:spPr>
          <a:xfrm>
            <a:off x="1188766" y="42278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D50C5-6576-C24C-9EFF-199F8F925B02}"/>
              </a:ext>
            </a:extLst>
          </p:cNvPr>
          <p:cNvSpPr/>
          <p:nvPr/>
        </p:nvSpPr>
        <p:spPr>
          <a:xfrm>
            <a:off x="2219910" y="42278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B9E1-1B06-BC43-B015-74ED8DBAF183}"/>
              </a:ext>
            </a:extLst>
          </p:cNvPr>
          <p:cNvSpPr txBox="1"/>
          <p:nvPr/>
        </p:nvSpPr>
        <p:spPr>
          <a:xfrm>
            <a:off x="1337617" y="1314794"/>
            <a:ext cx="1764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module-</a:t>
            </a:r>
            <a:r>
              <a:rPr lang="en-US" dirty="0" err="1"/>
              <a:t>info.java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D9CF0-B22D-1A45-A6E5-EB24DE63E618}"/>
              </a:ext>
            </a:extLst>
          </p:cNvPr>
          <p:cNvSpPr/>
          <p:nvPr/>
        </p:nvSpPr>
        <p:spPr>
          <a:xfrm>
            <a:off x="8568976" y="1708688"/>
            <a:ext cx="2898183" cy="38435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8295A9-2877-DE4C-8D25-0B85F894CD06}"/>
              </a:ext>
            </a:extLst>
          </p:cNvPr>
          <p:cNvSpPr/>
          <p:nvPr/>
        </p:nvSpPr>
        <p:spPr>
          <a:xfrm>
            <a:off x="8719822" y="2133266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B6352C-498C-C642-900B-DB58DEE296D7}"/>
              </a:ext>
            </a:extLst>
          </p:cNvPr>
          <p:cNvSpPr/>
          <p:nvPr/>
        </p:nvSpPr>
        <p:spPr>
          <a:xfrm>
            <a:off x="9032901" y="25223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p3.A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317331-7491-1C40-99D1-8727E9AF801C}"/>
              </a:ext>
            </a:extLst>
          </p:cNvPr>
          <p:cNvSpPr/>
          <p:nvPr/>
        </p:nvSpPr>
        <p:spPr>
          <a:xfrm>
            <a:off x="10064045" y="25223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p3.B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88F29D-5FFF-6C4B-B69A-9AE60A1C051F}"/>
              </a:ext>
            </a:extLst>
          </p:cNvPr>
          <p:cNvSpPr/>
          <p:nvPr/>
        </p:nvSpPr>
        <p:spPr>
          <a:xfrm>
            <a:off x="8719822" y="3838750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22B1AC-4B4C-4246-9780-3C6B554E4FF8}"/>
              </a:ext>
            </a:extLst>
          </p:cNvPr>
          <p:cNvSpPr/>
          <p:nvPr/>
        </p:nvSpPr>
        <p:spPr>
          <a:xfrm>
            <a:off x="9032901" y="42278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p4.X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761EC7-D7E6-D34F-8274-5F1F3273A134}"/>
              </a:ext>
            </a:extLst>
          </p:cNvPr>
          <p:cNvSpPr/>
          <p:nvPr/>
        </p:nvSpPr>
        <p:spPr>
          <a:xfrm>
            <a:off x="10064045" y="42278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p4.Y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BFA116-6F91-2B41-AE5B-05FE214C22F0}"/>
              </a:ext>
            </a:extLst>
          </p:cNvPr>
          <p:cNvSpPr txBox="1"/>
          <p:nvPr/>
        </p:nvSpPr>
        <p:spPr>
          <a:xfrm>
            <a:off x="9181752" y="1314794"/>
            <a:ext cx="1764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module-</a:t>
            </a:r>
            <a:r>
              <a:rPr lang="en-US" dirty="0" err="1"/>
              <a:t>info.java</a:t>
            </a:r>
            <a:endParaRPr lang="en-US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02F801-4A0E-544C-87B0-69502D376118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3417407" y="4595106"/>
            <a:ext cx="3211029" cy="12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76BCF2-EC96-DC41-A794-74EB5C2872CF}"/>
              </a:ext>
            </a:extLst>
          </p:cNvPr>
          <p:cNvSpPr txBox="1"/>
          <p:nvPr/>
        </p:nvSpPr>
        <p:spPr>
          <a:xfrm>
            <a:off x="3623024" y="422577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exports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291344-7AE5-3E4E-9B8E-6868F24DA025}"/>
              </a:ext>
            </a:extLst>
          </p:cNvPr>
          <p:cNvSpPr/>
          <p:nvPr/>
        </p:nvSpPr>
        <p:spPr>
          <a:xfrm>
            <a:off x="6628436" y="4242493"/>
            <a:ext cx="1004324" cy="731144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52B3448-1037-7F4B-A461-51ABE484AD8B}"/>
              </a:ext>
            </a:extLst>
          </p:cNvPr>
          <p:cNvCxnSpPr>
            <a:cxnSpLocks/>
          </p:cNvCxnSpPr>
          <p:nvPr/>
        </p:nvCxnSpPr>
        <p:spPr>
          <a:xfrm flipH="1">
            <a:off x="3623024" y="2262753"/>
            <a:ext cx="49459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FB1BB4F-5B29-A443-8140-81AC6FE75CF3}"/>
              </a:ext>
            </a:extLst>
          </p:cNvPr>
          <p:cNvSpPr txBox="1"/>
          <p:nvPr/>
        </p:nvSpPr>
        <p:spPr>
          <a:xfrm>
            <a:off x="7130598" y="189342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requires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375A2D-0485-D74A-9640-D0EF6CCBCED9}"/>
              </a:ext>
            </a:extLst>
          </p:cNvPr>
          <p:cNvSpPr txBox="1"/>
          <p:nvPr/>
        </p:nvSpPr>
        <p:spPr>
          <a:xfrm>
            <a:off x="5368818" y="2413490"/>
            <a:ext cx="29665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m2 requires m1 to work correctly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33D5BE-407E-D746-95ED-B65C50624B7B}"/>
              </a:ext>
            </a:extLst>
          </p:cNvPr>
          <p:cNvSpPr txBox="1"/>
          <p:nvPr/>
        </p:nvSpPr>
        <p:spPr>
          <a:xfrm>
            <a:off x="3777709" y="4754097"/>
            <a:ext cx="26735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m1 makes p2 available to use for the world at compile-time and run-time</a:t>
            </a:r>
          </a:p>
        </p:txBody>
      </p:sp>
    </p:spTree>
    <p:extLst>
      <p:ext uri="{BB962C8B-B14F-4D97-AF65-F5344CB8AC3E}">
        <p14:creationId xmlns:p14="http://schemas.microsoft.com/office/powerpoint/2010/main" val="362776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85FE-47A0-FA41-B5C6-218DF2952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91F95-176D-F04D-BA2A-25662E79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Descriptor file</a:t>
            </a:r>
          </a:p>
          <a:p>
            <a:pPr lvl="1"/>
            <a:r>
              <a:rPr lang="en-US" dirty="0">
                <a:latin typeface="Andale Mono" panose="020B0509000000000004" pitchFamily="49" charset="0"/>
              </a:rPr>
              <a:t>module-</a:t>
            </a:r>
            <a:r>
              <a:rPr lang="en-US" dirty="0" err="1">
                <a:latin typeface="Andale Mono" panose="020B0509000000000004" pitchFamily="49" charset="0"/>
              </a:rPr>
              <a:t>info.java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file, part of the compilation chain</a:t>
            </a:r>
          </a:p>
          <a:p>
            <a:pPr lvl="1"/>
            <a:r>
              <a:rPr lang="en-US" dirty="0"/>
              <a:t>Presence of </a:t>
            </a:r>
            <a:r>
              <a:rPr lang="en-US" dirty="0">
                <a:latin typeface="Andale Mono" panose="020B0509000000000004" pitchFamily="49" charset="0"/>
              </a:rPr>
              <a:t>module-</a:t>
            </a:r>
            <a:r>
              <a:rPr lang="en-US" dirty="0" err="1">
                <a:latin typeface="Andale Mono" panose="020B0509000000000004" pitchFamily="49" charset="0"/>
              </a:rPr>
              <a:t>info.java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makes your application “modular”</a:t>
            </a:r>
          </a:p>
          <a:p>
            <a:pPr lvl="1"/>
            <a:r>
              <a:rPr lang="en-US" dirty="0"/>
              <a:t>See </a:t>
            </a:r>
            <a:r>
              <a:rPr lang="en-US" dirty="0">
                <a:latin typeface="Andale Mono" panose="020B0509000000000004" pitchFamily="49" charset="0"/>
                <a:cs typeface="Calibri" panose="020F0502020204030204" pitchFamily="34" charset="0"/>
              </a:rPr>
              <a:t>module</a:t>
            </a:r>
            <a:r>
              <a:rPr lang="en-US" dirty="0"/>
              <a:t> keyword</a:t>
            </a:r>
          </a:p>
          <a:p>
            <a:pPr lvl="1"/>
            <a:r>
              <a:rPr lang="en-US" dirty="0"/>
              <a:t>Contains</a:t>
            </a:r>
          </a:p>
          <a:p>
            <a:pPr lvl="2"/>
            <a:r>
              <a:rPr lang="en-US" dirty="0"/>
              <a:t>Name – the name of our module</a:t>
            </a:r>
          </a:p>
          <a:p>
            <a:pPr lvl="2"/>
            <a:r>
              <a:rPr lang="en-US" dirty="0"/>
              <a:t>Dependencies – a list of other modules that this module depends on</a:t>
            </a:r>
          </a:p>
          <a:p>
            <a:pPr lvl="2"/>
            <a:r>
              <a:rPr lang="en-US" dirty="0"/>
              <a:t>Public Packages – a list of all packages we want accessible from outside the module</a:t>
            </a:r>
          </a:p>
          <a:p>
            <a:pPr lvl="2"/>
            <a:r>
              <a:rPr lang="en-US" dirty="0"/>
              <a:t>Services Offered – we can provide service implementations that can be consumed by other modules</a:t>
            </a:r>
          </a:p>
          <a:p>
            <a:pPr lvl="2"/>
            <a:r>
              <a:rPr lang="en-US" dirty="0"/>
              <a:t>Services Consumed – allows the current module to be a consumer of a service</a:t>
            </a:r>
          </a:p>
          <a:p>
            <a:pPr lvl="2"/>
            <a:r>
              <a:rPr lang="en-US" dirty="0"/>
              <a:t>Reflection Permissions – explicitly allows other classes to use reflection to access the private members of a package</a:t>
            </a:r>
          </a:p>
          <a:p>
            <a:pPr lvl="1"/>
            <a:endParaRPr lang="en-US" dirty="0"/>
          </a:p>
          <a:p>
            <a:endParaRPr lang="en-US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227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33D0-8C07-294F-A83D-642DE059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 Exports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45D0-22D2-3549-BDBE-39875C93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ndale Mono" panose="020B0509000000000004" pitchFamily="49" charset="0"/>
              </a:rPr>
              <a:t>exports (packages)</a:t>
            </a:r>
          </a:p>
          <a:p>
            <a:pPr lvl="1"/>
            <a:r>
              <a:rPr lang="en-US" dirty="0"/>
              <a:t>By default, packages defined in a module are scoped to the module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Andale Mono" panose="020B0509000000000004" pitchFamily="49" charset="0"/>
              </a:rPr>
              <a:t>exports</a:t>
            </a:r>
            <a:r>
              <a:rPr lang="en-US" dirty="0"/>
              <a:t> to make </a:t>
            </a:r>
            <a:r>
              <a:rPr lang="en-US" i="1" dirty="0"/>
              <a:t>packages</a:t>
            </a:r>
            <a:r>
              <a:rPr lang="en-US" dirty="0"/>
              <a:t> available to consumers</a:t>
            </a:r>
            <a:r>
              <a:rPr lang="en-US" i="1" dirty="0"/>
              <a:t> at compile-time and run-time</a:t>
            </a:r>
          </a:p>
          <a:p>
            <a:pPr lvl="1"/>
            <a:r>
              <a:rPr lang="en-US" dirty="0"/>
              <a:t>Public and protected features of exported packages are accessible. Private means private and private members are still inaccessible</a:t>
            </a:r>
          </a:p>
          <a:p>
            <a:pPr lvl="1"/>
            <a:r>
              <a:rPr lang="en-US" dirty="0"/>
              <a:t>Non-exported packages are not accessible – and compilation will fail if your program uses them</a:t>
            </a:r>
          </a:p>
          <a:p>
            <a:r>
              <a:rPr lang="en-US" dirty="0">
                <a:latin typeface="Andale Mono" panose="020B0509000000000004" pitchFamily="49" charset="0"/>
              </a:rPr>
              <a:t>exports to</a:t>
            </a:r>
          </a:p>
          <a:p>
            <a:pPr lvl="1"/>
            <a:r>
              <a:rPr lang="en-US" dirty="0"/>
              <a:t>Provides the module’s API to an explicit set of other modules</a:t>
            </a:r>
          </a:p>
          <a:p>
            <a:pPr lvl="2"/>
            <a:r>
              <a:rPr lang="en-US" dirty="0"/>
              <a:t>Restricts who can use the module’s exported packages</a:t>
            </a:r>
          </a:p>
          <a:p>
            <a:pPr lvl="1"/>
            <a:r>
              <a:rPr lang="en-US" dirty="0"/>
              <a:t>Restricts who can use </a:t>
            </a:r>
            <a:r>
              <a:rPr lang="en-US" dirty="0">
                <a:latin typeface="Andale Mono" panose="020B0509000000000004" pitchFamily="49" charset="0"/>
              </a:rPr>
              <a:t>requires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116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689E-0ED6-4148-8356-65BDF762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05" y="164319"/>
            <a:ext cx="4539712" cy="463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BD19-522A-7848-BDF9-42F1395D5EAC}"/>
              </a:ext>
            </a:extLst>
          </p:cNvPr>
          <p:cNvSpPr/>
          <p:nvPr/>
        </p:nvSpPr>
        <p:spPr>
          <a:xfrm>
            <a:off x="1623742" y="1631196"/>
            <a:ext cx="2898183" cy="38435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5E75A-8214-9946-9D3F-5A71A53A5586}"/>
              </a:ext>
            </a:extLst>
          </p:cNvPr>
          <p:cNvSpPr/>
          <p:nvPr/>
        </p:nvSpPr>
        <p:spPr>
          <a:xfrm>
            <a:off x="1774588" y="2055774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FA867-8A51-924F-9340-47958CDC5C9C}"/>
              </a:ext>
            </a:extLst>
          </p:cNvPr>
          <p:cNvSpPr/>
          <p:nvPr/>
        </p:nvSpPr>
        <p:spPr>
          <a:xfrm>
            <a:off x="2087667" y="244485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473A7-7B78-B541-96F6-C1C8D56CE2E3}"/>
              </a:ext>
            </a:extLst>
          </p:cNvPr>
          <p:cNvSpPr/>
          <p:nvPr/>
        </p:nvSpPr>
        <p:spPr>
          <a:xfrm>
            <a:off x="3118811" y="244485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2DC0A-ECD1-D24E-BC10-104808DE84BB}"/>
              </a:ext>
            </a:extLst>
          </p:cNvPr>
          <p:cNvSpPr/>
          <p:nvPr/>
        </p:nvSpPr>
        <p:spPr>
          <a:xfrm>
            <a:off x="1774588" y="3761258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6945B5-426B-3F40-988B-72F49E9637AC}"/>
              </a:ext>
            </a:extLst>
          </p:cNvPr>
          <p:cNvSpPr/>
          <p:nvPr/>
        </p:nvSpPr>
        <p:spPr>
          <a:xfrm>
            <a:off x="2087667" y="415034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D50C5-6576-C24C-9EFF-199F8F925B02}"/>
              </a:ext>
            </a:extLst>
          </p:cNvPr>
          <p:cNvSpPr/>
          <p:nvPr/>
        </p:nvSpPr>
        <p:spPr>
          <a:xfrm>
            <a:off x="3118811" y="415034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02F801-4A0E-544C-87B0-69502D376118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4316308" y="4517614"/>
            <a:ext cx="28641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776BCF2-EC96-DC41-A794-74EB5C2872CF}"/>
              </a:ext>
            </a:extLst>
          </p:cNvPr>
          <p:cNvSpPr txBox="1"/>
          <p:nvPr/>
        </p:nvSpPr>
        <p:spPr>
          <a:xfrm>
            <a:off x="4521925" y="4148282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exports to m3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291344-7AE5-3E4E-9B8E-6868F24DA025}"/>
              </a:ext>
            </a:extLst>
          </p:cNvPr>
          <p:cNvSpPr/>
          <p:nvPr/>
        </p:nvSpPr>
        <p:spPr>
          <a:xfrm>
            <a:off x="7180486" y="4152042"/>
            <a:ext cx="1004324" cy="731144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33D5BE-407E-D746-95ED-B65C50624B7B}"/>
              </a:ext>
            </a:extLst>
          </p:cNvPr>
          <p:cNvSpPr txBox="1"/>
          <p:nvPr/>
        </p:nvSpPr>
        <p:spPr>
          <a:xfrm>
            <a:off x="4570718" y="4659100"/>
            <a:ext cx="2468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m1 makes p2 available to use only by m3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C73F7D8-4325-6448-AF3C-1B97A6BB751A}"/>
              </a:ext>
            </a:extLst>
          </p:cNvPr>
          <p:cNvSpPr/>
          <p:nvPr/>
        </p:nvSpPr>
        <p:spPr>
          <a:xfrm>
            <a:off x="8946862" y="1572911"/>
            <a:ext cx="1268311" cy="9657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02E75C-3DBF-2A45-BF78-82AF967F6929}"/>
              </a:ext>
            </a:extLst>
          </p:cNvPr>
          <p:cNvSpPr/>
          <p:nvPr/>
        </p:nvSpPr>
        <p:spPr>
          <a:xfrm>
            <a:off x="8946862" y="4034751"/>
            <a:ext cx="1268311" cy="96572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m3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EB1E99-F54B-CA44-9EFB-8E0C4B900B3B}"/>
              </a:ext>
            </a:extLst>
          </p:cNvPr>
          <p:cNvCxnSpPr>
            <a:cxnSpLocks/>
            <a:stCxn id="26" idx="3"/>
            <a:endCxn id="38" idx="1"/>
          </p:cNvCxnSpPr>
          <p:nvPr/>
        </p:nvCxnSpPr>
        <p:spPr>
          <a:xfrm>
            <a:off x="8184810" y="4517614"/>
            <a:ext cx="7620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AF801EC9-B229-8C4D-9C10-083E58EF4AFC}"/>
              </a:ext>
            </a:extLst>
          </p:cNvPr>
          <p:cNvSpPr/>
          <p:nvPr/>
        </p:nvSpPr>
        <p:spPr>
          <a:xfrm>
            <a:off x="7180486" y="3761258"/>
            <a:ext cx="1004324" cy="31736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Nope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67E0B61-9427-204E-B3D8-E8A19A590675}"/>
              </a:ext>
            </a:extLst>
          </p:cNvPr>
          <p:cNvCxnSpPr>
            <a:cxnSpLocks/>
            <a:stCxn id="37" idx="1"/>
            <a:endCxn id="42" idx="0"/>
          </p:cNvCxnSpPr>
          <p:nvPr/>
        </p:nvCxnSpPr>
        <p:spPr>
          <a:xfrm rot="10800000" flipV="1">
            <a:off x="7682648" y="2055774"/>
            <a:ext cx="1264214" cy="170548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97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33D0-8C07-294F-A83D-642DE059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 Requires &amp;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45D0-22D2-3549-BDBE-39875C93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ndale Mono" panose="020B0509000000000004" pitchFamily="49" charset="0"/>
              </a:rPr>
              <a:t>requires (modules)</a:t>
            </a:r>
          </a:p>
          <a:p>
            <a:pPr lvl="1"/>
            <a:r>
              <a:rPr lang="en-US" dirty="0"/>
              <a:t>Modules must explicitly mention all </a:t>
            </a:r>
            <a:r>
              <a:rPr lang="en-US" i="1" dirty="0"/>
              <a:t>modules</a:t>
            </a:r>
            <a:r>
              <a:rPr lang="en-US" dirty="0"/>
              <a:t> on which they depend</a:t>
            </a:r>
          </a:p>
          <a:p>
            <a:pPr lvl="1"/>
            <a:r>
              <a:rPr lang="en-US" dirty="0"/>
              <a:t>Only direct dependencies are stated</a:t>
            </a:r>
          </a:p>
          <a:p>
            <a:pPr lvl="1"/>
            <a:r>
              <a:rPr lang="en-US" dirty="0"/>
              <a:t>Transitive dependencies are handled automatically</a:t>
            </a:r>
          </a:p>
          <a:p>
            <a:pPr lvl="1"/>
            <a:r>
              <a:rPr lang="en-US" dirty="0"/>
              <a:t>Every module implicitly requires </a:t>
            </a:r>
            <a:r>
              <a:rPr lang="en-US" dirty="0" err="1">
                <a:latin typeface="Andale Mono" panose="020B0509000000000004" pitchFamily="49" charset="0"/>
              </a:rPr>
              <a:t>java.base</a:t>
            </a:r>
            <a:endParaRPr lang="en-US" dirty="0">
              <a:latin typeface="Andale Mono" panose="020B0509000000000004" pitchFamily="49" charset="0"/>
            </a:endParaRPr>
          </a:p>
          <a:p>
            <a:pPr lvl="1"/>
            <a:r>
              <a:rPr lang="en-US" dirty="0"/>
              <a:t>Cyclic dependencies are not allowed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Note that if your application is not modular (does not use a </a:t>
            </a:r>
            <a:r>
              <a:rPr lang="en-US" dirty="0">
                <a:latin typeface="Andale Mono" panose="020B0509000000000004" pitchFamily="49" charset="0"/>
              </a:rPr>
              <a:t>module-</a:t>
            </a:r>
            <a:r>
              <a:rPr lang="en-US" dirty="0" err="1">
                <a:latin typeface="Andale Mono" panose="020B0509000000000004" pitchFamily="49" charset="0"/>
              </a:rPr>
              <a:t>info.java</a:t>
            </a:r>
            <a:r>
              <a:rPr lang="en-US" dirty="0">
                <a:latin typeface="Andale Mono" panose="020B0509000000000004" pitchFamily="49" charset="0"/>
              </a:rPr>
              <a:t> </a:t>
            </a:r>
            <a:r>
              <a:rPr lang="en-US" dirty="0"/>
              <a:t>file) but you need to access a module at compile-time and/or run-time…</a:t>
            </a:r>
          </a:p>
          <a:p>
            <a:pPr lvl="2"/>
            <a:r>
              <a:rPr lang="en-US" dirty="0"/>
              <a:t>Use </a:t>
            </a:r>
            <a:r>
              <a:rPr lang="en-US" dirty="0">
                <a:latin typeface="Andale Mono" panose="020B0509000000000004" pitchFamily="49" charset="0"/>
              </a:rPr>
              <a:t>--add-modules </a:t>
            </a:r>
            <a:r>
              <a:rPr lang="en-US" dirty="0"/>
              <a:t>switch with </a:t>
            </a:r>
            <a:r>
              <a:rPr lang="en-US" dirty="0" err="1">
                <a:latin typeface="Andale Mono" panose="020B0509000000000004" pitchFamily="49" charset="0"/>
              </a:rPr>
              <a:t>javac</a:t>
            </a:r>
            <a:r>
              <a:rPr lang="en-US" dirty="0"/>
              <a:t> and </a:t>
            </a:r>
            <a:r>
              <a:rPr lang="en-US" dirty="0">
                <a:latin typeface="Andale Mono" panose="020B0509000000000004" pitchFamily="49" charset="0"/>
              </a:rPr>
              <a:t>java</a:t>
            </a:r>
            <a:r>
              <a:rPr lang="en-US" dirty="0"/>
              <a:t> respectively</a:t>
            </a:r>
          </a:p>
          <a:p>
            <a:pPr lvl="2"/>
            <a:r>
              <a:rPr lang="en-US" dirty="0"/>
              <a:t>We will use this to access JavaFX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34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EEEB0-F8EC-1C4E-BDEC-44E7C8F7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 Requires &amp;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7E374-C14F-2E43-B934-584314F2D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Prior to Java 9 and modules, you could subvert a class’s access restrictions, e.g., access private fields, using Reflection</a:t>
            </a:r>
          </a:p>
          <a:p>
            <a:pPr lvl="1"/>
            <a:r>
              <a:rPr lang="en-US" dirty="0"/>
              <a:t>Reflection is the runtime interrogation of instances (details beyond the scope of this course)</a:t>
            </a:r>
          </a:p>
          <a:p>
            <a:r>
              <a:rPr lang="en-US" dirty="0"/>
              <a:t>Many libraries use reflection to operate effectively</a:t>
            </a:r>
          </a:p>
          <a:p>
            <a:pPr lvl="1"/>
            <a:r>
              <a:rPr lang="en-US" dirty="0"/>
              <a:t>Files in the face of modules and the strict encapsulation they provide</a:t>
            </a:r>
          </a:p>
        </p:txBody>
      </p:sp>
    </p:spTree>
    <p:extLst>
      <p:ext uri="{BB962C8B-B14F-4D97-AF65-F5344CB8AC3E}">
        <p14:creationId xmlns:p14="http://schemas.microsoft.com/office/powerpoint/2010/main" val="407975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689E-0ED6-4148-8356-65BDF762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05" y="164319"/>
            <a:ext cx="4539712" cy="463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BD19-522A-7848-BDF9-42F1395D5EAC}"/>
              </a:ext>
            </a:extLst>
          </p:cNvPr>
          <p:cNvSpPr/>
          <p:nvPr/>
        </p:nvSpPr>
        <p:spPr>
          <a:xfrm>
            <a:off x="1964706" y="1778156"/>
            <a:ext cx="2898183" cy="38435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5E75A-8214-9946-9D3F-5A71A53A5586}"/>
              </a:ext>
            </a:extLst>
          </p:cNvPr>
          <p:cNvSpPr/>
          <p:nvPr/>
        </p:nvSpPr>
        <p:spPr>
          <a:xfrm>
            <a:off x="2115552" y="2202734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FA867-8A51-924F-9340-47958CDC5C9C}"/>
              </a:ext>
            </a:extLst>
          </p:cNvPr>
          <p:cNvSpPr/>
          <p:nvPr/>
        </p:nvSpPr>
        <p:spPr>
          <a:xfrm>
            <a:off x="2428631" y="25918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473A7-7B78-B541-96F6-C1C8D56CE2E3}"/>
              </a:ext>
            </a:extLst>
          </p:cNvPr>
          <p:cNvSpPr/>
          <p:nvPr/>
        </p:nvSpPr>
        <p:spPr>
          <a:xfrm>
            <a:off x="3459775" y="259181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2DC0A-ECD1-D24E-BC10-104808DE84BB}"/>
              </a:ext>
            </a:extLst>
          </p:cNvPr>
          <p:cNvSpPr/>
          <p:nvPr/>
        </p:nvSpPr>
        <p:spPr>
          <a:xfrm>
            <a:off x="2115552" y="3908218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6945B5-426B-3F40-988B-72F49E9637AC}"/>
              </a:ext>
            </a:extLst>
          </p:cNvPr>
          <p:cNvSpPr/>
          <p:nvPr/>
        </p:nvSpPr>
        <p:spPr>
          <a:xfrm>
            <a:off x="2428631" y="429730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D50C5-6576-C24C-9EFF-199F8F925B02}"/>
              </a:ext>
            </a:extLst>
          </p:cNvPr>
          <p:cNvSpPr/>
          <p:nvPr/>
        </p:nvSpPr>
        <p:spPr>
          <a:xfrm>
            <a:off x="3459775" y="4297302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B9E1-1B06-BC43-B015-74ED8DBAF183}"/>
              </a:ext>
            </a:extLst>
          </p:cNvPr>
          <p:cNvSpPr txBox="1"/>
          <p:nvPr/>
        </p:nvSpPr>
        <p:spPr>
          <a:xfrm>
            <a:off x="2577482" y="1384262"/>
            <a:ext cx="1764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module-</a:t>
            </a:r>
            <a:r>
              <a:rPr lang="en-US" dirty="0" err="1"/>
              <a:t>info.java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C15A9-9719-D346-8EA4-3859E5023D7E}"/>
              </a:ext>
            </a:extLst>
          </p:cNvPr>
          <p:cNvSpPr/>
          <p:nvPr/>
        </p:nvSpPr>
        <p:spPr>
          <a:xfrm>
            <a:off x="6356923" y="3477016"/>
            <a:ext cx="1637657" cy="82028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using Reflection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04C932D-857B-FF44-9C8C-17EA65113D4A}"/>
              </a:ext>
            </a:extLst>
          </p:cNvPr>
          <p:cNvCxnSpPr>
            <a:cxnSpLocks/>
            <a:stCxn id="3" idx="2"/>
            <a:endCxn id="10" idx="3"/>
          </p:cNvCxnSpPr>
          <p:nvPr/>
        </p:nvCxnSpPr>
        <p:spPr>
          <a:xfrm rot="5400000">
            <a:off x="5732876" y="3221698"/>
            <a:ext cx="367272" cy="25184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176BD5E-D1DE-E94A-8F1B-7B4C69A21CCC}"/>
              </a:ext>
            </a:extLst>
          </p:cNvPr>
          <p:cNvSpPr/>
          <p:nvPr/>
        </p:nvSpPr>
        <p:spPr>
          <a:xfrm>
            <a:off x="5008898" y="2202733"/>
            <a:ext cx="457167" cy="321819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open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C18A005-BF22-484D-ABEC-35BD130E2EEE}"/>
              </a:ext>
            </a:extLst>
          </p:cNvPr>
          <p:cNvCxnSpPr>
            <a:stCxn id="3" idx="0"/>
            <a:endCxn id="6" idx="3"/>
          </p:cNvCxnSpPr>
          <p:nvPr/>
        </p:nvCxnSpPr>
        <p:spPr>
          <a:xfrm rot="16200000" flipV="1">
            <a:off x="5657549" y="1958813"/>
            <a:ext cx="517926" cy="25184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754FDD6-C5A6-6B4A-A667-A775ACAC9B91}"/>
              </a:ext>
            </a:extLst>
          </p:cNvPr>
          <p:cNvSpPr txBox="1"/>
          <p:nvPr/>
        </p:nvSpPr>
        <p:spPr>
          <a:xfrm>
            <a:off x="6356924" y="1753594"/>
            <a:ext cx="4476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open</a:t>
            </a:r>
            <a:r>
              <a:rPr lang="en-US" dirty="0"/>
              <a:t> allows run-time access to all packages within the module vis-à-vis reflection</a:t>
            </a:r>
          </a:p>
        </p:txBody>
      </p:sp>
    </p:spTree>
    <p:extLst>
      <p:ext uri="{BB962C8B-B14F-4D97-AF65-F5344CB8AC3E}">
        <p14:creationId xmlns:p14="http://schemas.microsoft.com/office/powerpoint/2010/main" val="3723959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689E-0ED6-4148-8356-65BDF762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605" y="164319"/>
            <a:ext cx="4539712" cy="463362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Conceptual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8FBD19-522A-7848-BDF9-42F1395D5EAC}"/>
              </a:ext>
            </a:extLst>
          </p:cNvPr>
          <p:cNvSpPr/>
          <p:nvPr/>
        </p:nvSpPr>
        <p:spPr>
          <a:xfrm>
            <a:off x="2153100" y="1693189"/>
            <a:ext cx="2898183" cy="384358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module m1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75E75A-8214-9946-9D3F-5A71A53A5586}"/>
              </a:ext>
            </a:extLst>
          </p:cNvPr>
          <p:cNvSpPr/>
          <p:nvPr/>
        </p:nvSpPr>
        <p:spPr>
          <a:xfrm>
            <a:off x="2303946" y="2117767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BFA867-8A51-924F-9340-47958CDC5C9C}"/>
              </a:ext>
            </a:extLst>
          </p:cNvPr>
          <p:cNvSpPr/>
          <p:nvPr/>
        </p:nvSpPr>
        <p:spPr>
          <a:xfrm>
            <a:off x="2617025" y="25068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473A7-7B78-B541-96F6-C1C8D56CE2E3}"/>
              </a:ext>
            </a:extLst>
          </p:cNvPr>
          <p:cNvSpPr/>
          <p:nvPr/>
        </p:nvSpPr>
        <p:spPr>
          <a:xfrm>
            <a:off x="3648169" y="25068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p1.B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E2DC0A-ECD1-D24E-BC10-104808DE84BB}"/>
              </a:ext>
            </a:extLst>
          </p:cNvPr>
          <p:cNvSpPr/>
          <p:nvPr/>
        </p:nvSpPr>
        <p:spPr>
          <a:xfrm>
            <a:off x="2303946" y="3823251"/>
            <a:ext cx="2541720" cy="1512712"/>
          </a:xfrm>
          <a:prstGeom prst="rect">
            <a:avLst/>
          </a:prstGeom>
          <a:solidFill>
            <a:schemeClr val="bg1">
              <a:lumMod val="65000"/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 p2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6945B5-426B-3F40-988B-72F49E9637AC}"/>
              </a:ext>
            </a:extLst>
          </p:cNvPr>
          <p:cNvSpPr/>
          <p:nvPr/>
        </p:nvSpPr>
        <p:spPr>
          <a:xfrm>
            <a:off x="2617025" y="421233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CD50C5-6576-C24C-9EFF-199F8F925B02}"/>
              </a:ext>
            </a:extLst>
          </p:cNvPr>
          <p:cNvSpPr/>
          <p:nvPr/>
        </p:nvSpPr>
        <p:spPr>
          <a:xfrm>
            <a:off x="3648169" y="421233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</a:t>
            </a:r>
          </a:p>
          <a:p>
            <a:pPr algn="ctr"/>
            <a:r>
              <a:rPr lang="en-US" dirty="0"/>
              <a:t>p2.Y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33B9E1-1B06-BC43-B015-74ED8DBAF183}"/>
              </a:ext>
            </a:extLst>
          </p:cNvPr>
          <p:cNvSpPr txBox="1"/>
          <p:nvPr/>
        </p:nvSpPr>
        <p:spPr>
          <a:xfrm>
            <a:off x="2765876" y="1299295"/>
            <a:ext cx="1764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module-</a:t>
            </a:r>
            <a:r>
              <a:rPr lang="en-US" dirty="0" err="1"/>
              <a:t>info.java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6C15A9-9719-D346-8EA4-3859E5023D7E}"/>
              </a:ext>
            </a:extLst>
          </p:cNvPr>
          <p:cNvSpPr/>
          <p:nvPr/>
        </p:nvSpPr>
        <p:spPr>
          <a:xfrm>
            <a:off x="6705430" y="3309728"/>
            <a:ext cx="1637657" cy="82028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using Reflection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EB3F04-D53A-024B-AC43-577915D04DCF}"/>
              </a:ext>
            </a:extLst>
          </p:cNvPr>
          <p:cNvSpPr/>
          <p:nvPr/>
        </p:nvSpPr>
        <p:spPr>
          <a:xfrm>
            <a:off x="5202129" y="3823251"/>
            <a:ext cx="457167" cy="1512712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Nope</a:t>
            </a:r>
          </a:p>
        </p:txBody>
      </p: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304C932D-857B-FF44-9C8C-17EA65113D4A}"/>
              </a:ext>
            </a:extLst>
          </p:cNvPr>
          <p:cNvCxnSpPr>
            <a:cxnSpLocks/>
            <a:stCxn id="3" idx="2"/>
            <a:endCxn id="5" idx="3"/>
          </p:cNvCxnSpPr>
          <p:nvPr/>
        </p:nvCxnSpPr>
        <p:spPr>
          <a:xfrm rot="5400000">
            <a:off x="6366982" y="3422329"/>
            <a:ext cx="449593" cy="18649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C176BD5E-D1DE-E94A-8F1B-7B4C69A21CCC}"/>
              </a:ext>
            </a:extLst>
          </p:cNvPr>
          <p:cNvSpPr/>
          <p:nvPr/>
        </p:nvSpPr>
        <p:spPr>
          <a:xfrm>
            <a:off x="5197292" y="2117766"/>
            <a:ext cx="457167" cy="151658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opens</a:t>
            </a:r>
          </a:p>
        </p:txBody>
      </p: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BC18A005-BF22-484D-ABEC-35BD130E2EEE}"/>
              </a:ext>
            </a:extLst>
          </p:cNvPr>
          <p:cNvCxnSpPr>
            <a:stCxn id="3" idx="0"/>
            <a:endCxn id="6" idx="3"/>
          </p:cNvCxnSpPr>
          <p:nvPr/>
        </p:nvCxnSpPr>
        <p:spPr>
          <a:xfrm rot="16200000" flipV="1">
            <a:off x="5967161" y="1752629"/>
            <a:ext cx="435605" cy="267859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6C14DF-432B-DA49-8350-394C240D87BB}"/>
              </a:ext>
            </a:extLst>
          </p:cNvPr>
          <p:cNvSpPr txBox="1"/>
          <p:nvPr/>
        </p:nvSpPr>
        <p:spPr>
          <a:xfrm>
            <a:off x="6184963" y="1730670"/>
            <a:ext cx="4675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opens</a:t>
            </a:r>
            <a:r>
              <a:rPr lang="en-US" dirty="0"/>
              <a:t> allows run-time access to specific packages within the module vis-à-vis reflection</a:t>
            </a:r>
          </a:p>
        </p:txBody>
      </p:sp>
    </p:spTree>
    <p:extLst>
      <p:ext uri="{BB962C8B-B14F-4D97-AF65-F5344CB8AC3E}">
        <p14:creationId xmlns:p14="http://schemas.microsoft.com/office/powerpoint/2010/main" val="580382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33D0-8C07-294F-A83D-642DE0594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Modules Open…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445D0-22D2-3549-BDBE-39875C93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>
                <a:latin typeface="Andale Mono" panose="020B0509000000000004" pitchFamily="49" charset="0"/>
              </a:rPr>
              <a:t>open</a:t>
            </a:r>
          </a:p>
          <a:p>
            <a:pPr lvl="1"/>
            <a:r>
              <a:rPr lang="en-US" dirty="0"/>
              <a:t>Allowing runtime-only access to </a:t>
            </a:r>
            <a:r>
              <a:rPr lang="en-US" b="1" dirty="0"/>
              <a:t>all</a:t>
            </a:r>
            <a:r>
              <a:rPr lang="en-US" dirty="0"/>
              <a:t> packages in a module </a:t>
            </a:r>
          </a:p>
          <a:p>
            <a:pPr lvl="1"/>
            <a:r>
              <a:rPr lang="en-US" dirty="0"/>
              <a:t>All the packages in the given module are accessible at runtime and via reflection to all other modules</a:t>
            </a:r>
          </a:p>
          <a:p>
            <a:r>
              <a:rPr lang="en-US" dirty="0">
                <a:latin typeface="Andale Mono" panose="020B0509000000000004" pitchFamily="49" charset="0"/>
              </a:rPr>
              <a:t>opens</a:t>
            </a:r>
          </a:p>
          <a:p>
            <a:pPr lvl="1"/>
            <a:r>
              <a:rPr lang="en-US" dirty="0"/>
              <a:t>Allows runtime-only access to a specific set of packages (vs. all, as in open)</a:t>
            </a:r>
          </a:p>
          <a:p>
            <a:pPr lvl="1"/>
            <a:r>
              <a:rPr lang="en-US" dirty="0"/>
              <a:t>Indicates that a specific </a:t>
            </a:r>
            <a:r>
              <a:rPr lang="en-US" i="1" dirty="0"/>
              <a:t>package</a:t>
            </a:r>
            <a:r>
              <a:rPr lang="en-US" dirty="0"/>
              <a:t>’s public types (and their nested public and protected types) are accessible to code in other modules</a:t>
            </a:r>
          </a:p>
          <a:p>
            <a:pPr lvl="1"/>
            <a:r>
              <a:rPr lang="en-US" dirty="0"/>
              <a:t>All types in the specified package (and all of the types’ members) are accessible via reflection</a:t>
            </a:r>
          </a:p>
          <a:p>
            <a:r>
              <a:rPr lang="en-US" dirty="0" err="1">
                <a:latin typeface="Andale Mono" panose="020B0509000000000004" pitchFamily="49" charset="0"/>
              </a:rPr>
              <a:t>opens..to</a:t>
            </a:r>
            <a:endParaRPr lang="en-US" dirty="0">
              <a:latin typeface="Andale Mono" panose="020B0509000000000004" pitchFamily="49" charset="0"/>
            </a:endParaRPr>
          </a:p>
          <a:p>
            <a:pPr lvl="1"/>
            <a:r>
              <a:rPr lang="en-US" dirty="0"/>
              <a:t>Exposes certain packages at runtime to an explicit set of consumers (other modules)</a:t>
            </a:r>
          </a:p>
          <a:p>
            <a:r>
              <a:rPr lang="en-US" dirty="0">
                <a:latin typeface="Andale Mono" panose="020B0509000000000004" pitchFamily="49" charset="0"/>
              </a:rPr>
              <a:t>uses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Applicable when consuming service and service providers (</a:t>
            </a:r>
            <a:r>
              <a:rPr lang="en-US" i="1" dirty="0"/>
              <a:t>beyond the scope of this cours</a:t>
            </a:r>
            <a:r>
              <a:rPr lang="en-US" dirty="0"/>
              <a:t>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853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FA0F-2713-C84E-A658-7E64D138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B625-DA92-2544-8761-166DF601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Most times, we put modules in modular JAR files</a:t>
            </a:r>
          </a:p>
          <a:p>
            <a:r>
              <a:rPr lang="en-US" dirty="0"/>
              <a:t>A modular JAR is a JAR file with </a:t>
            </a:r>
            <a:r>
              <a:rPr lang="en-US" i="1" dirty="0"/>
              <a:t>module-</a:t>
            </a:r>
            <a:r>
              <a:rPr lang="en-US" i="1" dirty="0" err="1"/>
              <a:t>info.class</a:t>
            </a:r>
            <a:r>
              <a:rPr lang="en-US" i="1" dirty="0"/>
              <a:t> </a:t>
            </a:r>
            <a:r>
              <a:rPr lang="en-US" dirty="0"/>
              <a:t>in the root</a:t>
            </a:r>
          </a:p>
          <a:p>
            <a:r>
              <a:rPr lang="en-US" dirty="0"/>
              <a:t>Place a modular JAR on the module path and it’s a module!</a:t>
            </a:r>
          </a:p>
          <a:p>
            <a:r>
              <a:rPr lang="en-US" dirty="0"/>
              <a:t>JAR without </a:t>
            </a:r>
            <a:r>
              <a:rPr lang="en-US" i="1" dirty="0"/>
              <a:t>module-</a:t>
            </a:r>
            <a:r>
              <a:rPr lang="en-US" i="1" dirty="0" err="1"/>
              <a:t>info.class</a:t>
            </a:r>
            <a:r>
              <a:rPr lang="en-US" dirty="0"/>
              <a:t> on module path is an automatic module</a:t>
            </a:r>
          </a:p>
          <a:p>
            <a:pPr lvl="1"/>
            <a:r>
              <a:rPr lang="en-US" dirty="0"/>
              <a:t>Implicitly requires all other modules</a:t>
            </a:r>
          </a:p>
          <a:p>
            <a:pPr lvl="1"/>
            <a:r>
              <a:rPr lang="en-US" dirty="0"/>
              <a:t>All of its packages are exported and open</a:t>
            </a:r>
          </a:p>
          <a:p>
            <a:pPr lvl="1"/>
            <a:r>
              <a:rPr lang="en-US" dirty="0"/>
              <a:t>Module name derived from JAR file name, e.g., commons-csv-1.4.jar -&gt; </a:t>
            </a:r>
            <a:r>
              <a:rPr lang="en-US" dirty="0" err="1"/>
              <a:t>commons.csv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79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7FA0F-2713-C84E-A658-7E64D138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AB625-DA92-2544-8761-166DF6018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Important Note</a:t>
            </a:r>
          </a:p>
          <a:p>
            <a:pPr lvl="1"/>
            <a:r>
              <a:rPr lang="en-US" sz="3200" dirty="0"/>
              <a:t>If your program is not modular…</a:t>
            </a:r>
          </a:p>
          <a:p>
            <a:pPr lvl="2"/>
            <a:r>
              <a:rPr lang="en-US" sz="2800" dirty="0"/>
              <a:t>no </a:t>
            </a:r>
            <a:r>
              <a:rPr lang="en-US" sz="2800" dirty="0">
                <a:latin typeface="Andale Mono" panose="020B0509000000000004" pitchFamily="49" charset="0"/>
              </a:rPr>
              <a:t>module-</a:t>
            </a:r>
            <a:r>
              <a:rPr lang="en-US" sz="2800" dirty="0" err="1">
                <a:latin typeface="Andale Mono" panose="020B0509000000000004" pitchFamily="49" charset="0"/>
              </a:rPr>
              <a:t>info.java</a:t>
            </a:r>
            <a:r>
              <a:rPr lang="en-US" sz="2800" dirty="0"/>
              <a:t> </a:t>
            </a:r>
          </a:p>
          <a:p>
            <a:pPr lvl="1"/>
            <a:r>
              <a:rPr lang="en-US" sz="3200" dirty="0"/>
              <a:t>…but needs packages from a module to function correctly</a:t>
            </a:r>
          </a:p>
          <a:p>
            <a:pPr lvl="2"/>
            <a:r>
              <a:rPr lang="en-US" sz="3200" dirty="0"/>
              <a:t>Use</a:t>
            </a:r>
            <a:r>
              <a:rPr lang="en-US" sz="2800" dirty="0">
                <a:latin typeface="Andale Mono" panose="020B0509000000000004" pitchFamily="49" charset="0"/>
              </a:rPr>
              <a:t> --add-module </a:t>
            </a:r>
            <a:r>
              <a:rPr lang="en-US" sz="2800" dirty="0"/>
              <a:t>as part of the </a:t>
            </a:r>
            <a:r>
              <a:rPr lang="en-US" sz="2800" dirty="0">
                <a:latin typeface="Andale Mono" panose="020B0509000000000004" pitchFamily="49" charset="0"/>
              </a:rPr>
              <a:t>java</a:t>
            </a:r>
            <a:r>
              <a:rPr lang="en-US" sz="2800" dirty="0"/>
              <a:t> command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658928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EE1D6-BB7C-0340-BB6A-5EC41F813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Unnamed Module (Redux)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096A0-049C-D441-89DE-434B133DD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with modules, the class path still exists</a:t>
            </a:r>
          </a:p>
          <a:p>
            <a:r>
              <a:rPr lang="en-US" dirty="0"/>
              <a:t>Any package on the class path is implicitly placed in the </a:t>
            </a:r>
            <a:r>
              <a:rPr lang="en-US" i="1" dirty="0"/>
              <a:t>unnamed module </a:t>
            </a:r>
            <a:r>
              <a:rPr lang="en-US" dirty="0"/>
              <a:t>managed by the JDK/JVM</a:t>
            </a:r>
          </a:p>
          <a:p>
            <a:r>
              <a:rPr lang="en-US" dirty="0"/>
              <a:t>All of the packages in the </a:t>
            </a:r>
            <a:r>
              <a:rPr lang="en-US" i="1" dirty="0"/>
              <a:t>unnamed module </a:t>
            </a:r>
            <a:r>
              <a:rPr lang="en-US" dirty="0"/>
              <a:t>are exported and open, meaning they are available to the world at compilation, at runtime and can be reflected over</a:t>
            </a:r>
          </a:p>
          <a:p>
            <a:r>
              <a:rPr lang="en-US" dirty="0"/>
              <a:t>Maintains backward compatibility with existing code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624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9A062-8CD5-4342-AC73-DB4C6CBB5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Oh Why?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CF3DB-5E8E-0C47-BC65-E8E6A8A1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this class, you can ignore modules most of the time</a:t>
            </a:r>
          </a:p>
          <a:p>
            <a:r>
              <a:rPr lang="en-US" dirty="0"/>
              <a:t>Covered because the JDK is modular – that’s the new normal in the Java JDK</a:t>
            </a:r>
          </a:p>
          <a:p>
            <a:r>
              <a:rPr lang="en-US" dirty="0"/>
              <a:t>We need to understand the basics to </a:t>
            </a:r>
            <a:r>
              <a:rPr lang="en-US"/>
              <a:t>access JavaFX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07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1254</Words>
  <Application>Microsoft Macintosh PowerPoint</Application>
  <PresentationFormat>Widescreen</PresentationFormat>
  <Paragraphs>215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Andale Mono</vt:lpstr>
      <vt:lpstr>Arial</vt:lpstr>
      <vt:lpstr>Calibri</vt:lpstr>
      <vt:lpstr>Calibri Light</vt:lpstr>
      <vt:lpstr>Office Theme</vt:lpstr>
      <vt:lpstr>Java 9’s Module System</vt:lpstr>
      <vt:lpstr>JPMS</vt:lpstr>
      <vt:lpstr>Java Modules</vt:lpstr>
      <vt:lpstr>Conceptual Diagram</vt:lpstr>
      <vt:lpstr>Java Platform Module System (JPMS)</vt:lpstr>
      <vt:lpstr>Module Types</vt:lpstr>
      <vt:lpstr>Module Types</vt:lpstr>
      <vt:lpstr>Conceptual Diagram</vt:lpstr>
      <vt:lpstr>Java Modules</vt:lpstr>
      <vt:lpstr>Java Modules Exports</vt:lpstr>
      <vt:lpstr>Conceptual Diagram</vt:lpstr>
      <vt:lpstr>Java Modules Requires &amp; Reflection</vt:lpstr>
      <vt:lpstr>Java Modules Requires &amp; Reflection</vt:lpstr>
      <vt:lpstr>Conceptual Diagram</vt:lpstr>
      <vt:lpstr>Conceptual Diagram</vt:lpstr>
      <vt:lpstr>Java Modules Open…</vt:lpstr>
      <vt:lpstr>Packaging</vt:lpstr>
      <vt:lpstr>Packaging</vt:lpstr>
      <vt:lpstr>Unnamed Module (Redux)</vt:lpstr>
      <vt:lpstr>Why Oh Why?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9’s Module System</dc:title>
  <dc:creator>John Puopolo</dc:creator>
  <cp:lastModifiedBy>John Puopolo</cp:lastModifiedBy>
  <cp:revision>23</cp:revision>
  <dcterms:created xsi:type="dcterms:W3CDTF">2020-08-27T23:27:05Z</dcterms:created>
  <dcterms:modified xsi:type="dcterms:W3CDTF">2020-08-28T10:13:25Z</dcterms:modified>
</cp:coreProperties>
</file>