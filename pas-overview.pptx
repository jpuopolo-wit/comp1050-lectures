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58"/>
    <p:restoredTop sz="94599"/>
  </p:normalViewPr>
  <p:slideViewPr>
    <p:cSldViewPr snapToGrid="0" snapToObjects="1">
      <p:cViewPr varScale="1">
        <p:scale>
          <a:sx n="106" d="100"/>
          <a:sy n="106" d="100"/>
        </p:scale>
        <p:origin x="2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87F89-168F-F445-B1FA-691125073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BA7F0-08DC-744B-A86C-8898C885D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EDC95-343F-5244-AA9D-2D193A59E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5E956-A1F1-A347-9B3B-2436A830CAE7}" type="datetimeFigureOut">
              <a:rPr lang="en-US" smtClean="0"/>
              <a:t>9/13/20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D7768-8E08-1E4E-9E28-87B1C7A1A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ABC76-6F1A-0844-95F1-E40E289F5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677D-326B-2649-B7E3-AE26E87BF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555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6EAD6-FA29-D74E-BD9A-6CC6AE3F6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690F7-94D0-974D-8F9F-F53FF14EF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C4A48-FB98-F54D-9B54-6055CF785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5E956-A1F1-A347-9B3B-2436A830CAE7}" type="datetimeFigureOut">
              <a:rPr lang="en-US" smtClean="0"/>
              <a:t>9/13/20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21274-C69A-D749-A182-920FA049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74392-6E56-2F46-877B-3372C72DC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677D-326B-2649-B7E3-AE26E87BF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754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40BB5-8D9E-154E-86C0-404F19266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19291-03A2-2E44-B2F0-8F6B974D6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8F1C6-A417-7046-B53C-0EFB19939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5E956-A1F1-A347-9B3B-2436A830CAE7}" type="datetimeFigureOut">
              <a:rPr lang="en-US" smtClean="0"/>
              <a:t>9/13/20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0DF4F-BC63-134C-8DDB-9A49E2980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99952-16A1-0047-BC7B-701C8F429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677D-326B-2649-B7E3-AE26E87BF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381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8400A-E8B6-A348-AF7F-7232A486C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737F4-4F5E-614B-9F6B-7BC4988BC2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F197F7-EF94-504D-B806-AF22CBF40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B12D5-8B80-D542-850A-DD620A377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5E956-A1F1-A347-9B3B-2436A830CAE7}" type="datetimeFigureOut">
              <a:rPr lang="en-US" smtClean="0"/>
              <a:t>9/13/20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B81A9-15F2-5D43-ADC7-6DAA3D5F4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B67C1-7D2D-4745-A9DE-82C407CA6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677D-326B-2649-B7E3-AE26E87BF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7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24A70-0A53-E244-97E4-17DAE70DE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504EC-82F6-634D-ABBE-25B2C3CBB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84548A-7FDB-E346-A6CF-AFC652A21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A2904C-0F3C-1543-A253-3F54775AF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112992-C942-8647-9134-6C14E628D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D45D12-2F0F-954F-A95A-B76EF4162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5E956-A1F1-A347-9B3B-2436A830CAE7}" type="datetimeFigureOut">
              <a:rPr lang="en-US" smtClean="0"/>
              <a:t>9/13/20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D4DAF4-985D-C74C-8B34-7BEBC0011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8FD453-92FE-C04E-95B9-CF61F312D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677D-326B-2649-B7E3-AE26E87BF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329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2A729-5967-E54E-B7E1-C00A6EADD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A2206D-65AB-C04B-82FE-CACBE1FD6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5E956-A1F1-A347-9B3B-2436A830CAE7}" type="datetimeFigureOut">
              <a:rPr lang="en-US" smtClean="0"/>
              <a:t>9/13/20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808601-F516-6E41-AEDA-559B564F2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1D9C83-FE06-9B4C-A3B9-79970020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677D-326B-2649-B7E3-AE26E87BF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34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88EE26-6933-2C4E-904E-EE5DE40CB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5E956-A1F1-A347-9B3B-2436A830CAE7}" type="datetimeFigureOut">
              <a:rPr lang="en-US" smtClean="0"/>
              <a:t>9/13/20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7F5A5D-96E5-584B-99F1-A5FEE8A1C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ABCEB-B68E-E841-9AC0-AA1A0B81D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677D-326B-2649-B7E3-AE26E87BF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009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E6A95-7495-E543-B0F1-903FD8AEB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71817-C2C0-F74B-9B79-4EE2D490B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BAC72-552F-D04E-BFFA-BD03F826F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F90C4-D331-164C-AF6D-32B7B5105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5E956-A1F1-A347-9B3B-2436A830CAE7}" type="datetimeFigureOut">
              <a:rPr lang="en-US" smtClean="0"/>
              <a:t>9/13/20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17E46-5E2B-CF4A-AB9E-13030E61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856F4-982C-7F4A-AC3E-A9E11EEF0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677D-326B-2649-B7E3-AE26E87BF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95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9E7C2-93AF-2047-8B75-A4F3EC041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F144D7-AD21-A240-A9B4-63760BF577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62EE3-1C7A-6E4D-B6E2-6909E868F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DC904-26D0-4342-98CB-CF562A0E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5E956-A1F1-A347-9B3B-2436A830CAE7}" type="datetimeFigureOut">
              <a:rPr lang="en-US" smtClean="0"/>
              <a:t>9/13/20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DF0CC-C20E-7748-933B-A93F76B32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D340B-3389-6A45-8790-82BF2F1C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677D-326B-2649-B7E3-AE26E87BF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208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FDE1C-3B8D-6F47-A24F-44E2F03B4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C52347-83EC-D64B-A947-5F2FFBD89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98495-E6ED-7047-8AA7-47A0844B5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5E956-A1F1-A347-9B3B-2436A830CAE7}" type="datetimeFigureOut">
              <a:rPr lang="en-US" smtClean="0"/>
              <a:t>9/13/20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97063-66DE-4246-BAA8-BADEC4B9D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19140-7F96-764A-A8F5-6DEE16759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677D-326B-2649-B7E3-AE26E87BF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8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20F99C-7571-8140-884B-7077F0C5FD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3EF263-14D7-4940-8A13-34C2F0F85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0EEA3-93EB-EC4E-BE0A-C6D67974F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5E956-A1F1-A347-9B3B-2436A830CAE7}" type="datetimeFigureOut">
              <a:rPr lang="en-US" smtClean="0"/>
              <a:t>9/13/20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A6F0E-3DC6-E743-BBCA-302E964CB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A7088-0BB5-2340-95F6-8FEB6AA48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677D-326B-2649-B7E3-AE26E87BF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55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9BC8EF-295B-264B-A0C5-BF8847B0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0436B-E7C9-E247-9727-1C0F947E2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0D55A-0E19-2B43-BC75-A7103408AB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5E956-A1F1-A347-9B3B-2436A830CAE7}" type="datetimeFigureOut">
              <a:rPr lang="en-US" smtClean="0"/>
              <a:t>9/13/20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B0F24-0416-A849-8B33-B4E0B10A53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0FD96-EB94-B545-B43D-7AE4420304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B677D-326B-2649-B7E3-AE26E87BF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68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5EEDF-0412-B340-B465-681121EB2D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COMP1050 PAs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C30ADB-880B-AF45-B270-1307AE7A5A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Assignments &amp; Grading</a:t>
            </a:r>
          </a:p>
        </p:txBody>
      </p:sp>
    </p:spTree>
    <p:extLst>
      <p:ext uri="{BB962C8B-B14F-4D97-AF65-F5344CB8AC3E}">
        <p14:creationId xmlns:p14="http://schemas.microsoft.com/office/powerpoint/2010/main" val="39369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4E439-D01A-4B4F-B05F-53F451DAC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Assignments (PAs)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95E2B-9985-3645-B6C7-B3C0BC1BA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have 4 programming assignments</a:t>
            </a:r>
          </a:p>
          <a:p>
            <a:r>
              <a:rPr lang="en-US" dirty="0"/>
              <a:t>The first, </a:t>
            </a:r>
            <a:r>
              <a:rPr lang="en-US" i="1" dirty="0"/>
              <a:t>Introductions</a:t>
            </a:r>
            <a:r>
              <a:rPr lang="en-US" dirty="0"/>
              <a:t>, is not graded</a:t>
            </a:r>
          </a:p>
          <a:p>
            <a:pPr lvl="1"/>
            <a:r>
              <a:rPr lang="en-US" dirty="0"/>
              <a:t>Used to provide your background and goals for the class and…</a:t>
            </a:r>
          </a:p>
          <a:p>
            <a:pPr lvl="1"/>
            <a:r>
              <a:rPr lang="en-US" dirty="0"/>
              <a:t>…to make sure the GitHub Classroom process works </a:t>
            </a:r>
          </a:p>
          <a:p>
            <a:r>
              <a:rPr lang="en-US" dirty="0"/>
              <a:t>The other 3 assignments will be graded </a:t>
            </a:r>
          </a:p>
          <a:p>
            <a:r>
              <a:rPr lang="en-US" dirty="0"/>
              <a:t>Let’s talk about the practical aspects of this process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026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51912-9F82-4C4E-A6F5-00F6BE00B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 Nuts &amp; Bolts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91576B-3A89-B846-94BC-6F4BD45F5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05" y="1541122"/>
            <a:ext cx="2832531" cy="5080571"/>
          </a:xfrm>
          <a:prstGeom prst="rect">
            <a:avLst/>
          </a:prstGeom>
        </p:spPr>
      </p:pic>
      <p:sp>
        <p:nvSpPr>
          <p:cNvPr id="6" name="Left Arrow 5">
            <a:extLst>
              <a:ext uri="{FF2B5EF4-FFF2-40B4-BE49-F238E27FC236}">
                <a16:creationId xmlns:a16="http://schemas.microsoft.com/office/drawing/2014/main" id="{30F54466-99AD-5448-99A4-3E42B693C282}"/>
              </a:ext>
            </a:extLst>
          </p:cNvPr>
          <p:cNvSpPr/>
          <p:nvPr/>
        </p:nvSpPr>
        <p:spPr>
          <a:xfrm>
            <a:off x="4002141" y="1690688"/>
            <a:ext cx="1946596" cy="518257"/>
          </a:xfrm>
          <a:prstGeom prst="leftArrow">
            <a:avLst>
              <a:gd name="adj1" fmla="val 41177"/>
              <a:gd name="adj2" fmla="val 558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GitHub account</a:t>
            </a:r>
          </a:p>
        </p:txBody>
      </p:sp>
      <p:sp>
        <p:nvSpPr>
          <p:cNvPr id="7" name="Left Arrow 6">
            <a:extLst>
              <a:ext uri="{FF2B5EF4-FFF2-40B4-BE49-F238E27FC236}">
                <a16:creationId xmlns:a16="http://schemas.microsoft.com/office/drawing/2014/main" id="{BC3CFFC5-4F6B-5246-BE20-0975A291B69F}"/>
              </a:ext>
            </a:extLst>
          </p:cNvPr>
          <p:cNvSpPr/>
          <p:nvPr/>
        </p:nvSpPr>
        <p:spPr>
          <a:xfrm>
            <a:off x="4002141" y="4130799"/>
            <a:ext cx="1946596" cy="518257"/>
          </a:xfrm>
          <a:prstGeom prst="leftArrow">
            <a:avLst>
              <a:gd name="adj1" fmla="val 41177"/>
              <a:gd name="adj2" fmla="val 55881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Repos for assignments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9ECB9C-1431-184A-82D5-E961B0E2AFB0}"/>
              </a:ext>
            </a:extLst>
          </p:cNvPr>
          <p:cNvSpPr txBox="1"/>
          <p:nvPr/>
        </p:nvSpPr>
        <p:spPr>
          <a:xfrm>
            <a:off x="4703887" y="4733000"/>
            <a:ext cx="33213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…I have 4 repos, one per assignment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introductions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comp1050-pas-syllables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comp1050-pas-fraction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comp1050-pas-fleschk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A5A133-6C96-F14D-B462-14188A27569C}"/>
              </a:ext>
            </a:extLst>
          </p:cNvPr>
          <p:cNvSpPr txBox="1"/>
          <p:nvPr/>
        </p:nvSpPr>
        <p:spPr>
          <a:xfrm>
            <a:off x="4767036" y="2264214"/>
            <a:ext cx="18853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 my GitHub account…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9A87812-82E8-B440-AF1F-D3C3EFD026F9}"/>
              </a:ext>
            </a:extLst>
          </p:cNvPr>
          <p:cNvGrpSpPr/>
          <p:nvPr/>
        </p:nvGrpSpPr>
        <p:grpSpPr>
          <a:xfrm>
            <a:off x="8355566" y="2451655"/>
            <a:ext cx="2260600" cy="605605"/>
            <a:chOff x="4965700" y="3013895"/>
            <a:chExt cx="2260600" cy="60560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7E688BD-3D45-B84B-97DD-6887FC198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5700" y="3238500"/>
              <a:ext cx="2260600" cy="381000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007518C-C374-1649-AA7A-3C6E96964544}"/>
                </a:ext>
              </a:extLst>
            </p:cNvPr>
            <p:cNvSpPr/>
            <p:nvPr/>
          </p:nvSpPr>
          <p:spPr>
            <a:xfrm>
              <a:off x="4965700" y="3013895"/>
              <a:ext cx="1252220" cy="2296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D9DBD2C-5ACA-404C-824C-ED12BFC29CCE}"/>
              </a:ext>
            </a:extLst>
          </p:cNvPr>
          <p:cNvSpPr/>
          <p:nvPr/>
        </p:nvSpPr>
        <p:spPr>
          <a:xfrm>
            <a:off x="8577411" y="1837205"/>
            <a:ext cx="808530" cy="51825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GitHib</a:t>
            </a:r>
            <a:r>
              <a:rPr lang="en-US" sz="1200" dirty="0"/>
              <a:t> Account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7B23CD-E332-AC43-AC37-EB1283B3335D}"/>
              </a:ext>
            </a:extLst>
          </p:cNvPr>
          <p:cNvSpPr/>
          <p:nvPr/>
        </p:nvSpPr>
        <p:spPr>
          <a:xfrm>
            <a:off x="9612598" y="1837205"/>
            <a:ext cx="808530" cy="51825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repo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E61AFD4-EA51-7044-994D-8F2CA2A5A0DF}"/>
              </a:ext>
            </a:extLst>
          </p:cNvPr>
          <p:cNvCxnSpPr>
            <a:stCxn id="14" idx="2"/>
          </p:cNvCxnSpPr>
          <p:nvPr/>
        </p:nvCxnSpPr>
        <p:spPr>
          <a:xfrm>
            <a:off x="8981676" y="2355462"/>
            <a:ext cx="0" cy="461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83F9244-357C-F641-B7AA-942CA8543737}"/>
              </a:ext>
            </a:extLst>
          </p:cNvPr>
          <p:cNvCxnSpPr>
            <a:stCxn id="15" idx="2"/>
          </p:cNvCxnSpPr>
          <p:nvPr/>
        </p:nvCxnSpPr>
        <p:spPr>
          <a:xfrm>
            <a:off x="10016863" y="2355462"/>
            <a:ext cx="0" cy="461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1922DEC-4CEE-5B40-B6C9-21C332813199}"/>
              </a:ext>
            </a:extLst>
          </p:cNvPr>
          <p:cNvSpPr/>
          <p:nvPr/>
        </p:nvSpPr>
        <p:spPr>
          <a:xfrm>
            <a:off x="8704981" y="4455372"/>
            <a:ext cx="1561769" cy="124063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GitHub Classroom Assignments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122CDDE-A2C9-5541-9705-079DDD4B4D6C}"/>
              </a:ext>
            </a:extLst>
          </p:cNvPr>
          <p:cNvCxnSpPr>
            <a:stCxn id="11" idx="2"/>
            <a:endCxn id="20" idx="0"/>
          </p:cNvCxnSpPr>
          <p:nvPr/>
        </p:nvCxnSpPr>
        <p:spPr>
          <a:xfrm>
            <a:off x="9485866" y="3057260"/>
            <a:ext cx="0" cy="1398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76E9C3A-5D97-3047-BD79-524C3623D2F1}"/>
              </a:ext>
            </a:extLst>
          </p:cNvPr>
          <p:cNvSpPr txBox="1"/>
          <p:nvPr/>
        </p:nvSpPr>
        <p:spPr>
          <a:xfrm>
            <a:off x="9611285" y="3411505"/>
            <a:ext cx="21324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 create GitHub Classroom assignments from my repos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A964CF-D0A1-6D4F-9F5E-E56EECB13DF6}"/>
              </a:ext>
            </a:extLst>
          </p:cNvPr>
          <p:cNvSpPr/>
          <p:nvPr/>
        </p:nvSpPr>
        <p:spPr>
          <a:xfrm>
            <a:off x="8151208" y="2519271"/>
            <a:ext cx="716331" cy="1696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384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4904-5D7E-3247-A6AB-6F1F8B495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943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PA Nuts &amp; Bolts</a:t>
            </a:r>
            <a:br>
              <a:rPr lang="en-US" sz="4000" dirty="0"/>
            </a:br>
            <a:r>
              <a:rPr lang="en-US" sz="4000" dirty="0"/>
              <a:t>Let’s Take a Look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8DCB3-5666-2B48-9BA4-616C75798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brief look at the assignment repos on GitHub</a:t>
            </a:r>
          </a:p>
          <a:p>
            <a:r>
              <a:rPr lang="en-US" dirty="0"/>
              <a:t>We will cover each assignment in detail in class too – well before the assignment is due</a:t>
            </a:r>
          </a:p>
          <a:p>
            <a:r>
              <a:rPr lang="en-US" dirty="0"/>
              <a:t>This is just a cursory look…</a:t>
            </a:r>
          </a:p>
        </p:txBody>
      </p:sp>
    </p:spTree>
    <p:extLst>
      <p:ext uri="{BB962C8B-B14F-4D97-AF65-F5344CB8AC3E}">
        <p14:creationId xmlns:p14="http://schemas.microsoft.com/office/powerpoint/2010/main" val="3994777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51912-9F82-4C4E-A6F5-00F6BE00B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16" y="288511"/>
            <a:ext cx="4515891" cy="498039"/>
          </a:xfrm>
        </p:spPr>
        <p:txBody>
          <a:bodyPr>
            <a:normAutofit fontScale="90000"/>
          </a:bodyPr>
          <a:lstStyle/>
          <a:p>
            <a:r>
              <a:rPr lang="en-US" dirty="0"/>
              <a:t>PA Nuts &amp; Bolts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91576B-3A89-B846-94BC-6F4BD45F5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05" y="1239898"/>
            <a:ext cx="2832531" cy="50805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7CFA91-FF2E-314C-B68D-F0788850ED7E}"/>
              </a:ext>
            </a:extLst>
          </p:cNvPr>
          <p:cNvSpPr txBox="1"/>
          <p:nvPr/>
        </p:nvSpPr>
        <p:spPr>
          <a:xfrm>
            <a:off x="4356885" y="2318262"/>
            <a:ext cx="560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Mr. P</a:t>
            </a:r>
          </a:p>
        </p:txBody>
      </p:sp>
      <p:sp>
        <p:nvSpPr>
          <p:cNvPr id="10" name="Smiley Face 9">
            <a:extLst>
              <a:ext uri="{FF2B5EF4-FFF2-40B4-BE49-F238E27FC236}">
                <a16:creationId xmlns:a16="http://schemas.microsoft.com/office/drawing/2014/main" id="{CC206D74-F402-094A-BA29-6D9EFDB9A518}"/>
              </a:ext>
            </a:extLst>
          </p:cNvPr>
          <p:cNvSpPr/>
          <p:nvPr/>
        </p:nvSpPr>
        <p:spPr>
          <a:xfrm>
            <a:off x="7418017" y="2626039"/>
            <a:ext cx="659195" cy="673443"/>
          </a:xfrm>
          <a:prstGeom prst="smileyFac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D7AFF33-BC98-294B-80D0-C0BFD1239E6A}"/>
              </a:ext>
            </a:extLst>
          </p:cNvPr>
          <p:cNvCxnSpPr/>
          <p:nvPr/>
        </p:nvCxnSpPr>
        <p:spPr>
          <a:xfrm>
            <a:off x="3259567" y="2969101"/>
            <a:ext cx="4072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721DFD41-C5D8-7B4B-8B56-4B3DCC57E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771" y="2827029"/>
            <a:ext cx="359335" cy="244392"/>
          </a:xfrm>
          <a:prstGeom prst="rect">
            <a:avLst/>
          </a:prstGeom>
        </p:spPr>
      </p:pic>
      <p:sp>
        <p:nvSpPr>
          <p:cNvPr id="9" name="Smiley Face 8">
            <a:extLst>
              <a:ext uri="{FF2B5EF4-FFF2-40B4-BE49-F238E27FC236}">
                <a16:creationId xmlns:a16="http://schemas.microsoft.com/office/drawing/2014/main" id="{D266D192-6B37-D04E-B289-EC18DBEA14AA}"/>
              </a:ext>
            </a:extLst>
          </p:cNvPr>
          <p:cNvSpPr/>
          <p:nvPr/>
        </p:nvSpPr>
        <p:spPr>
          <a:xfrm>
            <a:off x="4307750" y="2612503"/>
            <a:ext cx="659195" cy="673443"/>
          </a:xfrm>
          <a:prstGeom prst="smileyFac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7738C7-6C93-AF4E-ABFD-4928804E6FD8}"/>
              </a:ext>
            </a:extLst>
          </p:cNvPr>
          <p:cNvSpPr txBox="1"/>
          <p:nvPr/>
        </p:nvSpPr>
        <p:spPr>
          <a:xfrm>
            <a:off x="6159349" y="2552533"/>
            <a:ext cx="5561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RSVP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14AE003-2041-5444-8BA0-EFE5DB1D7362}"/>
              </a:ext>
            </a:extLst>
          </p:cNvPr>
          <p:cNvGrpSpPr/>
          <p:nvPr/>
        </p:nvGrpSpPr>
        <p:grpSpPr>
          <a:xfrm>
            <a:off x="3453629" y="4615704"/>
            <a:ext cx="7924142" cy="2356492"/>
            <a:chOff x="4962539" y="4891231"/>
            <a:chExt cx="7924142" cy="246538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FAE9662-2955-D64C-9411-983AFE6EFABA}"/>
                </a:ext>
              </a:extLst>
            </p:cNvPr>
            <p:cNvSpPr txBox="1"/>
            <p:nvPr/>
          </p:nvSpPr>
          <p:spPr>
            <a:xfrm>
              <a:off x="5429640" y="5191975"/>
              <a:ext cx="7457041" cy="18997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I will send you an invitation to the assignment via GitHub Classroom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You accept the invitation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Classroom will </a:t>
              </a:r>
              <a:r>
                <a:rPr lang="en-US" sz="1400" i="1" dirty="0"/>
                <a:t>fork</a:t>
              </a:r>
              <a:r>
                <a:rPr lang="en-US" sz="1400" dirty="0"/>
                <a:t> (copy) the assignment repo to your GitHub account and make a remote repo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You </a:t>
              </a:r>
              <a:r>
                <a:rPr lang="en-US" sz="1400" i="1" dirty="0"/>
                <a:t>clone</a:t>
              </a:r>
              <a:r>
                <a:rPr lang="en-US" sz="1400" dirty="0"/>
                <a:t> your copy of the assignment repo to your local PC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You work on the assignment locally, </a:t>
              </a:r>
              <a:r>
                <a:rPr lang="en-US" sz="1400" i="1" dirty="0"/>
                <a:t>commit</a:t>
              </a:r>
              <a:r>
                <a:rPr lang="en-US" sz="1400" dirty="0"/>
                <a:t>-</a:t>
              </a:r>
              <a:r>
                <a:rPr lang="en-US" sz="1400" dirty="0" err="1"/>
                <a:t>ing</a:t>
              </a:r>
              <a:r>
                <a:rPr lang="en-US" sz="1400" dirty="0"/>
                <a:t> your changes along the way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You periodically </a:t>
              </a:r>
              <a:r>
                <a:rPr lang="en-US" sz="1400" i="1" dirty="0"/>
                <a:t>push</a:t>
              </a:r>
              <a:r>
                <a:rPr lang="en-US" sz="1400" dirty="0"/>
                <a:t> your work to your remote GitHub repo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On the assignment’s due date, I will download all the assignments and grade them</a:t>
              </a:r>
            </a:p>
            <a:p>
              <a:endParaRPr lang="en-US" sz="14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7BD8DF-9C07-D94F-BDB9-18E3F40352A9}"/>
                </a:ext>
              </a:extLst>
            </p:cNvPr>
            <p:cNvSpPr txBox="1"/>
            <p:nvPr/>
          </p:nvSpPr>
          <p:spPr>
            <a:xfrm>
              <a:off x="5398823" y="4891231"/>
              <a:ext cx="13103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The Process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2E93AF0-DF5B-E04A-A29F-54D734160B69}"/>
                </a:ext>
              </a:extLst>
            </p:cNvPr>
            <p:cNvSpPr/>
            <p:nvPr/>
          </p:nvSpPr>
          <p:spPr>
            <a:xfrm>
              <a:off x="4962539" y="6487217"/>
              <a:ext cx="6743481" cy="8693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/>
              <a:endParaRPr lang="en-US" sz="1200" dirty="0"/>
            </a:p>
            <a:p>
              <a:pPr lvl="1"/>
              <a:endParaRPr lang="en-US" sz="1200" dirty="0"/>
            </a:p>
            <a:p>
              <a:pPr lvl="1"/>
              <a:r>
                <a:rPr lang="en-US" sz="1200" dirty="0"/>
                <a:t>Note: Classroom can be flaky. Sometimes you need to accept again or refresh your browser.</a:t>
              </a:r>
            </a:p>
            <a:p>
              <a:pPr lvl="1"/>
              <a:endParaRPr lang="en-US" sz="1200" dirty="0"/>
            </a:p>
          </p:txBody>
        </p:sp>
      </p:grp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5C6DC99-21F2-B347-8B45-7A0C61EB7867}"/>
              </a:ext>
            </a:extLst>
          </p:cNvPr>
          <p:cNvSpPr/>
          <p:nvPr/>
        </p:nvSpPr>
        <p:spPr>
          <a:xfrm>
            <a:off x="9568970" y="397968"/>
            <a:ext cx="1737618" cy="22244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dirty="0"/>
              <a:t>Student GitHub Account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FCBE63-A89E-5944-94AD-9FAF8A52A744}"/>
              </a:ext>
            </a:extLst>
          </p:cNvPr>
          <p:cNvSpPr txBox="1"/>
          <p:nvPr/>
        </p:nvSpPr>
        <p:spPr>
          <a:xfrm>
            <a:off x="7367574" y="2314667"/>
            <a:ext cx="760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Student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8D0E914-138C-5548-8B2A-68BDC180CD98}"/>
              </a:ext>
            </a:extLst>
          </p:cNvPr>
          <p:cNvSpPr/>
          <p:nvPr/>
        </p:nvSpPr>
        <p:spPr>
          <a:xfrm>
            <a:off x="9884827" y="1162118"/>
            <a:ext cx="1130509" cy="713776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forked copy of assignment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9DFCB8-3751-9F4C-AAE6-851AEC3A6F2A}"/>
              </a:ext>
            </a:extLst>
          </p:cNvPr>
          <p:cNvSpPr txBox="1"/>
          <p:nvPr/>
        </p:nvSpPr>
        <p:spPr>
          <a:xfrm>
            <a:off x="9752503" y="1906202"/>
            <a:ext cx="1308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starter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unit test file (</a:t>
            </a:r>
            <a:r>
              <a:rPr lang="en-US" sz="1200" b="1" dirty="0">
                <a:solidFill>
                  <a:srgbClr val="FFFF00"/>
                </a:solidFill>
              </a:rPr>
              <a:t>JUnit 5</a:t>
            </a:r>
            <a:r>
              <a:rPr lang="en-US" sz="12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B35315-2FB5-DB4D-A72C-D5BDBB7AC09F}"/>
              </a:ext>
            </a:extLst>
          </p:cNvPr>
          <p:cNvSpPr txBox="1"/>
          <p:nvPr/>
        </p:nvSpPr>
        <p:spPr>
          <a:xfrm>
            <a:off x="7867259" y="1219583"/>
            <a:ext cx="1398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accept invitation</a:t>
            </a:r>
          </a:p>
        </p:txBody>
      </p: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A154B9A1-6132-A046-9285-3A90B22795F7}"/>
              </a:ext>
            </a:extLst>
          </p:cNvPr>
          <p:cNvCxnSpPr>
            <a:cxnSpLocks/>
            <a:stCxn id="33" idx="0"/>
            <a:endCxn id="32" idx="1"/>
          </p:cNvCxnSpPr>
          <p:nvPr/>
        </p:nvCxnSpPr>
        <p:spPr>
          <a:xfrm rot="5400000" flipH="1" flipV="1">
            <a:off x="8256062" y="1001759"/>
            <a:ext cx="804461" cy="182135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1006F0CD-4F16-9043-8A7D-058EEB163970}"/>
              </a:ext>
            </a:extLst>
          </p:cNvPr>
          <p:cNvSpPr/>
          <p:nvPr/>
        </p:nvSpPr>
        <p:spPr>
          <a:xfrm>
            <a:off x="9568970" y="3609910"/>
            <a:ext cx="1737618" cy="1210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algn="ctr"/>
            <a:r>
              <a:rPr lang="en-US" sz="1400" dirty="0"/>
              <a:t>Student Local PC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75829AB-3FA8-ED41-99E3-6F2962B3DEDC}"/>
              </a:ext>
            </a:extLst>
          </p:cNvPr>
          <p:cNvCxnSpPr>
            <a:cxnSpLocks/>
          </p:cNvCxnSpPr>
          <p:nvPr/>
        </p:nvCxnSpPr>
        <p:spPr>
          <a:xfrm>
            <a:off x="9887688" y="2612503"/>
            <a:ext cx="0" cy="997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155CAC2-4781-0A4D-93C7-1F1C19253F44}"/>
              </a:ext>
            </a:extLst>
          </p:cNvPr>
          <p:cNvSpPr txBox="1"/>
          <p:nvPr/>
        </p:nvSpPr>
        <p:spPr>
          <a:xfrm>
            <a:off x="9043604" y="3077968"/>
            <a:ext cx="8082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git clone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A0212719-A8B4-0D41-8B0B-33BFA08A1933}"/>
              </a:ext>
            </a:extLst>
          </p:cNvPr>
          <p:cNvSpPr/>
          <p:nvPr/>
        </p:nvSpPr>
        <p:spPr>
          <a:xfrm>
            <a:off x="9884827" y="3731250"/>
            <a:ext cx="1130509" cy="713776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local copy of assignment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43ECF23-144E-7C4E-BD03-AE8D7C6D4F97}"/>
              </a:ext>
            </a:extLst>
          </p:cNvPr>
          <p:cNvSpPr/>
          <p:nvPr/>
        </p:nvSpPr>
        <p:spPr>
          <a:xfrm>
            <a:off x="5100180" y="3071421"/>
            <a:ext cx="217221" cy="2280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C70D7C6-DD47-E844-A434-87DBEFEEB6E5}"/>
              </a:ext>
            </a:extLst>
          </p:cNvPr>
          <p:cNvSpPr/>
          <p:nvPr/>
        </p:nvSpPr>
        <p:spPr>
          <a:xfrm>
            <a:off x="6882826" y="3071421"/>
            <a:ext cx="217221" cy="2280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36EF9F7-82F6-954C-ACB6-A6BAE7FF2331}"/>
              </a:ext>
            </a:extLst>
          </p:cNvPr>
          <p:cNvSpPr/>
          <p:nvPr/>
        </p:nvSpPr>
        <p:spPr>
          <a:xfrm>
            <a:off x="7662903" y="1255334"/>
            <a:ext cx="217221" cy="2280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E12710C-9250-1D4F-BA3C-1F6BF6273E6A}"/>
              </a:ext>
            </a:extLst>
          </p:cNvPr>
          <p:cNvSpPr/>
          <p:nvPr/>
        </p:nvSpPr>
        <p:spPr>
          <a:xfrm>
            <a:off x="9100012" y="2883149"/>
            <a:ext cx="217221" cy="2280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D2CE5A0-9150-C440-9C4E-F0F673D166BD}"/>
              </a:ext>
            </a:extLst>
          </p:cNvPr>
          <p:cNvGrpSpPr/>
          <p:nvPr/>
        </p:nvGrpSpPr>
        <p:grpSpPr>
          <a:xfrm>
            <a:off x="11149353" y="3975190"/>
            <a:ext cx="674397" cy="393721"/>
            <a:chOff x="7681169" y="3813440"/>
            <a:chExt cx="1565399" cy="915911"/>
          </a:xfrm>
        </p:grpSpPr>
        <p:sp>
          <p:nvSpPr>
            <p:cNvPr id="55" name="Curved Right Arrow 54">
              <a:extLst>
                <a:ext uri="{FF2B5EF4-FFF2-40B4-BE49-F238E27FC236}">
                  <a16:creationId xmlns:a16="http://schemas.microsoft.com/office/drawing/2014/main" id="{F1790727-6D0D-9B48-AFA7-8E475B2CFE47}"/>
                </a:ext>
              </a:extLst>
            </p:cNvPr>
            <p:cNvSpPr/>
            <p:nvPr/>
          </p:nvSpPr>
          <p:spPr>
            <a:xfrm>
              <a:off x="7681169" y="3926258"/>
              <a:ext cx="731520" cy="803093"/>
            </a:xfrm>
            <a:prstGeom prst="curvedRightArrow">
              <a:avLst>
                <a:gd name="adj1" fmla="val 10057"/>
                <a:gd name="adj2" fmla="val 44070"/>
                <a:gd name="adj3" fmla="val 25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6" name="Curved Right Arrow 55">
              <a:extLst>
                <a:ext uri="{FF2B5EF4-FFF2-40B4-BE49-F238E27FC236}">
                  <a16:creationId xmlns:a16="http://schemas.microsoft.com/office/drawing/2014/main" id="{C8104B4D-274C-4745-AC56-C49D95402AE2}"/>
                </a:ext>
              </a:extLst>
            </p:cNvPr>
            <p:cNvSpPr/>
            <p:nvPr/>
          </p:nvSpPr>
          <p:spPr>
            <a:xfrm rot="10522837">
              <a:off x="8515048" y="3813440"/>
              <a:ext cx="731520" cy="803093"/>
            </a:xfrm>
            <a:prstGeom prst="curvedRightArrow">
              <a:avLst>
                <a:gd name="adj1" fmla="val 10057"/>
                <a:gd name="adj2" fmla="val 44070"/>
                <a:gd name="adj3" fmla="val 25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60" name="Oval 59">
            <a:extLst>
              <a:ext uri="{FF2B5EF4-FFF2-40B4-BE49-F238E27FC236}">
                <a16:creationId xmlns:a16="http://schemas.microsoft.com/office/drawing/2014/main" id="{359073B5-6199-D446-B318-CC16FBEDB401}"/>
              </a:ext>
            </a:extLst>
          </p:cNvPr>
          <p:cNvSpPr/>
          <p:nvPr/>
        </p:nvSpPr>
        <p:spPr>
          <a:xfrm>
            <a:off x="11448954" y="4440838"/>
            <a:ext cx="217221" cy="2280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5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6ED84D2-2F58-BD41-B46C-79C7C26B9FAF}"/>
              </a:ext>
            </a:extLst>
          </p:cNvPr>
          <p:cNvCxnSpPr/>
          <p:nvPr/>
        </p:nvCxnSpPr>
        <p:spPr>
          <a:xfrm flipV="1">
            <a:off x="10736132" y="2622444"/>
            <a:ext cx="0" cy="987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F5655FA3-69A5-1643-83A3-24CD14DAA1D2}"/>
              </a:ext>
            </a:extLst>
          </p:cNvPr>
          <p:cNvSpPr/>
          <p:nvPr/>
        </p:nvSpPr>
        <p:spPr>
          <a:xfrm>
            <a:off x="10845247" y="2901644"/>
            <a:ext cx="217221" cy="2280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0B7788-CB94-7B40-8A83-59CD24303623}"/>
              </a:ext>
            </a:extLst>
          </p:cNvPr>
          <p:cNvSpPr txBox="1"/>
          <p:nvPr/>
        </p:nvSpPr>
        <p:spPr>
          <a:xfrm>
            <a:off x="10752274" y="3129674"/>
            <a:ext cx="7665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git push</a:t>
            </a:r>
          </a:p>
        </p:txBody>
      </p:sp>
      <p:cxnSp>
        <p:nvCxnSpPr>
          <p:cNvPr id="68" name="Curved Connector 67">
            <a:extLst>
              <a:ext uri="{FF2B5EF4-FFF2-40B4-BE49-F238E27FC236}">
                <a16:creationId xmlns:a16="http://schemas.microsoft.com/office/drawing/2014/main" id="{703FCCF2-32EB-E04A-936A-C1866C2ECB18}"/>
              </a:ext>
            </a:extLst>
          </p:cNvPr>
          <p:cNvCxnSpPr>
            <a:endCxn id="5" idx="0"/>
          </p:cNvCxnSpPr>
          <p:nvPr/>
        </p:nvCxnSpPr>
        <p:spPr>
          <a:xfrm rot="10800000" flipV="1">
            <a:off x="4637348" y="466400"/>
            <a:ext cx="4931623" cy="185186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6498A04-8A53-3848-8999-EB0CE0C414BD}"/>
              </a:ext>
            </a:extLst>
          </p:cNvPr>
          <p:cNvSpPr txBox="1"/>
          <p:nvPr/>
        </p:nvSpPr>
        <p:spPr>
          <a:xfrm>
            <a:off x="11139403" y="4813029"/>
            <a:ext cx="968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git commit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D7B9121-5837-E84B-9E9C-9E66D0E2E727}"/>
              </a:ext>
            </a:extLst>
          </p:cNvPr>
          <p:cNvSpPr/>
          <p:nvPr/>
        </p:nvSpPr>
        <p:spPr>
          <a:xfrm>
            <a:off x="6302620" y="297975"/>
            <a:ext cx="217221" cy="2280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FA7695E-EB58-3544-A55E-F57405F49773}"/>
              </a:ext>
            </a:extLst>
          </p:cNvPr>
          <p:cNvSpPr txBox="1"/>
          <p:nvPr/>
        </p:nvSpPr>
        <p:spPr>
          <a:xfrm>
            <a:off x="6519842" y="254727"/>
            <a:ext cx="12277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pull and grade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2CB0A3B-AF5E-8C4A-BAC3-1F10A2944CC4}"/>
              </a:ext>
            </a:extLst>
          </p:cNvPr>
          <p:cNvSpPr txBox="1"/>
          <p:nvPr/>
        </p:nvSpPr>
        <p:spPr>
          <a:xfrm>
            <a:off x="5033359" y="3312165"/>
            <a:ext cx="5901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invite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35D8AF2-8AAD-F84D-B90C-68A5F9FDA3D4}"/>
              </a:ext>
            </a:extLst>
          </p:cNvPr>
          <p:cNvSpPr txBox="1"/>
          <p:nvPr/>
        </p:nvSpPr>
        <p:spPr>
          <a:xfrm>
            <a:off x="6823619" y="3312165"/>
            <a:ext cx="711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receive</a:t>
            </a:r>
          </a:p>
        </p:txBody>
      </p:sp>
    </p:spTree>
    <p:extLst>
      <p:ext uri="{BB962C8B-B14F-4D97-AF65-F5344CB8AC3E}">
        <p14:creationId xmlns:p14="http://schemas.microsoft.com/office/powerpoint/2010/main" val="2904959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F3729-3AF3-394B-BABF-44EB1B5C1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JUnit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7658D-9EB8-0743-8F10-59A3BDEEC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COMP1000 classes use JUnit to verify and grade assignments</a:t>
            </a:r>
          </a:p>
          <a:p>
            <a:r>
              <a:rPr lang="en-US" dirty="0"/>
              <a:t>We will do the same in this class</a:t>
            </a:r>
          </a:p>
          <a:p>
            <a:r>
              <a:rPr lang="en-US" dirty="0"/>
              <a:t>See the screencast on unit testing and JUnit5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519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End Has Come - Sojourn Into Exile">
            <a:extLst>
              <a:ext uri="{FF2B5EF4-FFF2-40B4-BE49-F238E27FC236}">
                <a16:creationId xmlns:a16="http://schemas.microsoft.com/office/drawing/2014/main" id="{65DC2130-90AE-6B45-B9D6-8BF137133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941" y="1008529"/>
            <a:ext cx="8606117" cy="484094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0" dir="5400000" sy="-100000" algn="bl" rotWithShape="0"/>
            <a:softEdge rad="1778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67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329</Words>
  <Application>Microsoft Macintosh PowerPoint</Application>
  <PresentationFormat>Widescreen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COMP1050 PAs Overview</vt:lpstr>
      <vt:lpstr>Programming Assignments (PAs)</vt:lpstr>
      <vt:lpstr>PA Nuts &amp; Bolts</vt:lpstr>
      <vt:lpstr>PA Nuts &amp; Bolts Let’s Take a Look</vt:lpstr>
      <vt:lpstr>PA Nuts &amp; Bolts</vt:lpstr>
      <vt:lpstr>JUnit 5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COMP1050 PA Overview</dc:title>
  <dc:creator>John Puopolo</dc:creator>
  <cp:lastModifiedBy>John Puopolo</cp:lastModifiedBy>
  <cp:revision>14</cp:revision>
  <dcterms:created xsi:type="dcterms:W3CDTF">2020-09-13T12:13:48Z</dcterms:created>
  <dcterms:modified xsi:type="dcterms:W3CDTF">2020-09-13T18:11:35Z</dcterms:modified>
</cp:coreProperties>
</file>