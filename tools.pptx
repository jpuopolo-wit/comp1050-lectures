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9" r:id="rId4"/>
    <p:sldId id="263" r:id="rId5"/>
    <p:sldId id="266" r:id="rId6"/>
    <p:sldId id="257" r:id="rId7"/>
    <p:sldId id="258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1886-EAB2-574F-8AE4-F953D80DA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0C27E-D5BF-0E4F-B3A8-5B4271EF5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34F60-C735-414B-A3BD-9B1443CE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8FC48-AE3B-4E4D-918D-47DF6259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73D6E-E0DA-CF4B-94C4-37936673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2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8FDB-D909-EA44-A19D-BD6041D4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CC38-2113-444D-9A71-653BE2C8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B704F-8892-4340-BC33-58DE4F5D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9C28-64BA-ED4C-90A1-513E1009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C114-8696-2E4B-AF66-F0EA6363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0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2565-6678-9347-9D3D-4E69D639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B43B6-C2E4-624E-9984-DFD83570C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FBD0D-9987-1A4F-8812-9D5056C2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ACCC-5A55-B347-A96C-E1CF2975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CF8DC-493E-F849-BA15-D7899061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F7C6-E083-534A-AC64-0402DE76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16C3-4A23-8C4E-8B7D-8C467C534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58AFE-518D-144F-B6D8-58DD09720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26CAB-128A-0144-94C7-D0021574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4A7A1-EBE5-DB41-9ECC-7BC5A3C6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893C8-6898-1F4A-8160-81F02E5E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9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9DFB-4889-D44A-8238-087BF515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49B6-73C5-4B42-8BAA-564DF4EDD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423D7-990E-1C4A-AD18-686EA045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ABEF4-F637-F343-82A6-1E7EDD948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A84D8-EA7A-1D45-9798-0F95B91FE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84F7C-CAFF-1B4D-96D8-ED0C2E67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D98EBC-4CD1-B144-8D60-04AC58B1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FA7A1-7B5E-8D4D-9F0A-EE9BA2EC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5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2E97-066D-B044-916C-D72CEEC76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CC7BC-6077-0F4E-9207-8857C9D1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796EA-8CC6-6047-927D-382FAE4C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82DE1-B8C7-8B40-8570-4B11AA82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8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DF6C3-7E1F-464C-9743-71186497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0544D-2829-2B48-B93F-A38776EB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B2B62-D94F-A541-A845-D56E6A4F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2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16C3-6144-9F46-9203-3AC87723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66207-1C25-884A-A160-AF0EBE5CF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376BA-2699-4D49-9D6E-DAE3AC456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D20F-8B00-E840-A3D9-F1E6B9B0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1604F-AA98-D84E-A41F-90FAAF30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DDB8E-EB65-FD45-92CC-A8B1C2C7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7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6441-089F-044F-984D-8F3FC5A2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30A66-5E2F-6B43-92F2-F58FE0984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77E26-7FDE-8847-BA3F-A751E8359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6A589-F702-D542-8F66-F6696461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2FB9C-5971-644A-9BE8-C9228B10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AF361-8A19-684B-9493-02EB8478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1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B66C-5731-C44A-9CE1-311C447F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A1C13-15DA-7F49-8C94-B2CEA706E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0387-1E88-4247-A61F-4F9E9D3A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CB83-5D97-4745-BF4F-35362097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2FEC9-5638-3A45-8DC9-E0485C42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4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445DC-381A-3C40-A409-1E857336F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C3BBF-A557-4D43-AC85-91150167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CC49A-BB90-504B-A9C2-FCE2BEC9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4D27-8835-FA4E-8849-3AE4F5BA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8895D-F929-3F4F-8AA7-2F9CECCA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1975D-83CC-754C-B122-59E15CD2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74DAF-CA6B-0449-96F0-1FF69D9AB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1B086-2803-9B4B-B410-30152CBFB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3D6EA-1C47-9F49-BBCE-124A031CAE8D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E5C12-A6A2-814D-9817-047A51362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7E87-0C9D-2940-887D-B389C18F6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6683-D431-6542-80C3-4C5CF0415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9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tools/tools-and-command-referenc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dpsoftware.com/git-cheatsheet.html#loc=remote_repo;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maven/index.htm" TargetMode="External"/><Relationship Id="rId2" Type="http://schemas.openxmlformats.org/officeDocument/2006/relationships/hyperlink" Target="https://maven.apach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ooks.sonatype.com/mvnex-book/reference/simple-project-sect-simple-core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aven.apache.org/plugins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59C6-F484-C849-AB7E-0505495F6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Tools Ecosystem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6B2AB-DE23-9346-8C29-8271CEBE6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Tour of the Toolbox for </a:t>
            </a:r>
            <a:r>
              <a:rPr lang="en-US"/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233113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7B41-D583-E246-8860-A85AE966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Check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BB204-EF4C-DE4C-AA3F-12BB5AED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Tools</a:t>
            </a:r>
          </a:p>
          <a:p>
            <a:r>
              <a:rPr lang="en-US" dirty="0"/>
              <a:t>IntelliJ or Eclipse (or your IDE of choice)</a:t>
            </a:r>
          </a:p>
          <a:p>
            <a:pPr lvl="1"/>
            <a:r>
              <a:rPr lang="en-US" dirty="0"/>
              <a:t>The debugger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Maven</a:t>
            </a:r>
          </a:p>
          <a:p>
            <a:endParaRPr lang="en-US" dirty="0"/>
          </a:p>
          <a:p>
            <a:r>
              <a:rPr lang="en-US" dirty="0"/>
              <a:t>One of the differences between on OK Software Engineering an a good or great one is: </a:t>
            </a:r>
            <a:r>
              <a:rPr lang="en-US" i="1" dirty="0"/>
              <a:t>the great ones know their tools</a:t>
            </a:r>
          </a:p>
        </p:txBody>
      </p:sp>
    </p:spTree>
    <p:extLst>
      <p:ext uri="{BB962C8B-B14F-4D97-AF65-F5344CB8AC3E}">
        <p14:creationId xmlns:p14="http://schemas.microsoft.com/office/powerpoint/2010/main" val="3357149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2973-A238-394D-B277-AD253B0D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992B2-BA4F-3E48-80C1-BC5C7B40A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official tools reference</a:t>
            </a:r>
          </a:p>
          <a:p>
            <a:pPr lvl="1"/>
            <a:r>
              <a:rPr lang="en-US" dirty="0">
                <a:hlinkClick r:id="rId2"/>
              </a:rPr>
              <a:t>https://docs.oracle.com/en/java/javase/11/tools/tools-and-command-reference.html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Core Tools (in order if likely usage)</a:t>
            </a:r>
          </a:p>
          <a:p>
            <a:pPr lvl="1"/>
            <a:r>
              <a:rPr lang="en-US" dirty="0" err="1"/>
              <a:t>javac</a:t>
            </a:r>
            <a:r>
              <a:rPr lang="en-US" dirty="0"/>
              <a:t> – read class and interface definitions and compile them into bytecode</a:t>
            </a:r>
          </a:p>
          <a:p>
            <a:pPr lvl="1"/>
            <a:r>
              <a:rPr lang="en-US" dirty="0"/>
              <a:t>java – launch a Java application</a:t>
            </a:r>
          </a:p>
          <a:p>
            <a:pPr lvl="1"/>
            <a:r>
              <a:rPr lang="en-US" dirty="0"/>
              <a:t>jar – create an archive for classes and resources, manipulate or restore individual items</a:t>
            </a:r>
          </a:p>
          <a:p>
            <a:pPr lvl="1"/>
            <a:r>
              <a:rPr lang="en-US" dirty="0" err="1"/>
              <a:t>javadoc</a:t>
            </a:r>
            <a:r>
              <a:rPr lang="en-US" dirty="0"/>
              <a:t> –  generate HTML pages of API documentation from Java source files</a:t>
            </a:r>
          </a:p>
          <a:p>
            <a:pPr lvl="1"/>
            <a:r>
              <a:rPr lang="en-US" dirty="0" err="1"/>
              <a:t>javap</a:t>
            </a:r>
            <a:r>
              <a:rPr lang="en-US" dirty="0"/>
              <a:t> – disassemble one or more class files (many IDEs have similar built in)</a:t>
            </a:r>
            <a:br>
              <a:rPr lang="en-US" dirty="0"/>
            </a:br>
            <a:endParaRPr lang="en-US" dirty="0"/>
          </a:p>
          <a:p>
            <a:r>
              <a:rPr lang="en-US" dirty="0"/>
              <a:t>Others</a:t>
            </a:r>
          </a:p>
          <a:p>
            <a:pPr lvl="1"/>
            <a:r>
              <a:rPr lang="en-US" dirty="0" err="1"/>
              <a:t>jlink</a:t>
            </a:r>
            <a:r>
              <a:rPr lang="en-US" dirty="0"/>
              <a:t> – assemble a set of modules and their dependencies into a custom runtime image</a:t>
            </a:r>
          </a:p>
          <a:p>
            <a:pPr lvl="1"/>
            <a:r>
              <a:rPr lang="en-US" dirty="0" err="1"/>
              <a:t>jdeps</a:t>
            </a:r>
            <a:r>
              <a:rPr lang="en-US" dirty="0"/>
              <a:t> –  launch the Java class dependency analyzer</a:t>
            </a:r>
          </a:p>
          <a:p>
            <a:pPr lvl="1"/>
            <a:r>
              <a:rPr lang="en-US" dirty="0" err="1"/>
              <a:t>jdeprscan</a:t>
            </a:r>
            <a:r>
              <a:rPr lang="en-US" dirty="0"/>
              <a:t> –  static analysis tool that scans a jar file (or some other aggregation of class files) for uses of deprecated API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0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0FCF-EDF0-4245-ACD4-AAE9019B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6C6B-B1EF-ED4F-8DA6-8EAA271F1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Modern IDEs provide…</a:t>
            </a:r>
          </a:p>
          <a:p>
            <a:pPr lvl="1"/>
            <a:r>
              <a:rPr lang="en-US" dirty="0"/>
              <a:t>Language-specific syntax highlighting and code assist</a:t>
            </a:r>
          </a:p>
          <a:p>
            <a:pPr lvl="1"/>
            <a:r>
              <a:rPr lang="en-US" dirty="0"/>
              <a:t>Code completion</a:t>
            </a:r>
          </a:p>
          <a:p>
            <a:pPr lvl="1"/>
            <a:r>
              <a:rPr lang="en-US" dirty="0"/>
              <a:t>Code generation &amp; smart templates, e.g., “surround code with try-catch”</a:t>
            </a:r>
          </a:p>
          <a:p>
            <a:pPr lvl="1"/>
            <a:r>
              <a:rPr lang="en-US" dirty="0"/>
              <a:t>In-situ and real-time feedback on your code (warning, errors, best practices)</a:t>
            </a:r>
          </a:p>
          <a:p>
            <a:pPr lvl="1"/>
            <a:r>
              <a:rPr lang="en-US" dirty="0"/>
              <a:t>Code snippets</a:t>
            </a:r>
          </a:p>
          <a:p>
            <a:pPr lvl="1"/>
            <a:r>
              <a:rPr lang="en-US" dirty="0"/>
              <a:t>Refactoring tools</a:t>
            </a:r>
          </a:p>
          <a:p>
            <a:pPr lvl="1"/>
            <a:r>
              <a:rPr lang="en-US" dirty="0"/>
              <a:t>Git, Maven, etc. integrations</a:t>
            </a:r>
          </a:p>
          <a:p>
            <a:pPr lvl="1"/>
            <a:r>
              <a:rPr lang="en-US" dirty="0"/>
              <a:t>Powerful debuggers – get to know our debugger!</a:t>
            </a:r>
          </a:p>
          <a:p>
            <a:pPr lvl="1"/>
            <a:r>
              <a:rPr lang="en-US" dirty="0"/>
              <a:t>Extensive search-replace functions, including regex</a:t>
            </a:r>
          </a:p>
          <a:p>
            <a:pPr lvl="1"/>
            <a:r>
              <a:rPr lang="en-US" dirty="0"/>
              <a:t>Etc. Etc.</a:t>
            </a:r>
          </a:p>
        </p:txBody>
      </p:sp>
    </p:spTree>
    <p:extLst>
      <p:ext uri="{BB962C8B-B14F-4D97-AF65-F5344CB8AC3E}">
        <p14:creationId xmlns:p14="http://schemas.microsoft.com/office/powerpoint/2010/main" val="45219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CDBD-8B04-A745-9EDA-B38D0E33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IntelliJ Projects &amp; The Debugger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AC02-4DD2-D142-9A7F-1F0432B23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IDEs are sophisticated in today’s development environment</a:t>
            </a:r>
          </a:p>
          <a:p>
            <a:r>
              <a:rPr lang="en-US" dirty="0"/>
              <a:t>They come with all types of tools and utilities that make software development more streamlined</a:t>
            </a:r>
          </a:p>
          <a:p>
            <a:r>
              <a:rPr lang="en-US" dirty="0"/>
              <a:t>Get to know</a:t>
            </a:r>
          </a:p>
          <a:p>
            <a:pPr lvl="1"/>
            <a:r>
              <a:rPr lang="en-US" dirty="0"/>
              <a:t>How the IDE works and manages projects</a:t>
            </a:r>
          </a:p>
          <a:p>
            <a:pPr lvl="1"/>
            <a:r>
              <a:rPr lang="en-US" dirty="0"/>
              <a:t>How to build &amp; debug your project</a:t>
            </a:r>
          </a:p>
          <a:p>
            <a:pPr lvl="1"/>
            <a:r>
              <a:rPr lang="en-US" dirty="0"/>
              <a:t>Keyboard shortcuts and time-saving features</a:t>
            </a:r>
          </a:p>
          <a:p>
            <a:pPr lvl="1"/>
            <a:r>
              <a:rPr lang="en-US" dirty="0"/>
              <a:t>Let’s take a quick tour through the debugger</a:t>
            </a:r>
          </a:p>
          <a:p>
            <a:pPr lvl="2"/>
            <a:r>
              <a:rPr lang="en-US" dirty="0"/>
              <a:t>Pass arguments into program, set breakpoints</a:t>
            </a:r>
            <a:r>
              <a:rPr lang="en-US"/>
              <a:t>, manage conditional </a:t>
            </a:r>
            <a:r>
              <a:rPr lang="en-US" dirty="0"/>
              <a:t>breakpoints, read call stack, inspect and change variables</a:t>
            </a:r>
          </a:p>
        </p:txBody>
      </p:sp>
    </p:spTree>
    <p:extLst>
      <p:ext uri="{BB962C8B-B14F-4D97-AF65-F5344CB8AC3E}">
        <p14:creationId xmlns:p14="http://schemas.microsoft.com/office/powerpoint/2010/main" val="400904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3E5B-9FA6-624A-A215-30D88E82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101A0-2B1B-3F4F-8D5F-148B2384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Site</a:t>
            </a:r>
          </a:p>
          <a:p>
            <a:pPr lvl="1"/>
            <a:r>
              <a:rPr lang="en-US" dirty="0">
                <a:hlinkClick r:id="rId2"/>
              </a:rPr>
              <a:t>https://git-scm.com/</a:t>
            </a:r>
            <a:endParaRPr lang="en-US" dirty="0"/>
          </a:p>
          <a:p>
            <a:pPr lvl="1"/>
            <a:r>
              <a:rPr lang="en-US" dirty="0"/>
              <a:t>Written by Linus Torvalds – the guy responsible for Linux</a:t>
            </a:r>
          </a:p>
          <a:p>
            <a:r>
              <a:rPr lang="en-US" dirty="0"/>
              <a:t>Interactive reference (very useful)</a:t>
            </a:r>
          </a:p>
          <a:p>
            <a:pPr lvl="1"/>
            <a:r>
              <a:rPr lang="en-US" dirty="0">
                <a:hlinkClick r:id="rId3"/>
              </a:rPr>
              <a:t>https://ndpsoftware.com/git-cheatsheet.html#loc=remote_repo;</a:t>
            </a:r>
            <a:endParaRPr lang="en-US" dirty="0"/>
          </a:p>
          <a:p>
            <a:r>
              <a:rPr lang="en-US" dirty="0"/>
              <a:t>Understand what areas are impacted by various git commands</a:t>
            </a:r>
          </a:p>
          <a:p>
            <a:r>
              <a:rPr lang="en-US" dirty="0"/>
              <a:t>We will not need to give deeply into git in this class but ---</a:t>
            </a:r>
          </a:p>
          <a:p>
            <a:r>
              <a:rPr lang="en-US" i="1" dirty="0"/>
              <a:t>Run git from the command line for a while </a:t>
            </a:r>
            <a:r>
              <a:rPr lang="en-US" dirty="0"/>
              <a:t>until you’re comfortable with it</a:t>
            </a:r>
          </a:p>
        </p:txBody>
      </p:sp>
    </p:spTree>
    <p:extLst>
      <p:ext uri="{BB962C8B-B14F-4D97-AF65-F5344CB8AC3E}">
        <p14:creationId xmlns:p14="http://schemas.microsoft.com/office/powerpoint/2010/main" val="156480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F856-1732-3D42-85CE-40F07F8D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21DA8-A450-E14D-AFB5-D0404158F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Build Management</a:t>
            </a:r>
          </a:p>
          <a:p>
            <a:pPr lvl="1"/>
            <a:r>
              <a:rPr lang="en-US" dirty="0"/>
              <a:t>Code build</a:t>
            </a:r>
          </a:p>
          <a:p>
            <a:pPr lvl="1"/>
            <a:r>
              <a:rPr lang="en-US" dirty="0"/>
              <a:t>Test build and execution</a:t>
            </a:r>
          </a:p>
          <a:p>
            <a:pPr lvl="1"/>
            <a:r>
              <a:rPr lang="en-US" dirty="0"/>
              <a:t>Dependency management (important)</a:t>
            </a:r>
          </a:p>
          <a:p>
            <a:pPr lvl="1"/>
            <a:r>
              <a:rPr lang="en-US" dirty="0"/>
              <a:t>Packaging</a:t>
            </a:r>
          </a:p>
          <a:p>
            <a:pPr lvl="1"/>
            <a:r>
              <a:rPr lang="en-US" dirty="0"/>
              <a:t>Installation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Official Site</a:t>
            </a:r>
          </a:p>
          <a:p>
            <a:pPr lvl="1"/>
            <a:r>
              <a:rPr lang="en-US" dirty="0">
                <a:hlinkClick r:id="rId2"/>
              </a:rPr>
              <a:t>https://maven.apache.org/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Core Concepts</a:t>
            </a:r>
          </a:p>
          <a:p>
            <a:pPr lvl="1"/>
            <a:r>
              <a:rPr lang="en-US" dirty="0">
                <a:hlinkClick r:id="rId3"/>
              </a:rPr>
              <a:t>https://www.tutorialspoint.com/maven/index.htm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https://books.sonatype.com/mvnex-book/reference/simple-project-sect-simple-core.html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9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4847-856B-7048-844B-7E1DD456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– Overall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7EB2D-4625-C24B-AD16-52F4D2922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POM</a:t>
            </a:r>
            <a:r>
              <a:rPr lang="en-US" dirty="0"/>
              <a:t> – Project Object Model</a:t>
            </a:r>
          </a:p>
          <a:p>
            <a:pPr lvl="1"/>
            <a:r>
              <a:rPr lang="en-US" dirty="0"/>
              <a:t>XML file that describes what to build and all needed dependencies</a:t>
            </a:r>
          </a:p>
          <a:p>
            <a:r>
              <a:rPr lang="en-US" i="1" dirty="0"/>
              <a:t>Lifecycle</a:t>
            </a:r>
          </a:p>
          <a:p>
            <a:pPr lvl="1"/>
            <a:r>
              <a:rPr lang="en-US" dirty="0"/>
              <a:t>A set of phases (steps) that Maven performs to produce artifacts</a:t>
            </a:r>
          </a:p>
          <a:p>
            <a:r>
              <a:rPr lang="en-US" dirty="0"/>
              <a:t>A </a:t>
            </a:r>
            <a:r>
              <a:rPr lang="en-US" i="1" dirty="0"/>
              <a:t>phase</a:t>
            </a:r>
            <a:r>
              <a:rPr lang="en-US" dirty="0"/>
              <a:t> can be associated (or not) with a plugin</a:t>
            </a:r>
          </a:p>
          <a:p>
            <a:r>
              <a:rPr lang="en-US" dirty="0"/>
              <a:t>A </a:t>
            </a:r>
            <a:r>
              <a:rPr lang="en-US" i="1" dirty="0"/>
              <a:t>plugin</a:t>
            </a:r>
            <a:r>
              <a:rPr lang="en-US" dirty="0"/>
              <a:t> can satisfy one or more </a:t>
            </a:r>
            <a:r>
              <a:rPr lang="en-US" i="1" dirty="0"/>
              <a:t>goals</a:t>
            </a:r>
          </a:p>
          <a:p>
            <a:r>
              <a:rPr lang="en-US" dirty="0"/>
              <a:t>To satisfy a goal, maven “does something”, e.g., runs the Java compiler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3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8834-E14C-B240-9CDE-7CD1F369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1892"/>
          </a:xfrm>
        </p:spPr>
        <p:txBody>
          <a:bodyPr>
            <a:normAutofit fontScale="90000"/>
          </a:bodyPr>
          <a:lstStyle/>
          <a:p>
            <a:r>
              <a:rPr lang="en-US" dirty="0"/>
              <a:t>Maven – Overall Concepts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601EFA-EB0B-EA4D-A5DA-70353244E5C3}"/>
              </a:ext>
            </a:extLst>
          </p:cNvPr>
          <p:cNvSpPr/>
          <p:nvPr/>
        </p:nvSpPr>
        <p:spPr>
          <a:xfrm>
            <a:off x="2207538" y="2720817"/>
            <a:ext cx="9144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DCCD8B-7660-EA4D-8B4C-A51F2B7718A6}"/>
              </a:ext>
            </a:extLst>
          </p:cNvPr>
          <p:cNvSpPr/>
          <p:nvPr/>
        </p:nvSpPr>
        <p:spPr>
          <a:xfrm>
            <a:off x="3656960" y="2720817"/>
            <a:ext cx="9144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822119-EB3D-2C4B-AC69-237C486A540F}"/>
              </a:ext>
            </a:extLst>
          </p:cNvPr>
          <p:cNvSpPr/>
          <p:nvPr/>
        </p:nvSpPr>
        <p:spPr>
          <a:xfrm>
            <a:off x="6555804" y="2720817"/>
            <a:ext cx="9144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 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C42708-1088-5C41-B6FA-CF1A014DADBA}"/>
              </a:ext>
            </a:extLst>
          </p:cNvPr>
          <p:cNvSpPr/>
          <p:nvPr/>
        </p:nvSpPr>
        <p:spPr>
          <a:xfrm>
            <a:off x="5106382" y="2720817"/>
            <a:ext cx="9144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 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E5FCD7-73F0-9D44-AD8D-A9FBFE4EDF4B}"/>
              </a:ext>
            </a:extLst>
          </p:cNvPr>
          <p:cNvSpPr/>
          <p:nvPr/>
        </p:nvSpPr>
        <p:spPr>
          <a:xfrm>
            <a:off x="8768550" y="2720817"/>
            <a:ext cx="914400" cy="4572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Phase N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94F45C6-E23A-9C4C-AD20-D2BF1955867C}"/>
              </a:ext>
            </a:extLst>
          </p:cNvPr>
          <p:cNvSpPr/>
          <p:nvPr/>
        </p:nvSpPr>
        <p:spPr>
          <a:xfrm>
            <a:off x="2207538" y="1570434"/>
            <a:ext cx="8180961" cy="1019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Lifecycle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B8A06-4927-204B-96A3-4633073ABE79}"/>
              </a:ext>
            </a:extLst>
          </p:cNvPr>
          <p:cNvSpPr txBox="1"/>
          <p:nvPr/>
        </p:nvSpPr>
        <p:spPr>
          <a:xfrm>
            <a:off x="8005226" y="2795528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…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2941D-D138-1342-8540-37360D606C0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664738" y="2317289"/>
            <a:ext cx="0" cy="40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D819CF-BA8F-C64D-806E-4BD7D0ABAF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114160" y="2317289"/>
            <a:ext cx="0" cy="40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1E359F-936F-0245-A726-05368AC18D0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563582" y="2317289"/>
            <a:ext cx="0" cy="40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C52E27-E08D-2D46-B24F-5257E068299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013004" y="2317289"/>
            <a:ext cx="0" cy="40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4E9DFE-EF97-8249-94A3-7EECD1158BB3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216020" y="2317289"/>
            <a:ext cx="9730" cy="40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C095F6-8586-2146-996A-FB1588AD9FB6}"/>
              </a:ext>
            </a:extLst>
          </p:cNvPr>
          <p:cNvSpPr txBox="1"/>
          <p:nvPr/>
        </p:nvSpPr>
        <p:spPr>
          <a:xfrm>
            <a:off x="7051204" y="1386767"/>
            <a:ext cx="2631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mvn</a:t>
            </a:r>
            <a:r>
              <a:rPr lang="en-US" sz="1400" dirty="0"/>
              <a:t> </a:t>
            </a:r>
            <a:r>
              <a:rPr lang="en-US" sz="1400" dirty="0" err="1"/>
              <a:t>help:describe</a:t>
            </a:r>
            <a:r>
              <a:rPr lang="en-US" sz="1400" dirty="0"/>
              <a:t> -</a:t>
            </a:r>
            <a:r>
              <a:rPr lang="en-US" sz="1400" dirty="0" err="1"/>
              <a:t>Dcmd</a:t>
            </a:r>
            <a:r>
              <a:rPr lang="en-US" sz="1400" dirty="0"/>
              <a:t>=deploy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47E37BE-E19E-914F-863F-2B616CB240CF}"/>
              </a:ext>
            </a:extLst>
          </p:cNvPr>
          <p:cNvGrpSpPr/>
          <p:nvPr/>
        </p:nvGrpSpPr>
        <p:grpSpPr>
          <a:xfrm>
            <a:off x="1399472" y="3875844"/>
            <a:ext cx="1592858" cy="1019653"/>
            <a:chOff x="3180522" y="3777914"/>
            <a:chExt cx="1592858" cy="1019653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97806A6-6BAD-4D42-B5DD-1787AD7388E5}"/>
                </a:ext>
              </a:extLst>
            </p:cNvPr>
            <p:cNvSpPr/>
            <p:nvPr/>
          </p:nvSpPr>
          <p:spPr>
            <a:xfrm>
              <a:off x="3180522" y="3777914"/>
              <a:ext cx="1592858" cy="10196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 dirty="0"/>
                <a:t>Plugin (clean)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3A0976-E126-2446-8426-66C891E10066}"/>
                </a:ext>
              </a:extLst>
            </p:cNvPr>
            <p:cNvSpPr/>
            <p:nvPr/>
          </p:nvSpPr>
          <p:spPr>
            <a:xfrm>
              <a:off x="3337351" y="3934704"/>
              <a:ext cx="1253769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Goal: </a:t>
              </a:r>
            </a:p>
            <a:p>
              <a:pPr algn="ctr"/>
              <a:r>
                <a:rPr lang="en-US" sz="1400" dirty="0"/>
                <a:t>clean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DD4F1C-44AE-9342-975A-D286E704F758}"/>
              </a:ext>
            </a:extLst>
          </p:cNvPr>
          <p:cNvGrpSpPr/>
          <p:nvPr/>
        </p:nvGrpSpPr>
        <p:grpSpPr>
          <a:xfrm>
            <a:off x="3656960" y="3875845"/>
            <a:ext cx="2549719" cy="1019653"/>
            <a:chOff x="5655550" y="3777914"/>
            <a:chExt cx="2549719" cy="1019653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28279290-68DC-D942-A4D9-5446D1EA47CA}"/>
                </a:ext>
              </a:extLst>
            </p:cNvPr>
            <p:cNvSpPr/>
            <p:nvPr/>
          </p:nvSpPr>
          <p:spPr>
            <a:xfrm>
              <a:off x="5655550" y="3777914"/>
              <a:ext cx="2549719" cy="10196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 dirty="0"/>
                <a:t>Plugin (compiler)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A8EC9BF-ED8B-974D-AFD2-381799597D0F}"/>
                </a:ext>
              </a:extLst>
            </p:cNvPr>
            <p:cNvSpPr/>
            <p:nvPr/>
          </p:nvSpPr>
          <p:spPr>
            <a:xfrm>
              <a:off x="5813989" y="3917133"/>
              <a:ext cx="1087771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Goal:</a:t>
              </a:r>
            </a:p>
            <a:p>
              <a:pPr algn="ctr"/>
              <a:r>
                <a:rPr lang="en-US" sz="1400" dirty="0"/>
                <a:t>compile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B5E6C59-B6EC-BC45-91E2-4F9E6B0BDC1A}"/>
                </a:ext>
              </a:extLst>
            </p:cNvPr>
            <p:cNvSpPr/>
            <p:nvPr/>
          </p:nvSpPr>
          <p:spPr>
            <a:xfrm>
              <a:off x="6955041" y="3919192"/>
              <a:ext cx="1087772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Goal:</a:t>
              </a:r>
            </a:p>
            <a:p>
              <a:pPr algn="ctr"/>
              <a:r>
                <a:rPr lang="en-US" sz="1400" dirty="0" err="1"/>
                <a:t>testCompile</a:t>
              </a:r>
              <a:endParaRPr lang="en-US" sz="1400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71FA6AF-9C3B-AB42-9040-0B6DD908C64D}"/>
              </a:ext>
            </a:extLst>
          </p:cNvPr>
          <p:cNvSpPr/>
          <p:nvPr/>
        </p:nvSpPr>
        <p:spPr>
          <a:xfrm>
            <a:off x="1741992" y="5760922"/>
            <a:ext cx="3842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hlinkClick r:id="rId2"/>
              </a:rPr>
              <a:t>See https://maven.apache.org/plugins/index.html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FC6AD1-2316-F348-BADD-34CC37D0DDFD}"/>
              </a:ext>
            </a:extLst>
          </p:cNvPr>
          <p:cNvSpPr txBox="1"/>
          <p:nvPr/>
        </p:nvSpPr>
        <p:spPr>
          <a:xfrm>
            <a:off x="1950310" y="2413038"/>
            <a:ext cx="761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validate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F500EC-A503-7149-9FCD-4D1723E16118}"/>
              </a:ext>
            </a:extLst>
          </p:cNvPr>
          <p:cNvSpPr txBox="1"/>
          <p:nvPr/>
        </p:nvSpPr>
        <p:spPr>
          <a:xfrm>
            <a:off x="3413961" y="2413039"/>
            <a:ext cx="763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compile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B8D4FB-E007-6B4D-A9BA-196E3C9FAA3F}"/>
              </a:ext>
            </a:extLst>
          </p:cNvPr>
          <p:cNvSpPr txBox="1"/>
          <p:nvPr/>
        </p:nvSpPr>
        <p:spPr>
          <a:xfrm>
            <a:off x="4520411" y="2413039"/>
            <a:ext cx="109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test-compile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6328B4-D396-8D4B-9A53-9494507A771F}"/>
              </a:ext>
            </a:extLst>
          </p:cNvPr>
          <p:cNvSpPr txBox="1"/>
          <p:nvPr/>
        </p:nvSpPr>
        <p:spPr>
          <a:xfrm>
            <a:off x="1324988" y="4923875"/>
            <a:ext cx="1765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bound to a phase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52745A-C34C-4C4B-82EF-61A0B1792DB4}"/>
              </a:ext>
            </a:extLst>
          </p:cNvPr>
          <p:cNvSpPr txBox="1"/>
          <p:nvPr/>
        </p:nvSpPr>
        <p:spPr>
          <a:xfrm>
            <a:off x="7918520" y="3600893"/>
            <a:ext cx="321232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You can tell maven to run a phase:</a:t>
            </a:r>
          </a:p>
          <a:p>
            <a:r>
              <a:rPr lang="en-US" sz="1400" dirty="0" err="1"/>
              <a:t>mvn</a:t>
            </a:r>
            <a:r>
              <a:rPr lang="en-US" sz="1400" dirty="0"/>
              <a:t> compile</a:t>
            </a:r>
          </a:p>
          <a:p>
            <a:endParaRPr lang="en-US" sz="1400" dirty="0"/>
          </a:p>
          <a:p>
            <a:r>
              <a:rPr lang="en-US" sz="1400" dirty="0"/>
              <a:t>You can invoke a plugin directly:</a:t>
            </a:r>
          </a:p>
          <a:p>
            <a:r>
              <a:rPr lang="en-US" sz="1400" dirty="0" err="1"/>
              <a:t>mvn</a:t>
            </a:r>
            <a:r>
              <a:rPr lang="en-US" sz="1400" dirty="0"/>
              <a:t> clean</a:t>
            </a:r>
          </a:p>
          <a:p>
            <a:endParaRPr lang="en-US" sz="1400" dirty="0"/>
          </a:p>
          <a:p>
            <a:r>
              <a:rPr lang="en-US" sz="1400" dirty="0"/>
              <a:t>You can invoke a </a:t>
            </a:r>
            <a:r>
              <a:rPr lang="en-US" sz="1400" dirty="0" err="1"/>
              <a:t>plugin:goal</a:t>
            </a:r>
            <a:r>
              <a:rPr lang="en-US" sz="1400" dirty="0"/>
              <a:t> directly:</a:t>
            </a:r>
          </a:p>
          <a:p>
            <a:r>
              <a:rPr lang="en-US" sz="1400" dirty="0" err="1"/>
              <a:t>mvn</a:t>
            </a:r>
            <a:r>
              <a:rPr lang="en-US" sz="1400" dirty="0"/>
              <a:t> </a:t>
            </a:r>
            <a:r>
              <a:rPr lang="en-US" sz="1400" dirty="0" err="1"/>
              <a:t>compiler:compile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Note:</a:t>
            </a:r>
          </a:p>
          <a:p>
            <a:r>
              <a:rPr lang="en-US" sz="1400" dirty="0"/>
              <a:t>When you tell </a:t>
            </a:r>
            <a:r>
              <a:rPr lang="en-US" sz="1400" dirty="0" err="1"/>
              <a:t>mvn</a:t>
            </a:r>
            <a:r>
              <a:rPr lang="en-US" sz="1400" dirty="0"/>
              <a:t> to run a phase, it executes all phases prior to and including the phase you specify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868AB2-6AD8-BC40-A69F-35A4F84C08B3}"/>
              </a:ext>
            </a:extLst>
          </p:cNvPr>
          <p:cNvSpPr txBox="1"/>
          <p:nvPr/>
        </p:nvSpPr>
        <p:spPr>
          <a:xfrm>
            <a:off x="3656960" y="4970042"/>
            <a:ext cx="2998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Plugins house 1+ goals. These goals are bound to one or more phases.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5BC2E34-CB08-1747-B4B2-F908B885497C}"/>
              </a:ext>
            </a:extLst>
          </p:cNvPr>
          <p:cNvCxnSpPr/>
          <p:nvPr/>
        </p:nvCxnSpPr>
        <p:spPr>
          <a:xfrm flipV="1">
            <a:off x="4019107" y="3178017"/>
            <a:ext cx="0" cy="837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5E2841C-6049-734F-9A80-3BD5F59F7404}"/>
              </a:ext>
            </a:extLst>
          </p:cNvPr>
          <p:cNvCxnSpPr/>
          <p:nvPr/>
        </p:nvCxnSpPr>
        <p:spPr>
          <a:xfrm flipV="1">
            <a:off x="5730949" y="3178017"/>
            <a:ext cx="0" cy="837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1F2CD4A-C6EA-7445-946D-101A16D33E7A}"/>
              </a:ext>
            </a:extLst>
          </p:cNvPr>
          <p:cNvSpPr txBox="1"/>
          <p:nvPr/>
        </p:nvSpPr>
        <p:spPr>
          <a:xfrm>
            <a:off x="7051204" y="1096829"/>
            <a:ext cx="2401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General form: </a:t>
            </a:r>
            <a:r>
              <a:rPr lang="en-US" sz="1400" dirty="0" err="1"/>
              <a:t>mvn</a:t>
            </a:r>
            <a:r>
              <a:rPr lang="en-US" sz="1400" dirty="0"/>
              <a:t> </a:t>
            </a:r>
            <a:r>
              <a:rPr lang="en-US" sz="1400" i="1" dirty="0" err="1"/>
              <a:t>plugin:goal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25096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3069-46B3-4F49-9D3F-2EE17622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11" y="209482"/>
            <a:ext cx="10515600" cy="627063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 -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C95F-9943-D94F-A626-2290BF76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02" y="1068239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eXtensible</a:t>
            </a:r>
            <a:r>
              <a:rPr lang="en-US" sz="2400" dirty="0"/>
              <a:t> Markup Language</a:t>
            </a:r>
          </a:p>
          <a:p>
            <a:r>
              <a:rPr lang="en-US" sz="2400" dirty="0"/>
              <a:t>Way to describe data in a hierarchical manner</a:t>
            </a:r>
          </a:p>
          <a:p>
            <a:r>
              <a:rPr lang="en-US" sz="2400" dirty="0"/>
              <a:t>Uses tags</a:t>
            </a:r>
          </a:p>
          <a:p>
            <a:r>
              <a:rPr lang="en-US" sz="2400" dirty="0"/>
              <a:t>Example - A list of movies…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43667-048F-DE40-B3CC-44842FDB52E5}"/>
              </a:ext>
            </a:extLst>
          </p:cNvPr>
          <p:cNvSpPr txBox="1"/>
          <p:nvPr/>
        </p:nvSpPr>
        <p:spPr>
          <a:xfrm>
            <a:off x="739205" y="2788378"/>
            <a:ext cx="63882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&lt;movies&gt;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&lt;movie title=“The Matrix” released=“1999”&gt;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   &lt;cast&gt;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      &lt;actor&gt;Keanu Reeves&lt;/actor&gt;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      &lt;actor&gt;Laurence Fishburne&lt;/actor&gt;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      &lt;actor&gt;Carrie-Anne Moss&lt;/actor&gt;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   &lt;/cast&gt;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&lt;/movie&gt;</a:t>
            </a:r>
          </a:p>
          <a:p>
            <a:r>
              <a:rPr lang="en-US" dirty="0">
                <a:latin typeface="Andale Mono" panose="020B0509000000000004" pitchFamily="49" charset="0"/>
              </a:rPr>
              <a:t>   &lt;movie&gt; … &lt;/movie&gt;</a:t>
            </a:r>
          </a:p>
          <a:p>
            <a:r>
              <a:rPr lang="en-US" dirty="0">
                <a:latin typeface="Andale Mono" panose="020B0509000000000004" pitchFamily="49" charset="0"/>
              </a:rPr>
              <a:t>&lt;/movies&gt;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6DA9F5F-6E2C-884E-B8E1-608E6F13B7D0}"/>
              </a:ext>
            </a:extLst>
          </p:cNvPr>
          <p:cNvSpPr/>
          <p:nvPr/>
        </p:nvSpPr>
        <p:spPr>
          <a:xfrm>
            <a:off x="7127492" y="3200972"/>
            <a:ext cx="152566" cy="20519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7ADE6-052A-DA46-9BF4-A116C07E8B99}"/>
              </a:ext>
            </a:extLst>
          </p:cNvPr>
          <p:cNvSpPr txBox="1"/>
          <p:nvPr/>
        </p:nvSpPr>
        <p:spPr>
          <a:xfrm>
            <a:off x="7643059" y="1988158"/>
            <a:ext cx="380973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tag has a corresponding closing 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is no “official set” of tags. We can use whatever we want as long we we follow the open-close structure and do not overlap tags.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things called “XML schemas” (XSDs) which restrict what tags we can use and where they can be placed in the hierarchy. Maven uses an XSD. (Let’s take a peek).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XML files and the tags they contains are interpreted by software and programs. They don’t have any intrinsic meaning on their own.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modern formats are JSON and YAML as they do not carry such a heavy “tag overhead.”</a:t>
            </a:r>
          </a:p>
        </p:txBody>
      </p:sp>
    </p:spTree>
    <p:extLst>
      <p:ext uri="{BB962C8B-B14F-4D97-AF65-F5344CB8AC3E}">
        <p14:creationId xmlns:p14="http://schemas.microsoft.com/office/powerpoint/2010/main" val="108065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912</Words>
  <Application>Microsoft Macintosh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Andale Mono</vt:lpstr>
      <vt:lpstr>Arial</vt:lpstr>
      <vt:lpstr>Calibri</vt:lpstr>
      <vt:lpstr>Calibri Light</vt:lpstr>
      <vt:lpstr>Office Theme</vt:lpstr>
      <vt:lpstr>Tools Ecosystem</vt:lpstr>
      <vt:lpstr>What We’ll Check Out</vt:lpstr>
      <vt:lpstr>Java Tools</vt:lpstr>
      <vt:lpstr>IDE</vt:lpstr>
      <vt:lpstr>IntelliJ Projects &amp; The Debugger</vt:lpstr>
      <vt:lpstr>Git</vt:lpstr>
      <vt:lpstr>Maven</vt:lpstr>
      <vt:lpstr>Maven – Overall Concepts</vt:lpstr>
      <vt:lpstr>Maven – Overall Concepts</vt:lpstr>
      <vt:lpstr>Appendix - XML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Ecosystem</dc:title>
  <dc:creator>John Puopolo</dc:creator>
  <cp:lastModifiedBy>John Puopolo</cp:lastModifiedBy>
  <cp:revision>14</cp:revision>
  <dcterms:created xsi:type="dcterms:W3CDTF">2020-05-20T02:00:26Z</dcterms:created>
  <dcterms:modified xsi:type="dcterms:W3CDTF">2020-08-11T11:41:06Z</dcterms:modified>
</cp:coreProperties>
</file>