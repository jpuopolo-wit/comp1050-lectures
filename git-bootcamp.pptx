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72" r:id="rId10"/>
    <p:sldId id="264" r:id="rId11"/>
    <p:sldId id="267" r:id="rId12"/>
    <p:sldId id="265" r:id="rId13"/>
    <p:sldId id="266" r:id="rId14"/>
    <p:sldId id="271" r:id="rId15"/>
    <p:sldId id="268" r:id="rId16"/>
    <p:sldId id="269" r:id="rId17"/>
    <p:sldId id="270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7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1"/>
    <p:restoredTop sz="94674"/>
  </p:normalViewPr>
  <p:slideViewPr>
    <p:cSldViewPr snapToGrid="0" snapToObjects="1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4560-9035-DB43-AA92-E0A693137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94412-ED7E-E441-8423-E9647F48E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C3557-3571-4D4F-B2E5-460E95BA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1ADC-C401-E84C-9E6C-3D905EFC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0393C-7102-8D41-9CE5-4E1C37FC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7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48BA-3A7C-4140-95E6-C99C9554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41A1-4917-454B-AD42-68BE6B71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4C668-DDBD-1544-AE43-8039F5FB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72B58-0E86-2B41-B861-8126400A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89D1-70AA-EB45-8795-88EFED0D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14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727D-F192-1C4C-B1FD-AEC3A271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15830-6E9B-CB4D-B15A-B0C4C80EB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29557-46B1-554A-B9AF-FE361F63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E7227-8CA0-E541-9D07-EE7F92F9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BEED9-AA12-0B44-B0BB-3DFD7BA9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0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23F8-B5DA-094E-BB1F-096C10E1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75290-CC43-AB41-977F-1BB2F67F1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67BDC-6E22-E746-920C-3E8A9C75D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69485-DE28-AA47-AB02-C5D7A581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FFE97-4F6D-1F40-9784-57E8ED7F0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12414-E452-0A4F-919E-ED2D0B11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4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8306-F3FD-9248-889A-68009E63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6B69B-DA5C-9C45-A730-3FCF66172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DE2EB-0150-ED45-9916-9066229E4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F95F5-AB47-3C48-8033-53B97042B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34CE22-9B21-0541-BA70-0D78D8993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BB550-B81A-2441-A8FD-A33FB965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5255E2-491D-7D4E-BD56-8B16B683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3A608-0E5C-6248-BD46-3D36619A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5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1C4B-F412-2A45-81C8-ED6B95F3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0DEAF-2582-0D4A-A6B9-CA6B2922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396B0-B73F-8B40-94A2-9BF65031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FBBF9-800B-2D48-A697-173FFBB3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6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051D6-8985-FC4A-A24A-EBC9C799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A49C0-1B54-6143-AB9B-58C666E8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2DB68-FE36-A046-A4E8-6A85043F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3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78EA-E2AF-3A42-8364-6F9F0D85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F0961-1F82-3C4E-B4E3-D258F431B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85B00-F698-ED40-A350-22F65A581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F77E3-510C-544D-AD82-77CD96AD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F582B-E37C-8440-8967-CF17564F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45510-4A97-4340-B3EE-EDDDFB5E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3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A879-DFBB-0F4D-BF2C-456FBEE6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AADEE-7369-6946-BDB8-926A969C2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DC8EB-7251-3E47-B079-517627D45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6CE46-2360-A247-9A26-438461D8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3A53E-7892-DF4C-9B7E-7111D6D9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26743-458B-6047-AEF4-7F71133C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0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CF90-54C2-3F46-9C47-D6EC64BA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9BCAD-B1B6-124A-9246-D34ECBAB9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DA081-F782-084D-9BC0-FA706D7E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A8836-4FAF-8B4B-A370-A8550D4E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A78AC-9D9F-9C4B-B88A-1F641840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4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A04E5E-543F-034F-87DC-B8BAB1652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259B0-43F1-8746-8AB5-BAA71ECDF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182E-6394-0641-9206-6643E0EA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82C9E-69EA-3741-AD0D-6D0513E9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C7130-521F-7440-BD94-BE37C5420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3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BD30B-6339-EC4C-9F85-586CCFB5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1289C-E6EE-0343-8065-B0983040D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8C07-65CB-684C-B6B7-129A7C05A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5CEE0-0F4C-3243-A1A0-F805DD5AFD63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4542-568A-364A-BB77-65936AFFA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3FD0C-26E9-E147-8C35-D8F578A12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3CB78-565B-EF4B-A2CE-0B11A1AD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2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hool.github.io/visualizing-git/" TargetMode="External"/><Relationship Id="rId2" Type="http://schemas.openxmlformats.org/officeDocument/2006/relationships/hyperlink" Target="https://ndpsoftware.com/git-cheatsheet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6C8E-90FD-B74F-8FB5-0FE084B93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Bootcamp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7EBA6-10A0-A14B-917E-4DDB8CC077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5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E085-7C35-2746-BCB7-0E25F11F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Overview of Dev Process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07EAF5-EB37-364C-980B-D7A7C2C30506}"/>
              </a:ext>
            </a:extLst>
          </p:cNvPr>
          <p:cNvSpPr/>
          <p:nvPr/>
        </p:nvSpPr>
        <p:spPr>
          <a:xfrm>
            <a:off x="3257025" y="2415081"/>
            <a:ext cx="1273995" cy="15949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Source Code Repository</a:t>
            </a:r>
          </a:p>
          <a:p>
            <a:pPr algn="ctr"/>
            <a:r>
              <a:rPr lang="en-US" sz="1400" dirty="0"/>
              <a:t>Manager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F7DBAC-2C65-C046-BC8F-967DCEB18CF0}"/>
              </a:ext>
            </a:extLst>
          </p:cNvPr>
          <p:cNvGrpSpPr/>
          <p:nvPr/>
        </p:nvGrpSpPr>
        <p:grpSpPr>
          <a:xfrm>
            <a:off x="1609738" y="2618906"/>
            <a:ext cx="1273995" cy="1193385"/>
            <a:chOff x="894924" y="2905285"/>
            <a:chExt cx="1273995" cy="1193385"/>
          </a:xfrm>
        </p:grpSpPr>
        <p:sp>
          <p:nvSpPr>
            <p:cNvPr id="4" name="Smiley Face 3">
              <a:extLst>
                <a:ext uri="{FF2B5EF4-FFF2-40B4-BE49-F238E27FC236}">
                  <a16:creationId xmlns:a16="http://schemas.microsoft.com/office/drawing/2014/main" id="{7EC00736-D5CB-5642-93CF-0FCD80A9AFEE}"/>
                </a:ext>
              </a:extLst>
            </p:cNvPr>
            <p:cNvSpPr/>
            <p:nvPr/>
          </p:nvSpPr>
          <p:spPr>
            <a:xfrm>
              <a:off x="1269931" y="2905285"/>
              <a:ext cx="523982" cy="534257"/>
            </a:xfrm>
            <a:prstGeom prst="smileyFac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344430-1031-0643-9CD8-6942131CBC95}"/>
                </a:ext>
              </a:extLst>
            </p:cNvPr>
            <p:cNvSpPr txBox="1"/>
            <p:nvPr/>
          </p:nvSpPr>
          <p:spPr>
            <a:xfrm>
              <a:off x="894924" y="3575450"/>
              <a:ext cx="12739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Happy</a:t>
              </a:r>
            </a:p>
            <a:p>
              <a:pPr algn="ctr"/>
              <a:r>
                <a:rPr lang="en-US" sz="1400" dirty="0"/>
                <a:t>Developer</a:t>
              </a:r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7F44B9-8B2F-F247-8400-ECDFE9C2F5F1}"/>
              </a:ext>
            </a:extLst>
          </p:cNvPr>
          <p:cNvSpPr/>
          <p:nvPr/>
        </p:nvSpPr>
        <p:spPr>
          <a:xfrm>
            <a:off x="5488229" y="2912045"/>
            <a:ext cx="1145570" cy="60103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 Step 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EF96CC-8AA5-0B40-861B-BF9C547E3583}"/>
              </a:ext>
            </a:extLst>
          </p:cNvPr>
          <p:cNvSpPr/>
          <p:nvPr/>
        </p:nvSpPr>
        <p:spPr>
          <a:xfrm>
            <a:off x="6933459" y="2912045"/>
            <a:ext cx="1145570" cy="60103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 Step 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4BE86-4974-BA47-9E73-5EA81674D2FC}"/>
              </a:ext>
            </a:extLst>
          </p:cNvPr>
          <p:cNvSpPr txBox="1"/>
          <p:nvPr/>
        </p:nvSpPr>
        <p:spPr>
          <a:xfrm>
            <a:off x="6556741" y="2940836"/>
            <a:ext cx="45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B82F592-6DE4-F24B-B3F5-0F39E3CB90A2}"/>
              </a:ext>
            </a:extLst>
          </p:cNvPr>
          <p:cNvSpPr/>
          <p:nvPr/>
        </p:nvSpPr>
        <p:spPr>
          <a:xfrm rot="16200000">
            <a:off x="6601667" y="2818697"/>
            <a:ext cx="291578" cy="1867756"/>
          </a:xfrm>
          <a:prstGeom prst="leftBrace">
            <a:avLst>
              <a:gd name="adj1" fmla="val 8333"/>
              <a:gd name="adj2" fmla="val 511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EE004-0125-8B47-BB9D-B41BE33278C2}"/>
              </a:ext>
            </a:extLst>
          </p:cNvPr>
          <p:cNvSpPr txBox="1"/>
          <p:nvPr/>
        </p:nvSpPr>
        <p:spPr>
          <a:xfrm>
            <a:off x="5934726" y="3955501"/>
            <a:ext cx="1697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Build Pipeline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D6FAA0-01A3-7E44-B23F-EA9088F14C5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91946" y="3212564"/>
            <a:ext cx="565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B27B79-8E1C-904D-BAC3-FCB33552D27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4531020" y="3212564"/>
            <a:ext cx="957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425EAF5-D251-2C4F-8899-19AB2996371C}"/>
              </a:ext>
            </a:extLst>
          </p:cNvPr>
          <p:cNvSpPr/>
          <p:nvPr/>
        </p:nvSpPr>
        <p:spPr>
          <a:xfrm>
            <a:off x="9331626" y="2522769"/>
            <a:ext cx="806519" cy="601038"/>
          </a:xfrm>
          <a:prstGeom prst="roundRect">
            <a:avLst/>
          </a:prstGeom>
          <a:solidFill>
            <a:srgbClr val="8D77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Artifact 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7DAC1C3-9864-4147-B933-812772A952A1}"/>
              </a:ext>
            </a:extLst>
          </p:cNvPr>
          <p:cNvSpPr/>
          <p:nvPr/>
        </p:nvSpPr>
        <p:spPr>
          <a:xfrm>
            <a:off x="8844456" y="3212564"/>
            <a:ext cx="806519" cy="601038"/>
          </a:xfrm>
          <a:prstGeom prst="roundRect">
            <a:avLst/>
          </a:prstGeom>
          <a:solidFill>
            <a:srgbClr val="8D77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Artifact B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7E61BB3-E29F-8548-9F71-AEF360C5F0B3}"/>
              </a:ext>
            </a:extLst>
          </p:cNvPr>
          <p:cNvSpPr/>
          <p:nvPr/>
        </p:nvSpPr>
        <p:spPr>
          <a:xfrm>
            <a:off x="9760572" y="3212564"/>
            <a:ext cx="806519" cy="601038"/>
          </a:xfrm>
          <a:prstGeom prst="roundRect">
            <a:avLst/>
          </a:prstGeom>
          <a:solidFill>
            <a:srgbClr val="8D77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Artifact 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03265E-2736-4041-A853-899E55A64C6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079029" y="3212564"/>
            <a:ext cx="575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ft Brace 26">
            <a:extLst>
              <a:ext uri="{FF2B5EF4-FFF2-40B4-BE49-F238E27FC236}">
                <a16:creationId xmlns:a16="http://schemas.microsoft.com/office/drawing/2014/main" id="{CA3FEF35-E1D0-4F41-8281-25260B969AF8}"/>
              </a:ext>
            </a:extLst>
          </p:cNvPr>
          <p:cNvSpPr/>
          <p:nvPr/>
        </p:nvSpPr>
        <p:spPr>
          <a:xfrm rot="16200000">
            <a:off x="3741247" y="3668430"/>
            <a:ext cx="295277" cy="1284270"/>
          </a:xfrm>
          <a:prstGeom prst="leftBrace">
            <a:avLst>
              <a:gd name="adj1" fmla="val 10151"/>
              <a:gd name="adj2" fmla="val 516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9A619D-FAE3-0349-82F0-97F2F902C490}"/>
              </a:ext>
            </a:extLst>
          </p:cNvPr>
          <p:cNvSpPr txBox="1"/>
          <p:nvPr/>
        </p:nvSpPr>
        <p:spPr>
          <a:xfrm>
            <a:off x="2746098" y="4591076"/>
            <a:ext cx="22855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Keeps track of all your files and all the changes you make to the files over time</a:t>
            </a:r>
          </a:p>
        </p:txBody>
      </p:sp>
    </p:spTree>
    <p:extLst>
      <p:ext uri="{BB962C8B-B14F-4D97-AF65-F5344CB8AC3E}">
        <p14:creationId xmlns:p14="http://schemas.microsoft.com/office/powerpoint/2010/main" val="290046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0DCB-A3A4-8A47-8C4A-9038608E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BC60D-3744-D24E-8E83-B7CEC5514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code repository manager</a:t>
            </a:r>
          </a:p>
          <a:p>
            <a:pPr lvl="1"/>
            <a:r>
              <a:rPr lang="en-US" dirty="0"/>
              <a:t>Git is a distributed repository manager</a:t>
            </a:r>
          </a:p>
          <a:p>
            <a:pPr lvl="1"/>
            <a:r>
              <a:rPr lang="en-US" dirty="0"/>
              <a:t>Every computer can have a copy of a project (set of files) </a:t>
            </a:r>
          </a:p>
          <a:p>
            <a:r>
              <a:rPr lang="en-US" dirty="0"/>
              <a:t>Enables you to create files and track changes over time</a:t>
            </a:r>
          </a:p>
          <a:p>
            <a:pPr lvl="1"/>
            <a:r>
              <a:rPr lang="en-US" dirty="0"/>
              <a:t>You can see the differences to compare past and current versions</a:t>
            </a:r>
          </a:p>
          <a:p>
            <a:pPr lvl="1"/>
            <a:r>
              <a:rPr lang="en-US" dirty="0"/>
              <a:t>This is called “doing a diff”</a:t>
            </a:r>
          </a:p>
          <a:p>
            <a:r>
              <a:rPr lang="en-US" dirty="0"/>
              <a:t>Enables you to create and work on different versions of your project and switch between them</a:t>
            </a:r>
          </a:p>
          <a:p>
            <a:pPr lvl="1"/>
            <a:r>
              <a:rPr lang="en-US" dirty="0"/>
              <a:t>Very useful for implementing or trying out a new feature with breaking your existing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99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EDBE-B2F6-F941-942D-FFEEEA75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A7372-B3E4-5F48-A342-449EB855E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7736" y="3840798"/>
            <a:ext cx="9025128" cy="1222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$ git –-version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$ git config --list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$ git config --global </a:t>
            </a:r>
            <a:r>
              <a:rPr lang="en-US" sz="2000" dirty="0" err="1">
                <a:latin typeface="Andale Mono" panose="020B0509000000000004" pitchFamily="49" charset="0"/>
              </a:rPr>
              <a:t>user.name</a:t>
            </a:r>
            <a:r>
              <a:rPr lang="en-US" sz="2000" dirty="0">
                <a:latin typeface="Andale Mono" panose="020B0509000000000004" pitchFamily="49" charset="0"/>
              </a:rPr>
              <a:t> "John Doe" 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$ git config --global </a:t>
            </a:r>
            <a:r>
              <a:rPr lang="en-US" sz="2000" dirty="0" err="1">
                <a:latin typeface="Andale Mono" panose="020B0509000000000004" pitchFamily="49" charset="0"/>
              </a:rPr>
              <a:t>user.email</a:t>
            </a:r>
            <a:r>
              <a:rPr lang="en-US" sz="2000" dirty="0">
                <a:latin typeface="Andale Mono" panose="020B0509000000000004" pitchFamily="49" charset="0"/>
              </a:rPr>
              <a:t> </a:t>
            </a:r>
            <a:r>
              <a:rPr lang="en-US" sz="2000" dirty="0" err="1">
                <a:latin typeface="Andale Mono" panose="020B0509000000000004" pitchFamily="49" charset="0"/>
              </a:rPr>
              <a:t>johndoe@example.com</a:t>
            </a:r>
            <a:endParaRPr lang="en-US" sz="2000" dirty="0">
              <a:latin typeface="Andale Mono" panose="020B05090000000000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512F4B-E6C7-BC4C-B430-1ED76E22C0B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204692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Download and install</a:t>
            </a:r>
          </a:p>
          <a:p>
            <a:pPr lvl="1"/>
            <a:r>
              <a:rPr lang="en-US" dirty="0">
                <a:solidFill>
                  <a:srgbClr val="002060"/>
                </a:solidFill>
                <a:hlinkClick r:id="rId2"/>
              </a:rPr>
              <a:t>https://git-scm.com/downloads</a:t>
            </a:r>
            <a:endParaRPr lang="en-US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After installing git, it’s a good idea to set come basic configuration parameters. </a:t>
            </a:r>
          </a:p>
          <a:p>
            <a:r>
              <a:rPr lang="en-US" dirty="0"/>
              <a:t>The minimum set is </a:t>
            </a:r>
            <a:r>
              <a:rPr lang="en-US" dirty="0" err="1">
                <a:latin typeface="Andale Mono" panose="020B0509000000000004" pitchFamily="49" charset="0"/>
              </a:rPr>
              <a:t>user.name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/>
              <a:t>and </a:t>
            </a:r>
            <a:r>
              <a:rPr lang="en-US" dirty="0" err="1">
                <a:latin typeface="Andale Mono" panose="020B0509000000000004" pitchFamily="49" charset="0"/>
              </a:rPr>
              <a:t>user.email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/>
              <a:t>as these are required to commit files.</a:t>
            </a:r>
          </a:p>
        </p:txBody>
      </p:sp>
      <p:sp>
        <p:nvSpPr>
          <p:cNvPr id="5" name="Line Callout 2 4">
            <a:extLst>
              <a:ext uri="{FF2B5EF4-FFF2-40B4-BE49-F238E27FC236}">
                <a16:creationId xmlns:a16="http://schemas.microsoft.com/office/drawing/2014/main" id="{8CD738E6-5CBE-414E-AE62-A0B4EAE6AB16}"/>
              </a:ext>
            </a:extLst>
          </p:cNvPr>
          <p:cNvSpPr/>
          <p:nvPr/>
        </p:nvSpPr>
        <p:spPr>
          <a:xfrm>
            <a:off x="1446276" y="5658802"/>
            <a:ext cx="905256" cy="439864"/>
          </a:xfrm>
          <a:prstGeom prst="borderCallout2">
            <a:avLst>
              <a:gd name="adj1" fmla="val -5131"/>
              <a:gd name="adj2" fmla="val 51667"/>
              <a:gd name="adj3" fmla="val -62842"/>
              <a:gd name="adj4" fmla="val 54000"/>
              <a:gd name="adj5" fmla="val -106406"/>
              <a:gd name="adj6" fmla="val 719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application</a:t>
            </a:r>
          </a:p>
        </p:txBody>
      </p: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6C51E699-6A6A-854D-8DF6-6F7FEA511C18}"/>
              </a:ext>
            </a:extLst>
          </p:cNvPr>
          <p:cNvSpPr/>
          <p:nvPr/>
        </p:nvSpPr>
        <p:spPr>
          <a:xfrm>
            <a:off x="2732532" y="5658802"/>
            <a:ext cx="905256" cy="439864"/>
          </a:xfrm>
          <a:prstGeom prst="borderCallout2">
            <a:avLst>
              <a:gd name="adj1" fmla="val -5131"/>
              <a:gd name="adj2" fmla="val 51667"/>
              <a:gd name="adj3" fmla="val -62842"/>
              <a:gd name="adj4" fmla="val 54000"/>
              <a:gd name="adj5" fmla="val -125809"/>
              <a:gd name="adj6" fmla="val 383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command</a:t>
            </a:r>
          </a:p>
        </p:txBody>
      </p:sp>
      <p:sp>
        <p:nvSpPr>
          <p:cNvPr id="7" name="Line Callout 2 6">
            <a:extLst>
              <a:ext uri="{FF2B5EF4-FFF2-40B4-BE49-F238E27FC236}">
                <a16:creationId xmlns:a16="http://schemas.microsoft.com/office/drawing/2014/main" id="{B1C4F189-1165-664F-BC21-E45FA8973CFE}"/>
              </a:ext>
            </a:extLst>
          </p:cNvPr>
          <p:cNvSpPr/>
          <p:nvPr/>
        </p:nvSpPr>
        <p:spPr>
          <a:xfrm>
            <a:off x="4018788" y="5658802"/>
            <a:ext cx="905256" cy="439864"/>
          </a:xfrm>
          <a:prstGeom prst="borderCallout2">
            <a:avLst>
              <a:gd name="adj1" fmla="val -5131"/>
              <a:gd name="adj2" fmla="val 51667"/>
              <a:gd name="adj3" fmla="val -62842"/>
              <a:gd name="adj4" fmla="val 54000"/>
              <a:gd name="adj5" fmla="val -125809"/>
              <a:gd name="adj6" fmla="val 383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argument aka switch</a:t>
            </a:r>
          </a:p>
        </p:txBody>
      </p:sp>
      <p:sp>
        <p:nvSpPr>
          <p:cNvPr id="8" name="Line Callout 2 7">
            <a:extLst>
              <a:ext uri="{FF2B5EF4-FFF2-40B4-BE49-F238E27FC236}">
                <a16:creationId xmlns:a16="http://schemas.microsoft.com/office/drawing/2014/main" id="{CE2CC4BB-1847-1C4F-AFC4-7A5BDC642E3A}"/>
              </a:ext>
            </a:extLst>
          </p:cNvPr>
          <p:cNvSpPr/>
          <p:nvPr/>
        </p:nvSpPr>
        <p:spPr>
          <a:xfrm>
            <a:off x="5305044" y="5658802"/>
            <a:ext cx="905256" cy="439864"/>
          </a:xfrm>
          <a:prstGeom prst="borderCallout2">
            <a:avLst>
              <a:gd name="adj1" fmla="val -5131"/>
              <a:gd name="adj2" fmla="val 51667"/>
              <a:gd name="adj3" fmla="val -62842"/>
              <a:gd name="adj4" fmla="val 54000"/>
              <a:gd name="adj5" fmla="val -125809"/>
              <a:gd name="adj6" fmla="val 383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value of </a:t>
            </a:r>
            <a:r>
              <a:rPr lang="en-US" sz="1100" dirty="0" err="1"/>
              <a:t>arg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6614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3DDC-E2BA-A345-9877-EA97E787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3662"/>
          </a:xfrm>
        </p:spPr>
        <p:txBody>
          <a:bodyPr/>
          <a:lstStyle/>
          <a:p>
            <a:r>
              <a:rPr lang="en-US" dirty="0"/>
              <a:t>Git Important Concepts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C3B358-FC11-B545-8D88-6EB6CA789CC2}"/>
              </a:ext>
            </a:extLst>
          </p:cNvPr>
          <p:cNvSpPr/>
          <p:nvPr/>
        </p:nvSpPr>
        <p:spPr>
          <a:xfrm>
            <a:off x="667820" y="1717456"/>
            <a:ext cx="2321959" cy="3565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Working Area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This is where the current, working set of your files live.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Generally on your local computer.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8EA20-64D7-E248-9A80-454E42226DC4}"/>
              </a:ext>
            </a:extLst>
          </p:cNvPr>
          <p:cNvSpPr/>
          <p:nvPr/>
        </p:nvSpPr>
        <p:spPr>
          <a:xfrm>
            <a:off x="3440131" y="1717456"/>
            <a:ext cx="2321959" cy="35651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 (Staging Area)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This is where you put files you want to track &amp; eventually save (commit) to your local repo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A8D8E6-F8ED-794C-9843-8B7E83ABF771}"/>
              </a:ext>
            </a:extLst>
          </p:cNvPr>
          <p:cNvSpPr/>
          <p:nvPr/>
        </p:nvSpPr>
        <p:spPr>
          <a:xfrm>
            <a:off x="6212442" y="1717456"/>
            <a:ext cx="2321959" cy="3565133"/>
          </a:xfrm>
          <a:prstGeom prst="rect">
            <a:avLst/>
          </a:prstGeom>
          <a:solidFill>
            <a:srgbClr val="8D77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Repo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This is a snapshot of your project that generally lives on a local machine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AB69B9-D1A1-A14C-8B2A-DB3661FB379E}"/>
              </a:ext>
            </a:extLst>
          </p:cNvPr>
          <p:cNvSpPr/>
          <p:nvPr/>
        </p:nvSpPr>
        <p:spPr>
          <a:xfrm>
            <a:off x="9031841" y="1717455"/>
            <a:ext cx="2321959" cy="356513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Remote Repo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This is a snapshot of your project that generally lives on a server someplace on the Internet</a:t>
            </a:r>
          </a:p>
        </p:txBody>
      </p:sp>
      <p:sp>
        <p:nvSpPr>
          <p:cNvPr id="8" name="Striped Right Arrow 7">
            <a:extLst>
              <a:ext uri="{FF2B5EF4-FFF2-40B4-BE49-F238E27FC236}">
                <a16:creationId xmlns:a16="http://schemas.microsoft.com/office/drawing/2014/main" id="{08C1AE39-0F17-0842-A433-2735DB22AED1}"/>
              </a:ext>
            </a:extLst>
          </p:cNvPr>
          <p:cNvSpPr/>
          <p:nvPr/>
        </p:nvSpPr>
        <p:spPr>
          <a:xfrm>
            <a:off x="1519801" y="5184903"/>
            <a:ext cx="8673019" cy="381891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 Direction of Workflow (How files move)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367353-0F63-7041-8895-1E1956AA7B01}"/>
              </a:ext>
            </a:extLst>
          </p:cNvPr>
          <p:cNvSpPr txBox="1"/>
          <p:nvPr/>
        </p:nvSpPr>
        <p:spPr>
          <a:xfrm>
            <a:off x="3002755" y="5672915"/>
            <a:ext cx="6350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use the git application to move files from one area to the next</a:t>
            </a:r>
          </a:p>
        </p:txBody>
      </p:sp>
    </p:spTree>
    <p:extLst>
      <p:ext uri="{BB962C8B-B14F-4D97-AF65-F5344CB8AC3E}">
        <p14:creationId xmlns:p14="http://schemas.microsoft.com/office/powerpoint/2010/main" val="283256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16D8-6F0C-7D48-B267-076BDC87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Important Concepts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CD6646-75B4-2F44-B3A8-22FD5C249007}"/>
              </a:ext>
            </a:extLst>
          </p:cNvPr>
          <p:cNvSpPr/>
          <p:nvPr/>
        </p:nvSpPr>
        <p:spPr>
          <a:xfrm>
            <a:off x="1647444" y="1971570"/>
            <a:ext cx="1287780" cy="607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11FD623E-A5E3-2448-9EE7-E1D3D682F06C}"/>
              </a:ext>
            </a:extLst>
          </p:cNvPr>
          <p:cNvSpPr/>
          <p:nvPr/>
        </p:nvSpPr>
        <p:spPr>
          <a:xfrm>
            <a:off x="3252658" y="3285258"/>
            <a:ext cx="682309" cy="45110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git info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49B548-1942-3849-834F-AEE52192248D}"/>
              </a:ext>
            </a:extLst>
          </p:cNvPr>
          <p:cNvGrpSpPr/>
          <p:nvPr/>
        </p:nvGrpSpPr>
        <p:grpSpPr>
          <a:xfrm>
            <a:off x="1647444" y="2579210"/>
            <a:ext cx="1230728" cy="2367430"/>
            <a:chOff x="991595" y="2838554"/>
            <a:chExt cx="1230728" cy="2367430"/>
          </a:xfrm>
        </p:grpSpPr>
        <p:pic>
          <p:nvPicPr>
            <p:cNvPr id="1026" name="Picture 2" descr="Simple Folder Icon Png #42535 - Free Icons Library">
              <a:extLst>
                <a:ext uri="{FF2B5EF4-FFF2-40B4-BE49-F238E27FC236}">
                  <a16:creationId xmlns:a16="http://schemas.microsoft.com/office/drawing/2014/main" id="{98E0188E-99B1-9642-843C-6659A50BB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0014" y="3374686"/>
              <a:ext cx="682309" cy="682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Simple Folder Icon Png #42535 - Free Icons Library">
              <a:extLst>
                <a:ext uri="{FF2B5EF4-FFF2-40B4-BE49-F238E27FC236}">
                  <a16:creationId xmlns:a16="http://schemas.microsoft.com/office/drawing/2014/main" id="{99C7A1F4-F2F9-BD47-B56F-12B0D9BBA2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595" y="2838554"/>
              <a:ext cx="682309" cy="682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Simple Folder Icon Png #42535 - Free Icons Library">
              <a:extLst>
                <a:ext uri="{FF2B5EF4-FFF2-40B4-BE49-F238E27FC236}">
                  <a16:creationId xmlns:a16="http://schemas.microsoft.com/office/drawing/2014/main" id="{7C876488-DDD9-E542-9E92-1BF988FAA9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595" y="4523675"/>
              <a:ext cx="682309" cy="682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Simple Folder Icon Png #42535 - Free Icons Library">
              <a:extLst>
                <a:ext uri="{FF2B5EF4-FFF2-40B4-BE49-F238E27FC236}">
                  <a16:creationId xmlns:a16="http://schemas.microsoft.com/office/drawing/2014/main" id="{5C376028-49C7-854F-BB50-E679E5985F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0014" y="3909678"/>
              <a:ext cx="682309" cy="682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C16D73AA-3CE6-894F-B13D-67E514DC6B76}"/>
                </a:ext>
              </a:extLst>
            </p:cNvPr>
            <p:cNvCxnSpPr>
              <a:stCxn id="7" idx="2"/>
              <a:endCxn id="1026" idx="1"/>
            </p:cNvCxnSpPr>
            <p:nvPr/>
          </p:nvCxnSpPr>
          <p:spPr>
            <a:xfrm rot="16200000" flipH="1">
              <a:off x="1338893" y="3514720"/>
              <a:ext cx="194978" cy="20726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F58917B8-7F70-534C-AF6B-9C76BB3007A5}"/>
                </a:ext>
              </a:extLst>
            </p:cNvPr>
            <p:cNvCxnSpPr>
              <a:stCxn id="7" idx="2"/>
              <a:endCxn id="9" idx="1"/>
            </p:cNvCxnSpPr>
            <p:nvPr/>
          </p:nvCxnSpPr>
          <p:spPr>
            <a:xfrm rot="16200000" flipH="1">
              <a:off x="1071397" y="3782216"/>
              <a:ext cx="729970" cy="20726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4AA381-442D-D842-8684-078B31E071AE}"/>
              </a:ext>
            </a:extLst>
          </p:cNvPr>
          <p:cNvCxnSpPr>
            <a:stCxn id="1026" idx="3"/>
          </p:cNvCxnSpPr>
          <p:nvPr/>
        </p:nvCxnSpPr>
        <p:spPr>
          <a:xfrm flipV="1">
            <a:off x="2878172" y="3456496"/>
            <a:ext cx="3008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F22DE86-181F-E84B-8BE4-2499D479365A}"/>
              </a:ext>
            </a:extLst>
          </p:cNvPr>
          <p:cNvSpPr txBox="1"/>
          <p:nvPr/>
        </p:nvSpPr>
        <p:spPr>
          <a:xfrm>
            <a:off x="4829115" y="3167390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ndale Mono" panose="020B0509000000000004" pitchFamily="49" charset="0"/>
              </a:rPr>
              <a:t>git </a:t>
            </a:r>
            <a:r>
              <a:rPr lang="en-US" sz="2400" dirty="0" err="1">
                <a:latin typeface="Andale Mono" panose="020B0509000000000004" pitchFamily="49" charset="0"/>
              </a:rPr>
              <a:t>init</a:t>
            </a:r>
            <a:endParaRPr lang="en-US" sz="2400" dirty="0">
              <a:latin typeface="Andale Mono" panose="020B0509000000000004" pitchFamily="49" charset="0"/>
            </a:endParaRP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0EFD095-679B-3E45-9AA6-ABE3F31128F3}"/>
              </a:ext>
            </a:extLst>
          </p:cNvPr>
          <p:cNvSpPr/>
          <p:nvPr/>
        </p:nvSpPr>
        <p:spPr>
          <a:xfrm>
            <a:off x="4485131" y="2999296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A57BD852-4790-CD46-9CE9-29F5403D51E6}"/>
              </a:ext>
            </a:extLst>
          </p:cNvPr>
          <p:cNvSpPr/>
          <p:nvPr/>
        </p:nvSpPr>
        <p:spPr>
          <a:xfrm>
            <a:off x="6677080" y="2379096"/>
            <a:ext cx="297378" cy="21622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B29EEC-5ECC-784F-9413-D618736D1DD9}"/>
              </a:ext>
            </a:extLst>
          </p:cNvPr>
          <p:cNvSpPr txBox="1"/>
          <p:nvPr/>
        </p:nvSpPr>
        <p:spPr>
          <a:xfrm>
            <a:off x="7119902" y="2510005"/>
            <a:ext cx="38541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Creates a .git directory that manages the files locally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Sets up index and local repo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makes the directory a “repo”</a:t>
            </a:r>
          </a:p>
        </p:txBody>
      </p:sp>
    </p:spTree>
    <p:extLst>
      <p:ext uri="{BB962C8B-B14F-4D97-AF65-F5344CB8AC3E}">
        <p14:creationId xmlns:p14="http://schemas.microsoft.com/office/powerpoint/2010/main" val="127978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8F28-8D44-AE42-8178-57295CF0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Area aka Workspace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D8658-6998-374F-A527-3361E7B82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where the files live that you are working on</a:t>
            </a:r>
          </a:p>
          <a:p>
            <a:r>
              <a:rPr lang="en-US" dirty="0"/>
              <a:t>You can have git “track” some/all files </a:t>
            </a:r>
          </a:p>
          <a:p>
            <a:pPr lvl="1"/>
            <a:r>
              <a:rPr lang="en-US" dirty="0"/>
              <a:t>Track = pay attention to them and their changes over time or</a:t>
            </a:r>
          </a:p>
          <a:p>
            <a:r>
              <a:rPr lang="en-US" dirty="0"/>
              <a:t>You can have git ignore some/all files</a:t>
            </a:r>
          </a:p>
          <a:p>
            <a:pPr lvl="1"/>
            <a:r>
              <a:rPr lang="en-US" dirty="0"/>
              <a:t>Add entries to </a:t>
            </a:r>
            <a:r>
              <a:rPr lang="en-US" dirty="0">
                <a:latin typeface="Andale Mono" panose="020B0509000000000004" pitchFamily="49" charset="0"/>
              </a:rPr>
              <a:t>.</a:t>
            </a:r>
            <a:r>
              <a:rPr lang="en-US" dirty="0" err="1">
                <a:latin typeface="Andale Mono" panose="020B0509000000000004" pitchFamily="49" charset="0"/>
              </a:rPr>
              <a:t>gitignore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/>
              <a:t>file (note the . in the name)</a:t>
            </a:r>
          </a:p>
          <a:p>
            <a:pPr lvl="1"/>
            <a:r>
              <a:rPr lang="en-US" dirty="0"/>
              <a:t>This file must be called </a:t>
            </a:r>
            <a:r>
              <a:rPr lang="en-US" dirty="0">
                <a:latin typeface="Andale Mono" panose="020B0509000000000004" pitchFamily="49" charset="0"/>
              </a:rPr>
              <a:t>.</a:t>
            </a:r>
            <a:r>
              <a:rPr lang="en-US" dirty="0" err="1">
                <a:latin typeface="Andale Mono" panose="020B0509000000000004" pitchFamily="49" charset="0"/>
              </a:rPr>
              <a:t>gitignore</a:t>
            </a:r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/>
              <a:t>From git’s perspective, this is the least interesting of the areas</a:t>
            </a:r>
          </a:p>
        </p:txBody>
      </p:sp>
    </p:spTree>
    <p:extLst>
      <p:ext uri="{BB962C8B-B14F-4D97-AF65-F5344CB8AC3E}">
        <p14:creationId xmlns:p14="http://schemas.microsoft.com/office/powerpoint/2010/main" val="266304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9127-5467-794C-8488-644B9A764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Staging Area aka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78554-59CB-DF42-A8C4-71B199417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634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Area where you copy your working files for review prior to commit</a:t>
            </a:r>
          </a:p>
          <a:p>
            <a:r>
              <a:rPr lang="en-US" dirty="0"/>
              <a:t>Enables you to review changes before you commit</a:t>
            </a:r>
          </a:p>
          <a:p>
            <a:r>
              <a:rPr lang="en-US" dirty="0"/>
              <a:t>Makes it possible to commit only a subset of your working files to the local repo</a:t>
            </a:r>
          </a:p>
          <a:p>
            <a:r>
              <a:rPr lang="en-US" dirty="0"/>
              <a:t>You move working file into the index via </a:t>
            </a:r>
            <a:r>
              <a:rPr lang="en-US" dirty="0">
                <a:latin typeface="Andale Mono" panose="020B0509000000000004" pitchFamily="49" charset="0"/>
              </a:rPr>
              <a:t>git add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A2007F-A673-474C-8C3F-9DB5BD69809C}"/>
              </a:ext>
            </a:extLst>
          </p:cNvPr>
          <p:cNvSpPr txBox="1">
            <a:spLocks/>
          </p:cNvSpPr>
          <p:nvPr/>
        </p:nvSpPr>
        <p:spPr>
          <a:xfrm>
            <a:off x="1569720" y="4512627"/>
            <a:ext cx="6819900" cy="1141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$ git add &lt;file&gt;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$ git add 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Line Callout 2 4">
            <a:extLst>
              <a:ext uri="{FF2B5EF4-FFF2-40B4-BE49-F238E27FC236}">
                <a16:creationId xmlns:a16="http://schemas.microsoft.com/office/drawing/2014/main" id="{932C6618-0251-ED4F-9296-B10AD0D1ECD2}"/>
              </a:ext>
            </a:extLst>
          </p:cNvPr>
          <p:cNvSpPr/>
          <p:nvPr/>
        </p:nvSpPr>
        <p:spPr>
          <a:xfrm>
            <a:off x="3006852" y="5788660"/>
            <a:ext cx="1370838" cy="439864"/>
          </a:xfrm>
          <a:prstGeom prst="borderCallout2">
            <a:avLst>
              <a:gd name="adj1" fmla="val -15525"/>
              <a:gd name="adj2" fmla="val 60505"/>
              <a:gd name="adj3" fmla="val -70638"/>
              <a:gd name="adj4" fmla="val 62839"/>
              <a:gd name="adj5" fmla="val -128407"/>
              <a:gd name="adj6" fmla="val 237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All files in working directory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2D32F-9BC0-264B-8FC7-C3682A4F0180}"/>
              </a:ext>
            </a:extLst>
          </p:cNvPr>
          <p:cNvSpPr txBox="1"/>
          <p:nvPr/>
        </p:nvSpPr>
        <p:spPr>
          <a:xfrm>
            <a:off x="6244590" y="6031210"/>
            <a:ext cx="5147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some of this out in a terminal…</a:t>
            </a:r>
          </a:p>
        </p:txBody>
      </p:sp>
    </p:spTree>
    <p:extLst>
      <p:ext uri="{BB962C8B-B14F-4D97-AF65-F5344CB8AC3E}">
        <p14:creationId xmlns:p14="http://schemas.microsoft.com/office/powerpoint/2010/main" val="331932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83BAC-B812-2848-BC9B-BAF935F6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What’s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35E6-22BC-5749-B941-561248FB8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ndale Mono" panose="020B0509000000000004" pitchFamily="49" charset="0"/>
              </a:rPr>
              <a:t>git ls-files</a:t>
            </a:r>
          </a:p>
          <a:p>
            <a:pPr lvl="1"/>
            <a:r>
              <a:rPr lang="en-US" dirty="0"/>
              <a:t>Lists the files git is currently tracking in the index</a:t>
            </a:r>
          </a:p>
          <a:p>
            <a:r>
              <a:rPr lang="en-US" dirty="0">
                <a:latin typeface="Andale Mono" panose="020B0509000000000004" pitchFamily="49" charset="0"/>
              </a:rPr>
              <a:t>git status</a:t>
            </a:r>
          </a:p>
          <a:p>
            <a:pPr lvl="1"/>
            <a:r>
              <a:rPr lang="en-US" dirty="0"/>
              <a:t>Displays the state of the working directory and the staging area</a:t>
            </a:r>
          </a:p>
          <a:p>
            <a:pPr lvl="1"/>
            <a:r>
              <a:rPr lang="en-US" dirty="0"/>
              <a:t>Lets you see which changes have been staged, which haven't, and which files aren't being tracked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77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FB23-F0FA-714E-A2E8-AC0908C6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4A38-31E0-3D43-8BFA-9A809145A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push from index to local repo</a:t>
            </a:r>
          </a:p>
          <a:p>
            <a:pPr lvl="1"/>
            <a:r>
              <a:rPr lang="en-US" dirty="0">
                <a:latin typeface="Andale Mono" panose="020B0509000000000004" pitchFamily="49" charset="0"/>
              </a:rPr>
              <a:t>git commit</a:t>
            </a:r>
          </a:p>
          <a:p>
            <a:r>
              <a:rPr lang="en-US" dirty="0"/>
              <a:t>Stores a snapshot of your entire project – freezes it in time</a:t>
            </a:r>
          </a:p>
          <a:p>
            <a:r>
              <a:rPr lang="en-US" dirty="0"/>
              <a:t>This snapshot is called a </a:t>
            </a:r>
            <a:r>
              <a:rPr lang="en-US" i="1" dirty="0"/>
              <a:t>commit</a:t>
            </a:r>
          </a:p>
          <a:p>
            <a:r>
              <a:rPr lang="en-US" dirty="0"/>
              <a:t>The commit has a unique ID created from hashing the files in the commit</a:t>
            </a:r>
          </a:p>
          <a:p>
            <a:r>
              <a:rPr lang="en-US" dirty="0"/>
              <a:t>The hash guarantees uniqueness and consistency</a:t>
            </a:r>
          </a:p>
          <a:p>
            <a:r>
              <a:rPr lang="en-US" dirty="0"/>
              <a:t>Each commit has a message associated with it</a:t>
            </a:r>
          </a:p>
          <a:p>
            <a:pPr lvl="1"/>
            <a:r>
              <a:rPr lang="en-US" dirty="0">
                <a:latin typeface="Andale Mono" panose="020B0509000000000004" pitchFamily="49" charset="0"/>
              </a:rPr>
              <a:t>git commit –m “the message”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145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AE7A-F8F2-454B-B28E-102381C7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678F-58F9-C64A-A9FF-8FFEC09E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one or more commits in a lineage is called a </a:t>
            </a:r>
            <a:r>
              <a:rPr lang="en-US" i="1" dirty="0"/>
              <a:t>branch</a:t>
            </a:r>
          </a:p>
          <a:p>
            <a:r>
              <a:rPr lang="en-US" dirty="0"/>
              <a:t>A branch is nothing more than a label – a reference to a commit lineage</a:t>
            </a:r>
          </a:p>
          <a:p>
            <a:r>
              <a:rPr lang="en-US" dirty="0"/>
              <a:t>The default name of the first branch is </a:t>
            </a:r>
            <a:r>
              <a:rPr lang="en-US" i="1" dirty="0"/>
              <a:t>master</a:t>
            </a:r>
          </a:p>
          <a:p>
            <a:r>
              <a:rPr lang="en-US" dirty="0"/>
              <a:t>Every branch has a ”most recent” commit</a:t>
            </a:r>
          </a:p>
          <a:p>
            <a:r>
              <a:rPr lang="en-US" dirty="0"/>
              <a:t>Every branch as a reference to the most recent commit called </a:t>
            </a:r>
            <a:r>
              <a:rPr lang="en-US" i="1" dirty="0"/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3455816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8B39-52AC-E840-8EB2-DA215160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7" y="236688"/>
            <a:ext cx="10515600" cy="511874"/>
          </a:xfrm>
        </p:spPr>
        <p:txBody>
          <a:bodyPr>
            <a:normAutofit fontScale="90000"/>
          </a:bodyPr>
          <a:lstStyle/>
          <a:p>
            <a:r>
              <a:rPr lang="en-US" dirty="0"/>
              <a:t>So far…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3A8A6D-0772-2E4B-B75A-CE4A585F6273}"/>
              </a:ext>
            </a:extLst>
          </p:cNvPr>
          <p:cNvSpPr/>
          <p:nvPr/>
        </p:nvSpPr>
        <p:spPr>
          <a:xfrm>
            <a:off x="880597" y="2515241"/>
            <a:ext cx="2321959" cy="2127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Working Area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.git/</a:t>
            </a:r>
          </a:p>
          <a:p>
            <a:pPr algn="ctr"/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working files</a:t>
            </a:r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F95FAD-CFDB-FC46-B5B5-BCAA98CFB91E}"/>
              </a:ext>
            </a:extLst>
          </p:cNvPr>
          <p:cNvSpPr/>
          <p:nvPr/>
        </p:nvSpPr>
        <p:spPr>
          <a:xfrm>
            <a:off x="4935020" y="2515240"/>
            <a:ext cx="2321959" cy="2127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 (Staging Area)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Copy of working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AC2A28-1FF4-D042-BA10-4EB38035E320}"/>
              </a:ext>
            </a:extLst>
          </p:cNvPr>
          <p:cNvSpPr/>
          <p:nvPr/>
        </p:nvSpPr>
        <p:spPr>
          <a:xfrm>
            <a:off x="9104792" y="2515240"/>
            <a:ext cx="2321959" cy="2127633"/>
          </a:xfrm>
          <a:prstGeom prst="rect">
            <a:avLst/>
          </a:prstGeom>
          <a:solidFill>
            <a:srgbClr val="8D77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Repo</a:t>
            </a:r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8CBD03-C686-BE4E-BB42-CFC67B12F260}"/>
              </a:ext>
            </a:extLst>
          </p:cNvPr>
          <p:cNvSpPr/>
          <p:nvPr/>
        </p:nvSpPr>
        <p:spPr>
          <a:xfrm>
            <a:off x="9104792" y="5185076"/>
            <a:ext cx="2321959" cy="75792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Remote Repo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E4CC5F-FDD1-2247-85AA-BA86E5BF1E9C}"/>
              </a:ext>
            </a:extLst>
          </p:cNvPr>
          <p:cNvCxnSpPr>
            <a:cxnSpLocks/>
          </p:cNvCxnSpPr>
          <p:nvPr/>
        </p:nvCxnSpPr>
        <p:spPr>
          <a:xfrm flipV="1">
            <a:off x="3202556" y="4134845"/>
            <a:ext cx="1692064" cy="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601A1B-BC1D-C445-87D5-F044D5AD676E}"/>
              </a:ext>
            </a:extLst>
          </p:cNvPr>
          <p:cNvSpPr txBox="1"/>
          <p:nvPr/>
        </p:nvSpPr>
        <p:spPr>
          <a:xfrm>
            <a:off x="3300906" y="376551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git add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64635B-9639-DC4C-B861-2DBF7F53DBD9}"/>
              </a:ext>
            </a:extLst>
          </p:cNvPr>
          <p:cNvCxnSpPr>
            <a:cxnSpLocks/>
          </p:cNvCxnSpPr>
          <p:nvPr/>
        </p:nvCxnSpPr>
        <p:spPr>
          <a:xfrm flipV="1">
            <a:off x="7256979" y="3706590"/>
            <a:ext cx="1847813" cy="19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A39136-7CBE-DD48-8F07-BC3FB8394836}"/>
              </a:ext>
            </a:extLst>
          </p:cNvPr>
          <p:cNvSpPr txBox="1"/>
          <p:nvPr/>
        </p:nvSpPr>
        <p:spPr>
          <a:xfrm>
            <a:off x="7297379" y="3337258"/>
            <a:ext cx="160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git commit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75E7EC-852D-E243-9549-2C90D1D867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265772" y="4642873"/>
            <a:ext cx="0" cy="542203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n 18">
            <a:extLst>
              <a:ext uri="{FF2B5EF4-FFF2-40B4-BE49-F238E27FC236}">
                <a16:creationId xmlns:a16="http://schemas.microsoft.com/office/drawing/2014/main" id="{944CFCBD-CBDE-704B-A7E1-74BE64A8F403}"/>
              </a:ext>
            </a:extLst>
          </p:cNvPr>
          <p:cNvSpPr/>
          <p:nvPr/>
        </p:nvSpPr>
        <p:spPr>
          <a:xfrm>
            <a:off x="1622757" y="1443558"/>
            <a:ext cx="837638" cy="61552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git info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271DDE-E96F-7347-ABFE-0B18AB9A9510}"/>
              </a:ext>
            </a:extLst>
          </p:cNvPr>
          <p:cNvSpPr txBox="1"/>
          <p:nvPr/>
        </p:nvSpPr>
        <p:spPr>
          <a:xfrm>
            <a:off x="335225" y="187442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git </a:t>
            </a:r>
            <a:r>
              <a:rPr lang="en-US" dirty="0" err="1">
                <a:latin typeface="Andale Mono" panose="020B0509000000000004" pitchFamily="49" charset="0"/>
              </a:rPr>
              <a:t>init</a:t>
            </a:r>
            <a:endParaRPr lang="en-US" dirty="0">
              <a:latin typeface="Andale Mono" panose="020B0509000000000004" pitchFamily="49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6C7D466-E285-7A44-92CF-5C4F21205930}"/>
              </a:ext>
            </a:extLst>
          </p:cNvPr>
          <p:cNvGrpSpPr/>
          <p:nvPr/>
        </p:nvGrpSpPr>
        <p:grpSpPr>
          <a:xfrm>
            <a:off x="9342802" y="3725709"/>
            <a:ext cx="1895356" cy="799139"/>
            <a:chOff x="2251710" y="2026920"/>
            <a:chExt cx="4889193" cy="222146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CE9589D-4002-3F4A-BF10-39623B83DDD7}"/>
                </a:ext>
              </a:extLst>
            </p:cNvPr>
            <p:cNvSpPr/>
            <p:nvPr/>
          </p:nvSpPr>
          <p:spPr>
            <a:xfrm>
              <a:off x="5109210" y="3333988"/>
              <a:ext cx="914400" cy="914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C1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FED66C-72F6-9F43-B498-5495D6AA3FE3}"/>
                </a:ext>
              </a:extLst>
            </p:cNvPr>
            <p:cNvSpPr txBox="1"/>
            <p:nvPr/>
          </p:nvSpPr>
          <p:spPr>
            <a:xfrm>
              <a:off x="6023611" y="3518653"/>
              <a:ext cx="1117292" cy="513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/>
                <a:t>0xABCD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854DE17-9691-BA4A-8F6D-959A3E55786E}"/>
                </a:ext>
              </a:extLst>
            </p:cNvPr>
            <p:cNvSpPr/>
            <p:nvPr/>
          </p:nvSpPr>
          <p:spPr>
            <a:xfrm>
              <a:off x="5097780" y="2026920"/>
              <a:ext cx="914400" cy="914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C2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5B9A79-6C0A-024B-A0E3-FDA8DA4F86FF}"/>
                </a:ext>
              </a:extLst>
            </p:cNvPr>
            <p:cNvSpPr txBox="1"/>
            <p:nvPr/>
          </p:nvSpPr>
          <p:spPr>
            <a:xfrm>
              <a:off x="6023611" y="2299454"/>
              <a:ext cx="1059401" cy="513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/>
                <a:t>0x1176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A42EF04-D5BC-D740-89C0-F8F0409AFC40}"/>
                </a:ext>
              </a:extLst>
            </p:cNvPr>
            <p:cNvCxnSpPr>
              <a:stCxn id="36" idx="4"/>
              <a:endCxn id="34" idx="0"/>
            </p:cNvCxnSpPr>
            <p:nvPr/>
          </p:nvCxnSpPr>
          <p:spPr>
            <a:xfrm>
              <a:off x="5554980" y="2941320"/>
              <a:ext cx="11430" cy="392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Pentagon 38">
              <a:extLst>
                <a:ext uri="{FF2B5EF4-FFF2-40B4-BE49-F238E27FC236}">
                  <a16:creationId xmlns:a16="http://schemas.microsoft.com/office/drawing/2014/main" id="{C87C3B79-258F-4E41-BB02-611B625D5D5A}"/>
                </a:ext>
              </a:extLst>
            </p:cNvPr>
            <p:cNvSpPr/>
            <p:nvPr/>
          </p:nvSpPr>
          <p:spPr>
            <a:xfrm>
              <a:off x="2251710" y="2235232"/>
              <a:ext cx="1085666" cy="484632"/>
            </a:xfrm>
            <a:prstGeom prst="homePlat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HEAD</a:t>
              </a:r>
            </a:p>
          </p:txBody>
        </p:sp>
        <p:sp>
          <p:nvSpPr>
            <p:cNvPr id="40" name="Pentagon 39">
              <a:extLst>
                <a:ext uri="{FF2B5EF4-FFF2-40B4-BE49-F238E27FC236}">
                  <a16:creationId xmlns:a16="http://schemas.microsoft.com/office/drawing/2014/main" id="{23AFF737-40A2-C940-9184-5B336FFA6A1B}"/>
                </a:ext>
              </a:extLst>
            </p:cNvPr>
            <p:cNvSpPr/>
            <p:nvPr/>
          </p:nvSpPr>
          <p:spPr>
            <a:xfrm>
              <a:off x="3486150" y="2241804"/>
              <a:ext cx="1465234" cy="484632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Master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8C62174-2D29-504D-A781-30EB9381CE50}"/>
              </a:ext>
            </a:extLst>
          </p:cNvPr>
          <p:cNvSpPr txBox="1"/>
          <p:nvPr/>
        </p:nvSpPr>
        <p:spPr>
          <a:xfrm>
            <a:off x="3331372" y="176236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git status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DBFABC1F-ECB9-8648-BACC-16CAE47FC62F}"/>
              </a:ext>
            </a:extLst>
          </p:cNvPr>
          <p:cNvSpPr/>
          <p:nvPr/>
        </p:nvSpPr>
        <p:spPr>
          <a:xfrm rot="5400000">
            <a:off x="4015812" y="1174453"/>
            <a:ext cx="194369" cy="21947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F9FE17-6964-FA4F-A91E-336E8C4400B2}"/>
              </a:ext>
            </a:extLst>
          </p:cNvPr>
          <p:cNvCxnSpPr>
            <a:stCxn id="19" idx="3"/>
            <a:endCxn id="4" idx="0"/>
          </p:cNvCxnSpPr>
          <p:nvPr/>
        </p:nvCxnSpPr>
        <p:spPr>
          <a:xfrm>
            <a:off x="2041576" y="2059087"/>
            <a:ext cx="1" cy="456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663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C2C9-A2DD-334A-8F91-100E05C0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47225B-D05C-C94D-AF8F-236B8C90B199}"/>
              </a:ext>
            </a:extLst>
          </p:cNvPr>
          <p:cNvGrpSpPr/>
          <p:nvPr/>
        </p:nvGrpSpPr>
        <p:grpSpPr>
          <a:xfrm>
            <a:off x="3267363" y="2452246"/>
            <a:ext cx="4697153" cy="2221468"/>
            <a:chOff x="2251710" y="2026920"/>
            <a:chExt cx="4697153" cy="222146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FCC6091-0F79-0649-9130-5D540FA930FF}"/>
                </a:ext>
              </a:extLst>
            </p:cNvPr>
            <p:cNvSpPr/>
            <p:nvPr/>
          </p:nvSpPr>
          <p:spPr>
            <a:xfrm>
              <a:off x="5109210" y="3333988"/>
              <a:ext cx="914400" cy="914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E67593-973D-A743-B364-E671D78B1226}"/>
                </a:ext>
              </a:extLst>
            </p:cNvPr>
            <p:cNvSpPr txBox="1"/>
            <p:nvPr/>
          </p:nvSpPr>
          <p:spPr>
            <a:xfrm>
              <a:off x="6023610" y="3518654"/>
              <a:ext cx="925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0xABCD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2DAFD06-06A7-8247-8333-E3FE36A80D29}"/>
                </a:ext>
              </a:extLst>
            </p:cNvPr>
            <p:cNvSpPr/>
            <p:nvPr/>
          </p:nvSpPr>
          <p:spPr>
            <a:xfrm>
              <a:off x="5097780" y="2026920"/>
              <a:ext cx="914400" cy="914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A31874-010C-7644-BD4D-1E59BEBA9B6A}"/>
                </a:ext>
              </a:extLst>
            </p:cNvPr>
            <p:cNvSpPr txBox="1"/>
            <p:nvPr/>
          </p:nvSpPr>
          <p:spPr>
            <a:xfrm>
              <a:off x="6023610" y="2299454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0x1176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A0D9600-581B-434D-8D6A-569082CF929E}"/>
                </a:ext>
              </a:extLst>
            </p:cNvPr>
            <p:cNvCxnSpPr>
              <a:stCxn id="6" idx="4"/>
              <a:endCxn id="4" idx="0"/>
            </p:cNvCxnSpPr>
            <p:nvPr/>
          </p:nvCxnSpPr>
          <p:spPr>
            <a:xfrm>
              <a:off x="5554980" y="2941320"/>
              <a:ext cx="11430" cy="392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E8E35B7F-D723-254C-B074-33C7A4660664}"/>
                </a:ext>
              </a:extLst>
            </p:cNvPr>
            <p:cNvSpPr/>
            <p:nvPr/>
          </p:nvSpPr>
          <p:spPr>
            <a:xfrm>
              <a:off x="2251710" y="2235232"/>
              <a:ext cx="1085666" cy="484632"/>
            </a:xfrm>
            <a:prstGeom prst="homePlat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HEAD</a:t>
              </a:r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B8BBE7CA-458F-8D45-9168-EBC7DEF3D037}"/>
                </a:ext>
              </a:extLst>
            </p:cNvPr>
            <p:cNvSpPr/>
            <p:nvPr/>
          </p:nvSpPr>
          <p:spPr>
            <a:xfrm>
              <a:off x="3486150" y="2241804"/>
              <a:ext cx="1465234" cy="484632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15" name="Line Callout 1 14">
            <a:extLst>
              <a:ext uri="{FF2B5EF4-FFF2-40B4-BE49-F238E27FC236}">
                <a16:creationId xmlns:a16="http://schemas.microsoft.com/office/drawing/2014/main" id="{767C60D9-55DB-014A-884F-A2B70E2D19D9}"/>
              </a:ext>
            </a:extLst>
          </p:cNvPr>
          <p:cNvSpPr/>
          <p:nvPr/>
        </p:nvSpPr>
        <p:spPr>
          <a:xfrm>
            <a:off x="4930140" y="1709867"/>
            <a:ext cx="914400" cy="386953"/>
          </a:xfrm>
          <a:prstGeom prst="borderCallout1">
            <a:avLst>
              <a:gd name="adj1" fmla="val 112964"/>
              <a:gd name="adj2" fmla="val 44167"/>
              <a:gd name="adj3" fmla="val 218839"/>
              <a:gd name="adj4" fmla="val 291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branch</a:t>
            </a:r>
          </a:p>
        </p:txBody>
      </p:sp>
      <p:sp>
        <p:nvSpPr>
          <p:cNvPr id="17" name="Line Callout 1 16">
            <a:extLst>
              <a:ext uri="{FF2B5EF4-FFF2-40B4-BE49-F238E27FC236}">
                <a16:creationId xmlns:a16="http://schemas.microsoft.com/office/drawing/2014/main" id="{918D79DC-7126-8941-A368-E145922CFC37}"/>
              </a:ext>
            </a:extLst>
          </p:cNvPr>
          <p:cNvSpPr/>
          <p:nvPr/>
        </p:nvSpPr>
        <p:spPr>
          <a:xfrm>
            <a:off x="2425145" y="3829561"/>
            <a:ext cx="2076658" cy="584775"/>
          </a:xfrm>
          <a:prstGeom prst="borderCallout1">
            <a:avLst>
              <a:gd name="adj1" fmla="val -19959"/>
              <a:gd name="adj2" fmla="val 50417"/>
              <a:gd name="adj3" fmla="val -104349"/>
              <a:gd name="adj4" fmla="val 5948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By default, tracks most recent commit of branch</a:t>
            </a:r>
          </a:p>
        </p:txBody>
      </p:sp>
      <p:sp>
        <p:nvSpPr>
          <p:cNvPr id="18" name="Line Callout 1 17">
            <a:extLst>
              <a:ext uri="{FF2B5EF4-FFF2-40B4-BE49-F238E27FC236}">
                <a16:creationId xmlns:a16="http://schemas.microsoft.com/office/drawing/2014/main" id="{8EA33A83-C3BD-7544-AA34-831F3E98BEB7}"/>
              </a:ext>
            </a:extLst>
          </p:cNvPr>
          <p:cNvSpPr/>
          <p:nvPr/>
        </p:nvSpPr>
        <p:spPr>
          <a:xfrm>
            <a:off x="8128922" y="4673714"/>
            <a:ext cx="1598007" cy="643652"/>
          </a:xfrm>
          <a:prstGeom prst="borderCallout1">
            <a:avLst>
              <a:gd name="adj1" fmla="val -1254"/>
              <a:gd name="adj2" fmla="val -14583"/>
              <a:gd name="adj3" fmla="val -49979"/>
              <a:gd name="adj4" fmla="val -3813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Initial commit &amp; unique hash</a:t>
            </a:r>
          </a:p>
        </p:txBody>
      </p:sp>
      <p:sp>
        <p:nvSpPr>
          <p:cNvPr id="19" name="Line Callout 1 18">
            <a:extLst>
              <a:ext uri="{FF2B5EF4-FFF2-40B4-BE49-F238E27FC236}">
                <a16:creationId xmlns:a16="http://schemas.microsoft.com/office/drawing/2014/main" id="{BCA9F01E-144F-F54F-9969-4ED5BC34C65C}"/>
              </a:ext>
            </a:extLst>
          </p:cNvPr>
          <p:cNvSpPr/>
          <p:nvPr/>
        </p:nvSpPr>
        <p:spPr>
          <a:xfrm>
            <a:off x="8128922" y="1869078"/>
            <a:ext cx="1395892" cy="644783"/>
          </a:xfrm>
          <a:prstGeom prst="borderCallout1">
            <a:avLst>
              <a:gd name="adj1" fmla="val 59795"/>
              <a:gd name="adj2" fmla="val -7083"/>
              <a:gd name="adj3" fmla="val 124241"/>
              <a:gd name="adj4" fmla="val -3846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Next commit &amp; its hash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43F3F8-B743-5047-9482-EF49E5364C43}"/>
              </a:ext>
            </a:extLst>
          </p:cNvPr>
          <p:cNvSpPr txBox="1"/>
          <p:nvPr/>
        </p:nvSpPr>
        <p:spPr>
          <a:xfrm>
            <a:off x="131629" y="6157565"/>
            <a:ext cx="6663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 more advanced scenarios, you can move HEAD around, but that’s beyond the scope of this course.</a:t>
            </a:r>
          </a:p>
        </p:txBody>
      </p:sp>
    </p:spTree>
    <p:extLst>
      <p:ext uri="{BB962C8B-B14F-4D97-AF65-F5344CB8AC3E}">
        <p14:creationId xmlns:p14="http://schemas.microsoft.com/office/powerpoint/2010/main" val="4285200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5585-913C-B247-BA01-C37E728A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Seeing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855D-6BD9-EB46-89B4-7884F3D8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ndale Mono" panose="020B0509000000000004" pitchFamily="49" charset="0"/>
              </a:rPr>
              <a:t>git log</a:t>
            </a:r>
          </a:p>
          <a:p>
            <a:pPr lvl="1"/>
            <a:r>
              <a:rPr lang="en-US" dirty="0"/>
              <a:t>Enables us to see the history of all commits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Andale Mono" panose="020B0509000000000004" pitchFamily="49" charset="0"/>
              </a:rPr>
              <a:t>git log --</a:t>
            </a:r>
            <a:r>
              <a:rPr lang="en-US" dirty="0" err="1">
                <a:latin typeface="Andale Mono" panose="020B0509000000000004" pitchFamily="49" charset="0"/>
              </a:rPr>
              <a:t>oneline</a:t>
            </a:r>
            <a:r>
              <a:rPr lang="en-US" dirty="0">
                <a:latin typeface="Andale Mono" panose="020B0509000000000004" pitchFamily="49" charset="0"/>
              </a:rPr>
              <a:t> --graph </a:t>
            </a:r>
            <a:r>
              <a:rPr lang="en-US" dirty="0"/>
              <a:t>is a common command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01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4480-7AAB-7648-B4CC-1A78704B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6B884-2B31-AC45-B2B2-2539BEDBE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Eventually, you may want to store a copy of your local repo to a remote server</a:t>
            </a:r>
          </a:p>
          <a:p>
            <a:r>
              <a:rPr lang="en-US" dirty="0"/>
              <a:t>Makes your code accessible to others</a:t>
            </a:r>
          </a:p>
          <a:p>
            <a:r>
              <a:rPr lang="en-US" dirty="0"/>
              <a:t>Very common in development teams</a:t>
            </a:r>
          </a:p>
          <a:p>
            <a:r>
              <a:rPr lang="en-US" dirty="0"/>
              <a:t>Very common in open source</a:t>
            </a:r>
          </a:p>
          <a:p>
            <a:r>
              <a:rPr lang="en-US" dirty="0"/>
              <a:t>GitHub is the de facto place where people store their remote repos</a:t>
            </a:r>
          </a:p>
          <a:p>
            <a:r>
              <a:rPr lang="en-US" dirty="0"/>
              <a:t>GitHub is a git server on the Internet</a:t>
            </a:r>
          </a:p>
        </p:txBody>
      </p:sp>
    </p:spTree>
    <p:extLst>
      <p:ext uri="{BB962C8B-B14F-4D97-AF65-F5344CB8AC3E}">
        <p14:creationId xmlns:p14="http://schemas.microsoft.com/office/powerpoint/2010/main" val="273141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07F9-5E33-BF47-9DCD-5DC98380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Repo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B2CFA-304F-6A41-8A15-2F3CD70AE479}"/>
              </a:ext>
            </a:extLst>
          </p:cNvPr>
          <p:cNvSpPr/>
          <p:nvPr/>
        </p:nvSpPr>
        <p:spPr>
          <a:xfrm>
            <a:off x="2339340" y="1826099"/>
            <a:ext cx="2321959" cy="1325563"/>
          </a:xfrm>
          <a:prstGeom prst="rect">
            <a:avLst/>
          </a:prstGeom>
          <a:solidFill>
            <a:srgbClr val="8D77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Repo</a:t>
            </a:r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FA7E7-7D9F-FF45-9129-7FF009ABB0CD}"/>
              </a:ext>
            </a:extLst>
          </p:cNvPr>
          <p:cNvSpPr/>
          <p:nvPr/>
        </p:nvSpPr>
        <p:spPr>
          <a:xfrm>
            <a:off x="6747764" y="1826098"/>
            <a:ext cx="2321959" cy="132556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Remote Repo</a:t>
            </a:r>
          </a:p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4375E3-6BD7-304D-BDA2-F0D250ADB8E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661299" y="2488880"/>
            <a:ext cx="20864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3D2854D-FF37-D140-B88A-CEB5D0F6D3D7}"/>
              </a:ext>
            </a:extLst>
          </p:cNvPr>
          <p:cNvSpPr txBox="1"/>
          <p:nvPr/>
        </p:nvSpPr>
        <p:spPr>
          <a:xfrm>
            <a:off x="4741309" y="211954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git push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E30CC-0D7B-C248-912D-205E41495258}"/>
              </a:ext>
            </a:extLst>
          </p:cNvPr>
          <p:cNvSpPr txBox="1"/>
          <p:nvPr/>
        </p:nvSpPr>
        <p:spPr>
          <a:xfrm>
            <a:off x="1916430" y="3814442"/>
            <a:ext cx="85534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push a copy of our code (branch) to a remote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server that houses the copy of the code is often called the “origin server”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may hear of something called a “tracking branch”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tracking branch is a local branch that git associates with a remote branch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Tracking branches are created by default when you clone a remote repository.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We’ll discuss that next…</a:t>
            </a:r>
          </a:p>
        </p:txBody>
      </p:sp>
    </p:spTree>
    <p:extLst>
      <p:ext uri="{BB962C8B-B14F-4D97-AF65-F5344CB8AC3E}">
        <p14:creationId xmlns:p14="http://schemas.microsoft.com/office/powerpoint/2010/main" val="4101196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B466-BA10-874B-B6C0-FAAE6810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an Existing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0BAC8-E271-2D4C-8A5B-0BBB3933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Andale Mono" panose="020B0509000000000004" pitchFamily="49" charset="0"/>
              </a:rPr>
              <a:t>git clone</a:t>
            </a:r>
          </a:p>
          <a:p>
            <a:pPr lvl="1"/>
            <a:r>
              <a:rPr lang="en-US" dirty="0"/>
              <a:t>Many times, we want to start a project using an existing one</a:t>
            </a:r>
          </a:p>
          <a:p>
            <a:pPr lvl="1"/>
            <a:r>
              <a:rPr lang="en-US" dirty="0"/>
              <a:t>Cloning means making a copy of an existing repo</a:t>
            </a:r>
          </a:p>
          <a:p>
            <a:pPr lvl="1"/>
            <a:r>
              <a:rPr lang="en-US" dirty="0"/>
              <a:t>The clone comes from an origin server</a:t>
            </a:r>
          </a:p>
          <a:p>
            <a:pPr lvl="1"/>
            <a:r>
              <a:rPr lang="en-US" dirty="0"/>
              <a:t>Cloning creates all the correct references back to the original repo (so that you can push easily)</a:t>
            </a:r>
          </a:p>
          <a:p>
            <a:r>
              <a:rPr lang="en-US" dirty="0"/>
              <a:t>Forking</a:t>
            </a:r>
          </a:p>
          <a:p>
            <a:pPr lvl="1"/>
            <a:r>
              <a:rPr lang="en-US" dirty="0"/>
              <a:t>This is a feature of GitHub</a:t>
            </a:r>
          </a:p>
          <a:p>
            <a:pPr lvl="1"/>
            <a:r>
              <a:rPr lang="en-US" dirty="0"/>
              <a:t>Forking means taking an existing project from one GitHub account and making a copy of it in another GitHub account – all on the server</a:t>
            </a:r>
          </a:p>
          <a:p>
            <a:pPr lvl="1"/>
            <a:r>
              <a:rPr lang="en-US" dirty="0"/>
              <a:t>This enables you to take an existing project and use it as the foundation of your own</a:t>
            </a:r>
          </a:p>
          <a:p>
            <a:pPr lvl="1"/>
            <a:r>
              <a:rPr lang="en-US" dirty="0"/>
              <a:t>For this class, you will fork my programming project and then clone your forked copy to your local drive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12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26E5-23B2-E744-900D-6B120490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a Staging Mistake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E4B45-D21D-3645-9D3D-D58BB984B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 stage files and we want to remove them from the index (un-stage them)</a:t>
            </a:r>
          </a:p>
          <a:p>
            <a:pPr lvl="1"/>
            <a:r>
              <a:rPr lang="en-US" dirty="0">
                <a:latin typeface="Andale Mono" panose="020B0509000000000004" pitchFamily="49" charset="0"/>
              </a:rPr>
              <a:t>git restore --staged &lt;file&gt;</a:t>
            </a:r>
          </a:p>
          <a:p>
            <a:pPr lvl="1"/>
            <a:r>
              <a:rPr lang="en-US" dirty="0">
                <a:latin typeface="Andale Mono" panose="020B0509000000000004" pitchFamily="49" charset="0"/>
              </a:rPr>
              <a:t>git</a:t>
            </a:r>
            <a:r>
              <a:rPr lang="en-US" sz="2800" dirty="0"/>
              <a:t> </a:t>
            </a:r>
            <a:r>
              <a:rPr lang="en-US" dirty="0">
                <a:latin typeface="Andale Mono" panose="020B0509000000000004" pitchFamily="49" charset="0"/>
              </a:rPr>
              <a:t>reset HEAD &lt;file&gt; (older command, use newer)</a:t>
            </a:r>
          </a:p>
          <a:p>
            <a:endParaRPr lang="en-US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04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707D-D46E-6D41-A5ED-B81CB747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Is Powerful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5DEA-6282-B74E-A453-F182C83C6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learning</a:t>
            </a:r>
            <a:endParaRPr lang="en-US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n-US" dirty="0">
                <a:hlinkClick r:id="rId3"/>
              </a:rPr>
              <a:t>https://git-school.github.io</a:t>
            </a:r>
            <a:r>
              <a:rPr lang="en-US">
                <a:hlinkClick r:id="rId3"/>
              </a:rPr>
              <a:t>/visualizing-git/</a:t>
            </a:r>
            <a:endParaRPr lang="en-US"/>
          </a:p>
          <a:p>
            <a:pPr lvl="1"/>
            <a:r>
              <a:rPr lang="en-US">
                <a:hlinkClick r:id="rId2"/>
              </a:rPr>
              <a:t>https</a:t>
            </a:r>
            <a:r>
              <a:rPr lang="en-US" dirty="0">
                <a:hlinkClick r:id="rId2"/>
              </a:rPr>
              <a:t>://ndpsoftware.com/git-cheatsheet.html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Git can do a lot more than what we’ve covered</a:t>
            </a:r>
          </a:p>
          <a:p>
            <a:r>
              <a:rPr lang="en-US" dirty="0"/>
              <a:t>This bootcamp provides you enough to get through this class well</a:t>
            </a:r>
          </a:p>
          <a:p>
            <a:r>
              <a:rPr lang="en-US" dirty="0"/>
              <a:t>There are many references online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07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1149</Words>
  <Application>Microsoft Macintosh PowerPoint</Application>
  <PresentationFormat>Widescreen</PresentationFormat>
  <Paragraphs>182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Andale Mono</vt:lpstr>
      <vt:lpstr>Arial</vt:lpstr>
      <vt:lpstr>Calibri</vt:lpstr>
      <vt:lpstr>Calibri Light</vt:lpstr>
      <vt:lpstr>Office Theme</vt:lpstr>
      <vt:lpstr>Git Bootcamp</vt:lpstr>
      <vt:lpstr>High Level Overview of Dev Process</vt:lpstr>
      <vt:lpstr>Git</vt:lpstr>
      <vt:lpstr>Basic Setup</vt:lpstr>
      <vt:lpstr>Git Important Concepts</vt:lpstr>
      <vt:lpstr>Git Important Concepts</vt:lpstr>
      <vt:lpstr>Working Area aka Workspace</vt:lpstr>
      <vt:lpstr>Staging Area aka Index</vt:lpstr>
      <vt:lpstr>Examining What’s What</vt:lpstr>
      <vt:lpstr>Local Repo</vt:lpstr>
      <vt:lpstr>Local Repo</vt:lpstr>
      <vt:lpstr>So far…</vt:lpstr>
      <vt:lpstr>Commits</vt:lpstr>
      <vt:lpstr>Seeing History</vt:lpstr>
      <vt:lpstr>Remote Repo</vt:lpstr>
      <vt:lpstr>Remote Repo</vt:lpstr>
      <vt:lpstr>Starting from an Existing Project</vt:lpstr>
      <vt:lpstr>Fixing a Staging Mistake</vt:lpstr>
      <vt:lpstr>Git Is Powerful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Bootcamp</dc:title>
  <dc:creator>John Puopolo</dc:creator>
  <cp:lastModifiedBy>John Puopolo</cp:lastModifiedBy>
  <cp:revision>22</cp:revision>
  <dcterms:created xsi:type="dcterms:W3CDTF">2020-09-05T11:40:47Z</dcterms:created>
  <dcterms:modified xsi:type="dcterms:W3CDTF">2020-09-05T15:13:14Z</dcterms:modified>
</cp:coreProperties>
</file>